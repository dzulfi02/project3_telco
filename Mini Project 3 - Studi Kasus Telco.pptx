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Neue Machina Ultra-Bold" charset="1" panose="00000900000000000000"/>
      <p:regular r:id="rId29"/>
    </p:embeddedFont>
    <p:embeddedFont>
      <p:font typeface="Montserrat" charset="1" panose="00000500000000000000"/>
      <p:regular r:id="rId30"/>
    </p:embeddedFont>
    <p:embeddedFont>
      <p:font typeface="Montserrat Bold" charset="1" panose="00000800000000000000"/>
      <p:regular r:id="rId31"/>
    </p:embeddedFont>
    <p:embeddedFont>
      <p:font typeface="Poppins" charset="1" panose="00000500000000000000"/>
      <p:regular r:id="rId32"/>
    </p:embeddedFont>
    <p:embeddedFont>
      <p:font typeface="Montserrat Ultra-Bold" charset="1" panose="00000900000000000000"/>
      <p:regular r:id="rId33"/>
    </p:embeddedFont>
    <p:embeddedFont>
      <p:font typeface="TT Hoves" charset="1" panose="02000003020000060003"/>
      <p:regular r:id="rId34"/>
    </p:embeddedFont>
    <p:embeddedFont>
      <p:font typeface="TT Hoves Bold" charset="1" panose="02000003020000060003"/>
      <p:regular r:id="rId35"/>
    </p:embeddedFont>
    <p:embeddedFont>
      <p:font typeface="Cy Grotesk Key Bold" charset="1" panose="00000800000000000000"/>
      <p:regular r:id="rId36"/>
    </p:embeddedFont>
    <p:embeddedFont>
      <p:font typeface="Poppins Bold" charset="1" panose="000008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4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4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54.png" Type="http://schemas.openxmlformats.org/officeDocument/2006/relationships/image"/><Relationship Id="rId9" Target="../embeddings/oleObject1.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81300" y="3507747"/>
            <a:ext cx="12573176" cy="5750553"/>
            <a:chOff x="0" y="0"/>
            <a:chExt cx="1590605" cy="727490"/>
          </a:xfrm>
        </p:grpSpPr>
        <p:sp>
          <p:nvSpPr>
            <p:cNvPr name="Freeform 3" id="3"/>
            <p:cNvSpPr/>
            <p:nvPr/>
          </p:nvSpPr>
          <p:spPr>
            <a:xfrm flipH="false" flipV="false" rot="0">
              <a:off x="0" y="0"/>
              <a:ext cx="1590605" cy="727490"/>
            </a:xfrm>
            <a:custGeom>
              <a:avLst/>
              <a:gdLst/>
              <a:ahLst/>
              <a:cxnLst/>
              <a:rect r="r" b="b" t="t" l="l"/>
              <a:pathLst>
                <a:path h="727490" w="1590605">
                  <a:moveTo>
                    <a:pt x="1387405" y="0"/>
                  </a:moveTo>
                  <a:lnTo>
                    <a:pt x="0" y="0"/>
                  </a:lnTo>
                  <a:lnTo>
                    <a:pt x="203200" y="727490"/>
                  </a:lnTo>
                  <a:lnTo>
                    <a:pt x="1590605" y="727490"/>
                  </a:lnTo>
                  <a:lnTo>
                    <a:pt x="1387405" y="0"/>
                  </a:lnTo>
                  <a:close/>
                </a:path>
              </a:pathLst>
            </a:custGeom>
            <a:solidFill>
              <a:srgbClr val="FFF3D9"/>
            </a:solidFill>
          </p:spPr>
        </p:sp>
        <p:sp>
          <p:nvSpPr>
            <p:cNvPr name="TextBox 4" id="4"/>
            <p:cNvSpPr txBox="true"/>
            <p:nvPr/>
          </p:nvSpPr>
          <p:spPr>
            <a:xfrm>
              <a:off x="101600" y="-57150"/>
              <a:ext cx="1387405" cy="7846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479798" y="2384935"/>
            <a:ext cx="4830828" cy="5292740"/>
          </a:xfrm>
          <a:custGeom>
            <a:avLst/>
            <a:gdLst/>
            <a:ahLst/>
            <a:cxnLst/>
            <a:rect r="r" b="b" t="t" l="l"/>
            <a:pathLst>
              <a:path h="5292740" w="4830828">
                <a:moveTo>
                  <a:pt x="0" y="0"/>
                </a:moveTo>
                <a:lnTo>
                  <a:pt x="4830828" y="0"/>
                </a:lnTo>
                <a:lnTo>
                  <a:pt x="4830828" y="5292740"/>
                </a:lnTo>
                <a:lnTo>
                  <a:pt x="0" y="5292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933007" y="5270017"/>
            <a:ext cx="3516438" cy="4241317"/>
          </a:xfrm>
          <a:custGeom>
            <a:avLst/>
            <a:gdLst/>
            <a:ahLst/>
            <a:cxnLst/>
            <a:rect r="r" b="b" t="t" l="l"/>
            <a:pathLst>
              <a:path h="4241317" w="3516438">
                <a:moveTo>
                  <a:pt x="3516437" y="0"/>
                </a:moveTo>
                <a:lnTo>
                  <a:pt x="0" y="0"/>
                </a:lnTo>
                <a:lnTo>
                  <a:pt x="0" y="4241317"/>
                </a:lnTo>
                <a:lnTo>
                  <a:pt x="3516437" y="4241317"/>
                </a:lnTo>
                <a:lnTo>
                  <a:pt x="351643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5801610" y="1332034"/>
            <a:ext cx="2583272" cy="3350942"/>
          </a:xfrm>
          <a:custGeom>
            <a:avLst/>
            <a:gdLst/>
            <a:ahLst/>
            <a:cxnLst/>
            <a:rect r="r" b="b" t="t" l="l"/>
            <a:pathLst>
              <a:path h="3350942" w="2583272">
                <a:moveTo>
                  <a:pt x="2583271" y="0"/>
                </a:moveTo>
                <a:lnTo>
                  <a:pt x="0" y="0"/>
                </a:lnTo>
                <a:lnTo>
                  <a:pt x="0" y="3350942"/>
                </a:lnTo>
                <a:lnTo>
                  <a:pt x="2583271" y="3350942"/>
                </a:lnTo>
                <a:lnTo>
                  <a:pt x="25832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589375" y="6661448"/>
            <a:ext cx="1951101" cy="2254423"/>
          </a:xfrm>
          <a:custGeom>
            <a:avLst/>
            <a:gdLst/>
            <a:ahLst/>
            <a:cxnLst/>
            <a:rect r="r" b="b" t="t" l="l"/>
            <a:pathLst>
              <a:path h="2254423" w="1951101">
                <a:moveTo>
                  <a:pt x="0" y="0"/>
                </a:moveTo>
                <a:lnTo>
                  <a:pt x="1951101" y="0"/>
                </a:lnTo>
                <a:lnTo>
                  <a:pt x="1951101" y="2254423"/>
                </a:lnTo>
                <a:lnTo>
                  <a:pt x="0" y="22544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3007" y="1028700"/>
            <a:ext cx="1923475" cy="1839542"/>
          </a:xfrm>
          <a:custGeom>
            <a:avLst/>
            <a:gdLst/>
            <a:ahLst/>
            <a:cxnLst/>
            <a:rect r="r" b="b" t="t" l="l"/>
            <a:pathLst>
              <a:path h="1839542" w="1923475">
                <a:moveTo>
                  <a:pt x="0" y="0"/>
                </a:moveTo>
                <a:lnTo>
                  <a:pt x="1923475" y="0"/>
                </a:lnTo>
                <a:lnTo>
                  <a:pt x="1923475" y="1839542"/>
                </a:lnTo>
                <a:lnTo>
                  <a:pt x="0" y="18395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0" id="10"/>
          <p:cNvGrpSpPr/>
          <p:nvPr/>
        </p:nvGrpSpPr>
        <p:grpSpPr>
          <a:xfrm rot="0">
            <a:off x="8175370" y="1332034"/>
            <a:ext cx="13075565" cy="5750553"/>
            <a:chOff x="0" y="0"/>
            <a:chExt cx="1654161" cy="727490"/>
          </a:xfrm>
        </p:grpSpPr>
        <p:sp>
          <p:nvSpPr>
            <p:cNvPr name="Freeform 11" id="11"/>
            <p:cNvSpPr/>
            <p:nvPr/>
          </p:nvSpPr>
          <p:spPr>
            <a:xfrm flipH="false" flipV="false" rot="0">
              <a:off x="0" y="0"/>
              <a:ext cx="1654161" cy="727490"/>
            </a:xfrm>
            <a:custGeom>
              <a:avLst/>
              <a:gdLst/>
              <a:ahLst/>
              <a:cxnLst/>
              <a:rect r="r" b="b" t="t" l="l"/>
              <a:pathLst>
                <a:path h="727490" w="1654161">
                  <a:moveTo>
                    <a:pt x="1450961" y="0"/>
                  </a:moveTo>
                  <a:lnTo>
                    <a:pt x="0" y="0"/>
                  </a:lnTo>
                  <a:lnTo>
                    <a:pt x="203200" y="727490"/>
                  </a:lnTo>
                  <a:lnTo>
                    <a:pt x="1654161" y="727490"/>
                  </a:lnTo>
                  <a:lnTo>
                    <a:pt x="1450961" y="0"/>
                  </a:lnTo>
                  <a:close/>
                </a:path>
              </a:pathLst>
            </a:custGeom>
            <a:solidFill>
              <a:srgbClr val="F0EAFF"/>
            </a:solidFill>
          </p:spPr>
        </p:sp>
        <p:sp>
          <p:nvSpPr>
            <p:cNvPr name="TextBox 12" id="12"/>
            <p:cNvSpPr txBox="true"/>
            <p:nvPr/>
          </p:nvSpPr>
          <p:spPr>
            <a:xfrm>
              <a:off x="101600" y="-57150"/>
              <a:ext cx="1450961" cy="78464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9626029" y="3216737"/>
            <a:ext cx="7423760" cy="2942004"/>
          </a:xfrm>
          <a:prstGeom prst="rect">
            <a:avLst/>
          </a:prstGeom>
        </p:spPr>
        <p:txBody>
          <a:bodyPr anchor="t" rtlCol="false" tIns="0" lIns="0" bIns="0" rIns="0">
            <a:spAutoFit/>
          </a:bodyPr>
          <a:lstStyle/>
          <a:p>
            <a:pPr algn="r">
              <a:lnSpc>
                <a:spcPts val="7780"/>
              </a:lnSpc>
            </a:pPr>
            <a:r>
              <a:rPr lang="en-US" sz="6538" b="true">
                <a:solidFill>
                  <a:srgbClr val="1F0560"/>
                </a:solidFill>
                <a:latin typeface="Neue Machina Ultra-Bold"/>
                <a:ea typeface="Neue Machina Ultra-Bold"/>
                <a:cs typeface="Neue Machina Ultra-Bold"/>
                <a:sym typeface="Neue Machina Ultra-Bold"/>
              </a:rPr>
              <a:t>Dataset Telekomunikasi </a:t>
            </a:r>
            <a:r>
              <a:rPr lang="en-US" sz="6538" b="true">
                <a:solidFill>
                  <a:srgbClr val="FEAC3D"/>
                </a:solidFill>
                <a:latin typeface="Neue Machina Ultra-Bold"/>
                <a:ea typeface="Neue Machina Ultra-Bold"/>
                <a:cs typeface="Neue Machina Ultra-Bold"/>
                <a:sym typeface="Neue Machina Ultra-Bold"/>
              </a:rPr>
              <a:t>(Telco)</a:t>
            </a:r>
          </a:p>
        </p:txBody>
      </p:sp>
      <p:sp>
        <p:nvSpPr>
          <p:cNvPr name="TextBox 14" id="14"/>
          <p:cNvSpPr txBox="true"/>
          <p:nvPr/>
        </p:nvSpPr>
        <p:spPr>
          <a:xfrm rot="0">
            <a:off x="9626029" y="1978087"/>
            <a:ext cx="7423760" cy="372744"/>
          </a:xfrm>
          <a:prstGeom prst="rect">
            <a:avLst/>
          </a:prstGeom>
        </p:spPr>
        <p:txBody>
          <a:bodyPr anchor="t" rtlCol="false" tIns="0" lIns="0" bIns="0" rIns="0">
            <a:spAutoFit/>
          </a:bodyPr>
          <a:lstStyle/>
          <a:p>
            <a:pPr algn="r">
              <a:lnSpc>
                <a:spcPts val="3080"/>
              </a:lnSpc>
            </a:pPr>
            <a:r>
              <a:rPr lang="en-US" sz="2200">
                <a:solidFill>
                  <a:srgbClr val="1F0560"/>
                </a:solidFill>
                <a:latin typeface="Montserrat"/>
                <a:ea typeface="Montserrat"/>
                <a:cs typeface="Montserrat"/>
                <a:sym typeface="Montserrat"/>
              </a:rPr>
              <a:t>Data Analyst dan Data Science</a:t>
            </a:r>
          </a:p>
        </p:txBody>
      </p:sp>
      <p:sp>
        <p:nvSpPr>
          <p:cNvPr name="TextBox 15" id="15"/>
          <p:cNvSpPr txBox="true"/>
          <p:nvPr/>
        </p:nvSpPr>
        <p:spPr>
          <a:xfrm rot="0">
            <a:off x="13713826" y="7271276"/>
            <a:ext cx="3288116" cy="339725"/>
          </a:xfrm>
          <a:prstGeom prst="rect">
            <a:avLst/>
          </a:prstGeom>
        </p:spPr>
        <p:txBody>
          <a:bodyPr anchor="t" rtlCol="false" tIns="0" lIns="0" bIns="0" rIns="0">
            <a:spAutoFit/>
          </a:bodyPr>
          <a:lstStyle/>
          <a:p>
            <a:pPr algn="r">
              <a:lnSpc>
                <a:spcPts val="2800"/>
              </a:lnSpc>
            </a:pPr>
            <a:r>
              <a:rPr lang="en-US" sz="2000">
                <a:solidFill>
                  <a:srgbClr val="1F0560"/>
                </a:solidFill>
                <a:latin typeface="Montserrat"/>
                <a:ea typeface="Montserrat"/>
                <a:cs typeface="Montserrat"/>
                <a:sym typeface="Montserrat"/>
              </a:rPr>
              <a:t>Presented by</a:t>
            </a:r>
          </a:p>
        </p:txBody>
      </p:sp>
      <p:sp>
        <p:nvSpPr>
          <p:cNvPr name="TextBox 16" id="16"/>
          <p:cNvSpPr txBox="true"/>
          <p:nvPr/>
        </p:nvSpPr>
        <p:spPr>
          <a:xfrm rot="0">
            <a:off x="13713826" y="7646447"/>
            <a:ext cx="3288116" cy="1044575"/>
          </a:xfrm>
          <a:prstGeom prst="rect">
            <a:avLst/>
          </a:prstGeom>
        </p:spPr>
        <p:txBody>
          <a:bodyPr anchor="t" rtlCol="false" tIns="0" lIns="0" bIns="0" rIns="0">
            <a:spAutoFit/>
          </a:bodyPr>
          <a:lstStyle/>
          <a:p>
            <a:pPr algn="r">
              <a:lnSpc>
                <a:spcPts val="2800"/>
              </a:lnSpc>
            </a:pPr>
            <a:r>
              <a:rPr lang="en-US" sz="2000" b="true">
                <a:solidFill>
                  <a:srgbClr val="1F0560"/>
                </a:solidFill>
                <a:latin typeface="Montserrat Bold"/>
                <a:ea typeface="Montserrat Bold"/>
                <a:cs typeface="Montserrat Bold"/>
                <a:sym typeface="Montserrat Bold"/>
              </a:rPr>
              <a:t>Dzulfi</a:t>
            </a:r>
          </a:p>
          <a:p>
            <a:pPr algn="r">
              <a:lnSpc>
                <a:spcPts val="2800"/>
              </a:lnSpc>
            </a:pPr>
            <a:r>
              <a:rPr lang="en-US" sz="2000" b="true">
                <a:solidFill>
                  <a:srgbClr val="1F0560"/>
                </a:solidFill>
                <a:latin typeface="Montserrat Bold"/>
                <a:ea typeface="Montserrat Bold"/>
                <a:cs typeface="Montserrat Bold"/>
                <a:sym typeface="Montserrat Bold"/>
              </a:rPr>
              <a:t>Fajar</a:t>
            </a:r>
          </a:p>
          <a:p>
            <a:pPr algn="r">
              <a:lnSpc>
                <a:spcPts val="2800"/>
              </a:lnSpc>
            </a:pPr>
            <a:r>
              <a:rPr lang="en-US" sz="2000" b="true">
                <a:solidFill>
                  <a:srgbClr val="1F0560"/>
                </a:solidFill>
                <a:latin typeface="Montserrat Bold"/>
                <a:ea typeface="Montserrat Bold"/>
                <a:cs typeface="Montserrat Bold"/>
                <a:sym typeface="Montserrat Bold"/>
              </a:rPr>
              <a:t>Nagita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849456" y="5744517"/>
            <a:ext cx="13075565" cy="5750553"/>
            <a:chOff x="0" y="0"/>
            <a:chExt cx="1654161" cy="727490"/>
          </a:xfrm>
        </p:grpSpPr>
        <p:sp>
          <p:nvSpPr>
            <p:cNvPr name="Freeform 3" id="3"/>
            <p:cNvSpPr/>
            <p:nvPr/>
          </p:nvSpPr>
          <p:spPr>
            <a:xfrm flipH="false" flipV="false" rot="0">
              <a:off x="0" y="0"/>
              <a:ext cx="1654161" cy="727490"/>
            </a:xfrm>
            <a:custGeom>
              <a:avLst/>
              <a:gdLst/>
              <a:ahLst/>
              <a:cxnLst/>
              <a:rect r="r" b="b" t="t" l="l"/>
              <a:pathLst>
                <a:path h="727490" w="1654161">
                  <a:moveTo>
                    <a:pt x="1450961" y="0"/>
                  </a:moveTo>
                  <a:lnTo>
                    <a:pt x="0" y="0"/>
                  </a:lnTo>
                  <a:lnTo>
                    <a:pt x="203200" y="727490"/>
                  </a:lnTo>
                  <a:lnTo>
                    <a:pt x="1654161" y="727490"/>
                  </a:lnTo>
                  <a:lnTo>
                    <a:pt x="1450961" y="0"/>
                  </a:lnTo>
                  <a:close/>
                </a:path>
              </a:pathLst>
            </a:custGeom>
            <a:solidFill>
              <a:srgbClr val="F0EAFF"/>
            </a:solidFill>
          </p:spPr>
        </p:sp>
        <p:sp>
          <p:nvSpPr>
            <p:cNvPr name="TextBox 4" id="4"/>
            <p:cNvSpPr txBox="true"/>
            <p:nvPr/>
          </p:nvSpPr>
          <p:spPr>
            <a:xfrm>
              <a:off x="101600" y="-57150"/>
              <a:ext cx="1450961" cy="78464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586593" y="2431201"/>
            <a:ext cx="17668830" cy="5750553"/>
            <a:chOff x="0" y="0"/>
            <a:chExt cx="2235245" cy="727490"/>
          </a:xfrm>
        </p:grpSpPr>
        <p:sp>
          <p:nvSpPr>
            <p:cNvPr name="Freeform 6" id="6"/>
            <p:cNvSpPr/>
            <p:nvPr/>
          </p:nvSpPr>
          <p:spPr>
            <a:xfrm flipH="false" flipV="false" rot="0">
              <a:off x="0" y="0"/>
              <a:ext cx="2235245" cy="727490"/>
            </a:xfrm>
            <a:custGeom>
              <a:avLst/>
              <a:gdLst/>
              <a:ahLst/>
              <a:cxnLst/>
              <a:rect r="r" b="b" t="t" l="l"/>
              <a:pathLst>
                <a:path h="727490" w="2235245">
                  <a:moveTo>
                    <a:pt x="2032045" y="0"/>
                  </a:moveTo>
                  <a:lnTo>
                    <a:pt x="0" y="0"/>
                  </a:lnTo>
                  <a:lnTo>
                    <a:pt x="203200" y="727490"/>
                  </a:lnTo>
                  <a:lnTo>
                    <a:pt x="2235245" y="727490"/>
                  </a:lnTo>
                  <a:lnTo>
                    <a:pt x="2032045" y="0"/>
                  </a:lnTo>
                  <a:close/>
                </a:path>
              </a:pathLst>
            </a:custGeom>
            <a:solidFill>
              <a:srgbClr val="FFF3D9"/>
            </a:solidFill>
          </p:spPr>
        </p:sp>
        <p:sp>
          <p:nvSpPr>
            <p:cNvPr name="TextBox 7" id="7"/>
            <p:cNvSpPr txBox="true"/>
            <p:nvPr/>
          </p:nvSpPr>
          <p:spPr>
            <a:xfrm>
              <a:off x="101600" y="-57150"/>
              <a:ext cx="2032045" cy="78464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913363" y="5204615"/>
            <a:ext cx="2432296" cy="3162560"/>
          </a:xfrm>
          <a:custGeom>
            <a:avLst/>
            <a:gdLst/>
            <a:ahLst/>
            <a:cxnLst/>
            <a:rect r="r" b="b" t="t" l="l"/>
            <a:pathLst>
              <a:path h="3162560" w="2432296">
                <a:moveTo>
                  <a:pt x="0" y="0"/>
                </a:moveTo>
                <a:lnTo>
                  <a:pt x="2432296" y="0"/>
                </a:lnTo>
                <a:lnTo>
                  <a:pt x="2432296" y="3162560"/>
                </a:lnTo>
                <a:lnTo>
                  <a:pt x="0" y="3162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70428" y="4337943"/>
            <a:ext cx="2341474" cy="991933"/>
          </a:xfrm>
          <a:custGeom>
            <a:avLst/>
            <a:gdLst/>
            <a:ahLst/>
            <a:cxnLst/>
            <a:rect r="r" b="b" t="t" l="l"/>
            <a:pathLst>
              <a:path h="991933" w="2341474">
                <a:moveTo>
                  <a:pt x="0" y="0"/>
                </a:moveTo>
                <a:lnTo>
                  <a:pt x="2341474" y="0"/>
                </a:lnTo>
                <a:lnTo>
                  <a:pt x="2341474" y="991933"/>
                </a:lnTo>
                <a:lnTo>
                  <a:pt x="0" y="991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46730" y="5443646"/>
            <a:ext cx="2366633" cy="2211726"/>
          </a:xfrm>
          <a:custGeom>
            <a:avLst/>
            <a:gdLst/>
            <a:ahLst/>
            <a:cxnLst/>
            <a:rect r="r" b="b" t="t" l="l"/>
            <a:pathLst>
              <a:path h="2211726" w="2366633">
                <a:moveTo>
                  <a:pt x="0" y="0"/>
                </a:moveTo>
                <a:lnTo>
                  <a:pt x="2366633" y="0"/>
                </a:lnTo>
                <a:lnTo>
                  <a:pt x="2366633" y="2211726"/>
                </a:lnTo>
                <a:lnTo>
                  <a:pt x="0" y="2211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57755" y="1291321"/>
            <a:ext cx="2843927" cy="2719828"/>
          </a:xfrm>
          <a:custGeom>
            <a:avLst/>
            <a:gdLst/>
            <a:ahLst/>
            <a:cxnLst/>
            <a:rect r="r" b="b" t="t" l="l"/>
            <a:pathLst>
              <a:path h="2719828" w="2843927">
                <a:moveTo>
                  <a:pt x="0" y="0"/>
                </a:moveTo>
                <a:lnTo>
                  <a:pt x="2843927" y="0"/>
                </a:lnTo>
                <a:lnTo>
                  <a:pt x="2843927" y="2719828"/>
                </a:lnTo>
                <a:lnTo>
                  <a:pt x="0" y="27198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5867764" y="3047047"/>
            <a:ext cx="9259440" cy="964102"/>
          </a:xfrm>
          <a:prstGeom prst="rect">
            <a:avLst/>
          </a:prstGeom>
        </p:spPr>
        <p:txBody>
          <a:bodyPr anchor="t" rtlCol="false" tIns="0" lIns="0" bIns="0" rIns="0">
            <a:spAutoFit/>
          </a:bodyPr>
          <a:lstStyle/>
          <a:p>
            <a:pPr algn="l">
              <a:lnSpc>
                <a:spcPts val="7839"/>
              </a:lnSpc>
            </a:pPr>
            <a:r>
              <a:rPr lang="en-US" sz="5599" b="true">
                <a:solidFill>
                  <a:srgbClr val="1F0560"/>
                </a:solidFill>
                <a:latin typeface="Neue Machina Ultra-Bold"/>
                <a:ea typeface="Neue Machina Ultra-Bold"/>
                <a:cs typeface="Neue Machina Ultra-Bold"/>
                <a:sym typeface="Neue Machina Ultra-Bold"/>
              </a:rPr>
              <a:t>Introduction </a:t>
            </a:r>
          </a:p>
        </p:txBody>
      </p:sp>
      <p:sp>
        <p:nvSpPr>
          <p:cNvPr name="TextBox 13" id="13"/>
          <p:cNvSpPr txBox="true"/>
          <p:nvPr/>
        </p:nvSpPr>
        <p:spPr>
          <a:xfrm rot="0">
            <a:off x="5867764" y="4159408"/>
            <a:ext cx="11741734" cy="3200578"/>
          </a:xfrm>
          <a:prstGeom prst="rect">
            <a:avLst/>
          </a:prstGeom>
        </p:spPr>
        <p:txBody>
          <a:bodyPr anchor="t" rtlCol="false" tIns="0" lIns="0" bIns="0" rIns="0">
            <a:spAutoFit/>
          </a:bodyPr>
          <a:lstStyle/>
          <a:p>
            <a:pPr algn="just">
              <a:lnSpc>
                <a:spcPts val="3665"/>
              </a:lnSpc>
            </a:pPr>
            <a:r>
              <a:rPr lang="en-US" sz="2618">
                <a:solidFill>
                  <a:srgbClr val="1F0560"/>
                </a:solidFill>
                <a:latin typeface="Poppins"/>
                <a:ea typeface="Poppins"/>
                <a:cs typeface="Poppins"/>
                <a:sym typeface="Poppins"/>
              </a:rPr>
              <a:t>Dataset ini merupakan kumpulan data pelanggan dari sebuah perusahaan telekomunikasi selama 2023-09-03 sampai 2026-06-19 yang menyediakan layanan komunikasi jarak jauh, seperti telepon, pesan singkat (SMS), dan akses internet. Dataset mencakup informasi mengenai pelanggan, penggunaan layanan, jenis paket yang digunakan, metode pembayaran, wilayah operasional, serta indikator loyalitas pelanggan seperti NPS Score dan status churn.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4091" y="6634703"/>
            <a:ext cx="12597099" cy="4085583"/>
            <a:chOff x="0" y="0"/>
            <a:chExt cx="1593632" cy="516858"/>
          </a:xfrm>
        </p:grpSpPr>
        <p:sp>
          <p:nvSpPr>
            <p:cNvPr name="Freeform 3" id="3"/>
            <p:cNvSpPr/>
            <p:nvPr/>
          </p:nvSpPr>
          <p:spPr>
            <a:xfrm flipH="false" flipV="false" rot="0">
              <a:off x="0" y="0"/>
              <a:ext cx="1593632" cy="516858"/>
            </a:xfrm>
            <a:custGeom>
              <a:avLst/>
              <a:gdLst/>
              <a:ahLst/>
              <a:cxnLst/>
              <a:rect r="r" b="b" t="t" l="l"/>
              <a:pathLst>
                <a:path h="516858" w="1593632">
                  <a:moveTo>
                    <a:pt x="1390432" y="0"/>
                  </a:moveTo>
                  <a:lnTo>
                    <a:pt x="0" y="0"/>
                  </a:lnTo>
                  <a:lnTo>
                    <a:pt x="203200" y="516858"/>
                  </a:lnTo>
                  <a:lnTo>
                    <a:pt x="1593632" y="516858"/>
                  </a:lnTo>
                  <a:lnTo>
                    <a:pt x="1390432" y="0"/>
                  </a:lnTo>
                  <a:close/>
                </a:path>
              </a:pathLst>
            </a:custGeom>
            <a:solidFill>
              <a:srgbClr val="F0EAFF"/>
            </a:solidFill>
          </p:spPr>
        </p:sp>
        <p:sp>
          <p:nvSpPr>
            <p:cNvPr name="TextBox 4" id="4"/>
            <p:cNvSpPr txBox="true"/>
            <p:nvPr/>
          </p:nvSpPr>
          <p:spPr>
            <a:xfrm>
              <a:off x="101600" y="-57150"/>
              <a:ext cx="1390432" cy="57400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816964" y="2923224"/>
            <a:ext cx="11377013" cy="5104916"/>
            <a:chOff x="0" y="0"/>
            <a:chExt cx="1439281" cy="645812"/>
          </a:xfrm>
        </p:grpSpPr>
        <p:sp>
          <p:nvSpPr>
            <p:cNvPr name="Freeform 6" id="6"/>
            <p:cNvSpPr/>
            <p:nvPr/>
          </p:nvSpPr>
          <p:spPr>
            <a:xfrm flipH="false" flipV="false" rot="0">
              <a:off x="0" y="0"/>
              <a:ext cx="1439281" cy="645812"/>
            </a:xfrm>
            <a:custGeom>
              <a:avLst/>
              <a:gdLst/>
              <a:ahLst/>
              <a:cxnLst/>
              <a:rect r="r" b="b" t="t" l="l"/>
              <a:pathLst>
                <a:path h="645812" w="1439281">
                  <a:moveTo>
                    <a:pt x="1236081" y="0"/>
                  </a:moveTo>
                  <a:lnTo>
                    <a:pt x="0" y="0"/>
                  </a:lnTo>
                  <a:lnTo>
                    <a:pt x="203200" y="645812"/>
                  </a:lnTo>
                  <a:lnTo>
                    <a:pt x="1439281" y="645812"/>
                  </a:lnTo>
                  <a:lnTo>
                    <a:pt x="1236081" y="0"/>
                  </a:lnTo>
                  <a:close/>
                </a:path>
              </a:pathLst>
            </a:custGeom>
            <a:solidFill>
              <a:srgbClr val="FFF3D9"/>
            </a:solidFill>
          </p:spPr>
        </p:sp>
        <p:sp>
          <p:nvSpPr>
            <p:cNvPr name="TextBox 7" id="7"/>
            <p:cNvSpPr txBox="true"/>
            <p:nvPr/>
          </p:nvSpPr>
          <p:spPr>
            <a:xfrm>
              <a:off x="101600" y="-57150"/>
              <a:ext cx="1236081" cy="70296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715268" y="6276046"/>
            <a:ext cx="1923475" cy="1839542"/>
          </a:xfrm>
          <a:custGeom>
            <a:avLst/>
            <a:gdLst/>
            <a:ahLst/>
            <a:cxnLst/>
            <a:rect r="r" b="b" t="t" l="l"/>
            <a:pathLst>
              <a:path h="1839542" w="1923475">
                <a:moveTo>
                  <a:pt x="0" y="0"/>
                </a:moveTo>
                <a:lnTo>
                  <a:pt x="1923475" y="0"/>
                </a:lnTo>
                <a:lnTo>
                  <a:pt x="1923475" y="1839542"/>
                </a:lnTo>
                <a:lnTo>
                  <a:pt x="0" y="18395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2533883"/>
            <a:ext cx="5980909" cy="663759"/>
          </a:xfrm>
          <a:prstGeom prst="rect">
            <a:avLst/>
          </a:prstGeom>
        </p:spPr>
        <p:txBody>
          <a:bodyPr anchor="t" rtlCol="false" tIns="0" lIns="0" bIns="0" rIns="0">
            <a:spAutoFit/>
          </a:bodyPr>
          <a:lstStyle/>
          <a:p>
            <a:pPr algn="l">
              <a:lnSpc>
                <a:spcPts val="5414"/>
              </a:lnSpc>
            </a:pPr>
            <a:r>
              <a:rPr lang="en-US" sz="3867" b="true">
                <a:solidFill>
                  <a:srgbClr val="1F0560"/>
                </a:solidFill>
                <a:latin typeface="Montserrat Ultra-Bold"/>
                <a:ea typeface="Montserrat Ultra-Bold"/>
                <a:cs typeface="Montserrat Ultra-Bold"/>
                <a:sym typeface="Montserrat Ultra-Bold"/>
              </a:rPr>
              <a:t>Key Problem</a:t>
            </a:r>
          </a:p>
        </p:txBody>
      </p:sp>
      <p:sp>
        <p:nvSpPr>
          <p:cNvPr name="TextBox 10" id="10"/>
          <p:cNvSpPr txBox="true"/>
          <p:nvPr/>
        </p:nvSpPr>
        <p:spPr>
          <a:xfrm rot="0">
            <a:off x="1028700" y="3337907"/>
            <a:ext cx="7328476" cy="2482850"/>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Perusahaan mengalami pertumbuhan revenue yang tidak sejalan dengan profitabilitas. Meskipun strategi diskon berhasil meningkatkan jumlah pelanggan dan revenue, biaya operasional (network cost) yang tinggi menyebabkan profit menjadi negatif. Selain itu, tingkat churn masih menjadi tantangan, meskipun terjadi perbaikan di 2024.</a:t>
            </a:r>
          </a:p>
        </p:txBody>
      </p:sp>
      <p:sp>
        <p:nvSpPr>
          <p:cNvPr name="TextBox 11" id="11"/>
          <p:cNvSpPr txBox="true"/>
          <p:nvPr/>
        </p:nvSpPr>
        <p:spPr>
          <a:xfrm rot="0">
            <a:off x="2957211" y="7025356"/>
            <a:ext cx="6708448" cy="677672"/>
          </a:xfrm>
          <a:prstGeom prst="rect">
            <a:avLst/>
          </a:prstGeom>
        </p:spPr>
        <p:txBody>
          <a:bodyPr anchor="t" rtlCol="false" tIns="0" lIns="0" bIns="0" rIns="0">
            <a:spAutoFit/>
          </a:bodyPr>
          <a:lstStyle/>
          <a:p>
            <a:pPr algn="r">
              <a:lnSpc>
                <a:spcPts val="5698"/>
              </a:lnSpc>
            </a:pPr>
            <a:r>
              <a:rPr lang="en-US" sz="4070" b="true">
                <a:solidFill>
                  <a:srgbClr val="1F0560"/>
                </a:solidFill>
                <a:latin typeface="Montserrat Ultra-Bold"/>
                <a:ea typeface="Montserrat Ultra-Bold"/>
                <a:cs typeface="Montserrat Ultra-Bold"/>
                <a:sym typeface="Montserrat Ultra-Bold"/>
              </a:rPr>
              <a:t>Goal</a:t>
            </a:r>
          </a:p>
        </p:txBody>
      </p:sp>
      <p:sp>
        <p:nvSpPr>
          <p:cNvPr name="TextBox 12" id="12"/>
          <p:cNvSpPr txBox="true"/>
          <p:nvPr/>
        </p:nvSpPr>
        <p:spPr>
          <a:xfrm rot="0">
            <a:off x="3293226" y="7747000"/>
            <a:ext cx="6530397" cy="1425575"/>
          </a:xfrm>
          <a:prstGeom prst="rect">
            <a:avLst/>
          </a:prstGeom>
        </p:spPr>
        <p:txBody>
          <a:bodyPr anchor="t" rtlCol="false" tIns="0" lIns="0" bIns="0" rIns="0">
            <a:spAutoFit/>
          </a:bodyPr>
          <a:lstStyle/>
          <a:p>
            <a:pPr algn="r">
              <a:lnSpc>
                <a:spcPts val="2800"/>
              </a:lnSpc>
            </a:pPr>
            <a:r>
              <a:rPr lang="en-US" sz="2000">
                <a:solidFill>
                  <a:srgbClr val="1F0560"/>
                </a:solidFill>
                <a:latin typeface="Poppins"/>
                <a:ea typeface="Poppins"/>
                <a:cs typeface="Poppins"/>
                <a:sym typeface="Poppins"/>
              </a:rPr>
              <a:t>Meningkatkan profitabilitas perusahaan dengan menyeimbangkan pertumbuhan pelanggan, pengendalian biaya, dan penurunan churn rate secara berkelanjutan.</a:t>
            </a:r>
          </a:p>
        </p:txBody>
      </p:sp>
      <p:sp>
        <p:nvSpPr>
          <p:cNvPr name="TextBox 13" id="13"/>
          <p:cNvSpPr txBox="true"/>
          <p:nvPr/>
        </p:nvSpPr>
        <p:spPr>
          <a:xfrm rot="0">
            <a:off x="10973450" y="3600353"/>
            <a:ext cx="6667484" cy="703707"/>
          </a:xfrm>
          <a:prstGeom prst="rect">
            <a:avLst/>
          </a:prstGeom>
        </p:spPr>
        <p:txBody>
          <a:bodyPr anchor="t" rtlCol="false" tIns="0" lIns="0" bIns="0" rIns="0">
            <a:spAutoFit/>
          </a:bodyPr>
          <a:lstStyle/>
          <a:p>
            <a:pPr algn="just">
              <a:lnSpc>
                <a:spcPts val="5838"/>
              </a:lnSpc>
            </a:pPr>
            <a:r>
              <a:rPr lang="en-US" sz="4170" b="true">
                <a:solidFill>
                  <a:srgbClr val="1F0560"/>
                </a:solidFill>
                <a:latin typeface="Montserrat Ultra-Bold"/>
                <a:ea typeface="Montserrat Ultra-Bold"/>
                <a:cs typeface="Montserrat Ultra-Bold"/>
                <a:sym typeface="Montserrat Ultra-Bold"/>
              </a:rPr>
              <a:t>Objective</a:t>
            </a:r>
          </a:p>
        </p:txBody>
      </p:sp>
      <p:sp>
        <p:nvSpPr>
          <p:cNvPr name="TextBox 14" id="14"/>
          <p:cNvSpPr txBox="true"/>
          <p:nvPr/>
        </p:nvSpPr>
        <p:spPr>
          <a:xfrm rot="0">
            <a:off x="10687700" y="4525224"/>
            <a:ext cx="6328414" cy="2482850"/>
          </a:xfrm>
          <a:prstGeom prst="rect">
            <a:avLst/>
          </a:prstGeom>
        </p:spPr>
        <p:txBody>
          <a:bodyPr anchor="t" rtlCol="false" tIns="0" lIns="0" bIns="0" rIns="0">
            <a:spAutoFit/>
          </a:bodyPr>
          <a:lstStyle/>
          <a:p>
            <a:pPr algn="l" marL="431801" indent="-215900" lvl="1">
              <a:lnSpc>
                <a:spcPts val="2800"/>
              </a:lnSpc>
              <a:buAutoNum type="arabicPeriod" startAt="1"/>
            </a:pPr>
            <a:r>
              <a:rPr lang="en-US" sz="2000">
                <a:solidFill>
                  <a:srgbClr val="1F0560"/>
                </a:solidFill>
                <a:latin typeface="Poppins"/>
                <a:ea typeface="Poppins"/>
                <a:cs typeface="Poppins"/>
                <a:sym typeface="Poppins"/>
              </a:rPr>
              <a:t>Mengidentifikasi akar penyebab permasalahan pada tahun sebelumnya.</a:t>
            </a:r>
          </a:p>
          <a:p>
            <a:pPr algn="l" marL="431801" indent="-215900" lvl="1">
              <a:lnSpc>
                <a:spcPts val="2800"/>
              </a:lnSpc>
              <a:buAutoNum type="arabicPeriod" startAt="1"/>
            </a:pPr>
            <a:r>
              <a:rPr lang="en-US" sz="2000">
                <a:solidFill>
                  <a:srgbClr val="1F0560"/>
                </a:solidFill>
                <a:latin typeface="Poppins"/>
                <a:ea typeface="Poppins"/>
                <a:cs typeface="Poppins"/>
                <a:sym typeface="Poppins"/>
              </a:rPr>
              <a:t>Mengidentifikasi faktor yang memengaruhi churn dan retensi pelanggan.</a:t>
            </a:r>
          </a:p>
          <a:p>
            <a:pPr algn="l" marL="431801" indent="-215900" lvl="1">
              <a:lnSpc>
                <a:spcPts val="2800"/>
              </a:lnSpc>
              <a:buAutoNum type="arabicPeriod" startAt="1"/>
            </a:pPr>
            <a:r>
              <a:rPr lang="en-US" sz="2000">
                <a:solidFill>
                  <a:srgbClr val="1F0560"/>
                </a:solidFill>
                <a:latin typeface="Poppins"/>
                <a:ea typeface="Poppins"/>
                <a:cs typeface="Poppins"/>
                <a:sym typeface="Poppins"/>
              </a:rPr>
              <a:t>Menentukan strategi terbaik berdasarkan performa produk dan channel untuk meningkatkan profitabilitas perusahaan.</a:t>
            </a:r>
          </a:p>
        </p:txBody>
      </p:sp>
      <p:sp>
        <p:nvSpPr>
          <p:cNvPr name="TextBox 15" id="15"/>
          <p:cNvSpPr txBox="true"/>
          <p:nvPr/>
        </p:nvSpPr>
        <p:spPr>
          <a:xfrm rot="0">
            <a:off x="2939621" y="827493"/>
            <a:ext cx="12408757" cy="1203202"/>
          </a:xfrm>
          <a:prstGeom prst="rect">
            <a:avLst/>
          </a:prstGeom>
        </p:spPr>
        <p:txBody>
          <a:bodyPr anchor="t" rtlCol="false" tIns="0" lIns="0" bIns="0" rIns="0">
            <a:spAutoFit/>
          </a:bodyPr>
          <a:lstStyle/>
          <a:p>
            <a:pPr algn="r">
              <a:lnSpc>
                <a:spcPts val="9806"/>
              </a:lnSpc>
            </a:pPr>
            <a:r>
              <a:rPr lang="en-US" b="true" sz="7004">
                <a:solidFill>
                  <a:srgbClr val="FEAC3D"/>
                </a:solidFill>
                <a:latin typeface="Neue Machina Ultra-Bold"/>
                <a:ea typeface="Neue Machina Ultra-Bold"/>
                <a:cs typeface="Neue Machina Ultra-Bold"/>
                <a:sym typeface="Neue Machina Ultra-Bold"/>
              </a:rPr>
              <a:t>Business Understanding </a:t>
            </a:r>
          </a:p>
        </p:txBody>
      </p:sp>
      <p:sp>
        <p:nvSpPr>
          <p:cNvPr name="Freeform 16" id="16"/>
          <p:cNvSpPr/>
          <p:nvPr/>
        </p:nvSpPr>
        <p:spPr>
          <a:xfrm flipH="false" flipV="false" rot="886470">
            <a:off x="8878102" y="2654958"/>
            <a:ext cx="1575115" cy="2043191"/>
          </a:xfrm>
          <a:custGeom>
            <a:avLst/>
            <a:gdLst/>
            <a:ahLst/>
            <a:cxnLst/>
            <a:rect r="r" b="b" t="t" l="l"/>
            <a:pathLst>
              <a:path h="2043191" w="1575115">
                <a:moveTo>
                  <a:pt x="0" y="0"/>
                </a:moveTo>
                <a:lnTo>
                  <a:pt x="1575114" y="0"/>
                </a:lnTo>
                <a:lnTo>
                  <a:pt x="1575114" y="2043191"/>
                </a:lnTo>
                <a:lnTo>
                  <a:pt x="0" y="20431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2514" y="5419349"/>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15537237" y="-221319"/>
            <a:ext cx="15181632" cy="5364819"/>
            <a:chOff x="0" y="0"/>
            <a:chExt cx="1725076" cy="609600"/>
          </a:xfrm>
        </p:grpSpPr>
        <p:sp>
          <p:nvSpPr>
            <p:cNvPr name="Freeform 6" id="6"/>
            <p:cNvSpPr/>
            <p:nvPr/>
          </p:nvSpPr>
          <p:spPr>
            <a:xfrm flipH="false" flipV="false" rot="0">
              <a:off x="0" y="0"/>
              <a:ext cx="1725076" cy="609600"/>
            </a:xfrm>
            <a:custGeom>
              <a:avLst/>
              <a:gdLst/>
              <a:ahLst/>
              <a:cxnLst/>
              <a:rect r="r" b="b" t="t" l="l"/>
              <a:pathLst>
                <a:path h="609600" w="1725076">
                  <a:moveTo>
                    <a:pt x="203200" y="0"/>
                  </a:moveTo>
                  <a:lnTo>
                    <a:pt x="1521876" y="0"/>
                  </a:lnTo>
                  <a:lnTo>
                    <a:pt x="1725076" y="609600"/>
                  </a:lnTo>
                  <a:lnTo>
                    <a:pt x="0" y="609600"/>
                  </a:lnTo>
                  <a:lnTo>
                    <a:pt x="203200" y="0"/>
                  </a:lnTo>
                  <a:close/>
                </a:path>
              </a:pathLst>
            </a:custGeom>
            <a:solidFill>
              <a:srgbClr val="FFF3D9"/>
            </a:solidFill>
          </p:spPr>
        </p:sp>
        <p:sp>
          <p:nvSpPr>
            <p:cNvPr name="TextBox 7" id="7"/>
            <p:cNvSpPr txBox="true"/>
            <p:nvPr/>
          </p:nvSpPr>
          <p:spPr>
            <a:xfrm>
              <a:off x="127000" y="-38100"/>
              <a:ext cx="1471076"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911977" y="1843487"/>
            <a:ext cx="6965187" cy="4271018"/>
          </a:xfrm>
          <a:custGeom>
            <a:avLst/>
            <a:gdLst/>
            <a:ahLst/>
            <a:cxnLst/>
            <a:rect r="r" b="b" t="t" l="l"/>
            <a:pathLst>
              <a:path h="4271018" w="6965187">
                <a:moveTo>
                  <a:pt x="0" y="0"/>
                </a:moveTo>
                <a:lnTo>
                  <a:pt x="6965187" y="0"/>
                </a:lnTo>
                <a:lnTo>
                  <a:pt x="6965187" y="4271018"/>
                </a:lnTo>
                <a:lnTo>
                  <a:pt x="0" y="4271018"/>
                </a:lnTo>
                <a:lnTo>
                  <a:pt x="0" y="0"/>
                </a:lnTo>
                <a:close/>
              </a:path>
            </a:pathLst>
          </a:custGeom>
          <a:blipFill>
            <a:blip r:embed="rId2"/>
            <a:stretch>
              <a:fillRect l="0" t="0" r="-93895" b="0"/>
            </a:stretch>
          </a:blipFill>
          <a:ln w="9525" cap="sq">
            <a:solidFill>
              <a:srgbClr val="000000"/>
            </a:solidFill>
            <a:prstDash val="solid"/>
            <a:miter/>
          </a:ln>
        </p:spPr>
      </p:sp>
      <p:grpSp>
        <p:nvGrpSpPr>
          <p:cNvPr name="Group 9" id="9"/>
          <p:cNvGrpSpPr/>
          <p:nvPr/>
        </p:nvGrpSpPr>
        <p:grpSpPr>
          <a:xfrm rot="0">
            <a:off x="1028700" y="7366564"/>
            <a:ext cx="5448827" cy="2162757"/>
            <a:chOff x="0" y="0"/>
            <a:chExt cx="1610176" cy="639114"/>
          </a:xfrm>
        </p:grpSpPr>
        <p:sp>
          <p:nvSpPr>
            <p:cNvPr name="Freeform 10" id="10"/>
            <p:cNvSpPr/>
            <p:nvPr/>
          </p:nvSpPr>
          <p:spPr>
            <a:xfrm flipH="false" flipV="false" rot="0">
              <a:off x="0" y="0"/>
              <a:ext cx="1610176" cy="639114"/>
            </a:xfrm>
            <a:custGeom>
              <a:avLst/>
              <a:gdLst/>
              <a:ahLst/>
              <a:cxnLst/>
              <a:rect r="r" b="b" t="t" l="l"/>
              <a:pathLst>
                <a:path h="639114" w="1610176">
                  <a:moveTo>
                    <a:pt x="52571" y="0"/>
                  </a:moveTo>
                  <a:lnTo>
                    <a:pt x="1557605" y="0"/>
                  </a:lnTo>
                  <a:cubicBezTo>
                    <a:pt x="1571548" y="0"/>
                    <a:pt x="1584919" y="5539"/>
                    <a:pt x="1594778" y="15398"/>
                  </a:cubicBezTo>
                  <a:cubicBezTo>
                    <a:pt x="1604637" y="25257"/>
                    <a:pt x="1610176" y="38628"/>
                    <a:pt x="1610176" y="52571"/>
                  </a:cubicBezTo>
                  <a:lnTo>
                    <a:pt x="1610176" y="586542"/>
                  </a:lnTo>
                  <a:cubicBezTo>
                    <a:pt x="1610176" y="600485"/>
                    <a:pt x="1604637" y="613857"/>
                    <a:pt x="1594778" y="623716"/>
                  </a:cubicBezTo>
                  <a:cubicBezTo>
                    <a:pt x="1584919" y="633575"/>
                    <a:pt x="1571548" y="639114"/>
                    <a:pt x="1557605" y="639114"/>
                  </a:cubicBezTo>
                  <a:lnTo>
                    <a:pt x="52571" y="639114"/>
                  </a:lnTo>
                  <a:cubicBezTo>
                    <a:pt x="38628" y="639114"/>
                    <a:pt x="25257" y="633575"/>
                    <a:pt x="15398" y="623716"/>
                  </a:cubicBezTo>
                  <a:cubicBezTo>
                    <a:pt x="5539" y="613857"/>
                    <a:pt x="0" y="600485"/>
                    <a:pt x="0" y="586542"/>
                  </a:cubicBezTo>
                  <a:lnTo>
                    <a:pt x="0" y="52571"/>
                  </a:lnTo>
                  <a:cubicBezTo>
                    <a:pt x="0" y="38628"/>
                    <a:pt x="5539" y="25257"/>
                    <a:pt x="15398" y="15398"/>
                  </a:cubicBezTo>
                  <a:cubicBezTo>
                    <a:pt x="25257" y="5539"/>
                    <a:pt x="38628" y="0"/>
                    <a:pt x="52571" y="0"/>
                  </a:cubicBezTo>
                  <a:close/>
                </a:path>
              </a:pathLst>
            </a:custGeom>
            <a:solidFill>
              <a:srgbClr val="FFFFFF"/>
            </a:solidFill>
            <a:ln w="9525" cap="rnd">
              <a:solidFill>
                <a:srgbClr val="243037"/>
              </a:solidFill>
              <a:prstDash val="solid"/>
              <a:round/>
            </a:ln>
          </p:spPr>
        </p:sp>
        <p:sp>
          <p:nvSpPr>
            <p:cNvPr name="TextBox 11" id="11"/>
            <p:cNvSpPr txBox="true"/>
            <p:nvPr/>
          </p:nvSpPr>
          <p:spPr>
            <a:xfrm>
              <a:off x="0" y="-38100"/>
              <a:ext cx="1610176" cy="6772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561226" y="7050842"/>
            <a:ext cx="2894808" cy="792794"/>
            <a:chOff x="0" y="0"/>
            <a:chExt cx="855441" cy="234278"/>
          </a:xfrm>
        </p:grpSpPr>
        <p:sp>
          <p:nvSpPr>
            <p:cNvPr name="Freeform 13" id="13"/>
            <p:cNvSpPr/>
            <p:nvPr/>
          </p:nvSpPr>
          <p:spPr>
            <a:xfrm flipH="false" flipV="false" rot="0">
              <a:off x="0" y="0"/>
              <a:ext cx="855441" cy="234278"/>
            </a:xfrm>
            <a:custGeom>
              <a:avLst/>
              <a:gdLst/>
              <a:ahLst/>
              <a:cxnLst/>
              <a:rect r="r" b="b" t="t" l="l"/>
              <a:pathLst>
                <a:path h="234278" w="855441">
                  <a:moveTo>
                    <a:pt x="98953" y="0"/>
                  </a:moveTo>
                  <a:lnTo>
                    <a:pt x="756488" y="0"/>
                  </a:lnTo>
                  <a:cubicBezTo>
                    <a:pt x="811138" y="0"/>
                    <a:pt x="855441" y="44303"/>
                    <a:pt x="855441" y="98953"/>
                  </a:cubicBezTo>
                  <a:lnTo>
                    <a:pt x="855441" y="135324"/>
                  </a:lnTo>
                  <a:cubicBezTo>
                    <a:pt x="855441" y="161568"/>
                    <a:pt x="845016" y="186738"/>
                    <a:pt x="826458" y="205295"/>
                  </a:cubicBezTo>
                  <a:cubicBezTo>
                    <a:pt x="807901" y="223852"/>
                    <a:pt x="782732" y="234278"/>
                    <a:pt x="756488" y="234278"/>
                  </a:cubicBezTo>
                  <a:lnTo>
                    <a:pt x="98953" y="234278"/>
                  </a:lnTo>
                  <a:cubicBezTo>
                    <a:pt x="72709" y="234278"/>
                    <a:pt x="47540" y="223852"/>
                    <a:pt x="28983" y="205295"/>
                  </a:cubicBezTo>
                  <a:cubicBezTo>
                    <a:pt x="10425" y="186738"/>
                    <a:pt x="0" y="161568"/>
                    <a:pt x="0" y="135324"/>
                  </a:cubicBezTo>
                  <a:lnTo>
                    <a:pt x="0" y="98953"/>
                  </a:lnTo>
                  <a:cubicBezTo>
                    <a:pt x="0" y="44303"/>
                    <a:pt x="44303" y="0"/>
                    <a:pt x="98953" y="0"/>
                  </a:cubicBezTo>
                  <a:close/>
                </a:path>
              </a:pathLst>
            </a:custGeom>
            <a:solidFill>
              <a:srgbClr val="6237CF"/>
            </a:solidFill>
            <a:ln cap="rnd">
              <a:noFill/>
              <a:prstDash val="solid"/>
              <a:round/>
            </a:ln>
          </p:spPr>
        </p:sp>
        <p:sp>
          <p:nvSpPr>
            <p:cNvPr name="TextBox 14" id="14"/>
            <p:cNvSpPr txBox="true"/>
            <p:nvPr/>
          </p:nvSpPr>
          <p:spPr>
            <a:xfrm>
              <a:off x="0" y="-38100"/>
              <a:ext cx="855441" cy="2723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1494818" y="8524762"/>
            <a:ext cx="5448827" cy="511564"/>
          </a:xfrm>
          <a:prstGeom prst="rect">
            <a:avLst/>
          </a:prstGeom>
        </p:spPr>
        <p:txBody>
          <a:bodyPr anchor="t" rtlCol="false" tIns="0" lIns="0" bIns="0" rIns="0">
            <a:spAutoFit/>
          </a:bodyPr>
          <a:lstStyle/>
          <a:p>
            <a:pPr algn="l" marL="317586" indent="-158793" lvl="1">
              <a:lnSpc>
                <a:spcPts val="2059"/>
              </a:lnSpc>
              <a:buAutoNum type="arabicPeriod" startAt="1"/>
            </a:pPr>
            <a:r>
              <a:rPr lang="en-US" sz="1470">
                <a:solidFill>
                  <a:srgbClr val="242424"/>
                </a:solidFill>
                <a:latin typeface="TT Hoves"/>
                <a:ea typeface="TT Hoves"/>
                <a:cs typeface="TT Hoves"/>
                <a:sym typeface="TT Hoves"/>
              </a:rPr>
              <a:t>Subcriber_ID (568)→ Anonim</a:t>
            </a:r>
          </a:p>
          <a:p>
            <a:pPr algn="l" marL="317586" indent="-158793" lvl="1">
              <a:lnSpc>
                <a:spcPts val="2059"/>
              </a:lnSpc>
              <a:buAutoNum type="arabicPeriod" startAt="1"/>
            </a:pPr>
            <a:r>
              <a:rPr lang="en-US" sz="1470">
                <a:solidFill>
                  <a:srgbClr val="242424"/>
                </a:solidFill>
                <a:latin typeface="TT Hoves"/>
                <a:ea typeface="TT Hoves"/>
                <a:cs typeface="TT Hoves"/>
                <a:sym typeface="TT Hoves"/>
              </a:rPr>
              <a:t>Discount_Pct (810) → 0%</a:t>
            </a:r>
          </a:p>
        </p:txBody>
      </p:sp>
      <p:grpSp>
        <p:nvGrpSpPr>
          <p:cNvPr name="Group 16" id="16"/>
          <p:cNvGrpSpPr/>
          <p:nvPr/>
        </p:nvGrpSpPr>
        <p:grpSpPr>
          <a:xfrm rot="0">
            <a:off x="6799190" y="7366564"/>
            <a:ext cx="5156290" cy="2162757"/>
            <a:chOff x="0" y="0"/>
            <a:chExt cx="1523729" cy="639114"/>
          </a:xfrm>
        </p:grpSpPr>
        <p:sp>
          <p:nvSpPr>
            <p:cNvPr name="Freeform 17" id="17"/>
            <p:cNvSpPr/>
            <p:nvPr/>
          </p:nvSpPr>
          <p:spPr>
            <a:xfrm flipH="false" flipV="false" rot="0">
              <a:off x="0" y="0"/>
              <a:ext cx="1523729" cy="639114"/>
            </a:xfrm>
            <a:custGeom>
              <a:avLst/>
              <a:gdLst/>
              <a:ahLst/>
              <a:cxnLst/>
              <a:rect r="r" b="b" t="t" l="l"/>
              <a:pathLst>
                <a:path h="639114" w="1523729">
                  <a:moveTo>
                    <a:pt x="55554" y="0"/>
                  </a:moveTo>
                  <a:lnTo>
                    <a:pt x="1468175" y="0"/>
                  </a:lnTo>
                  <a:cubicBezTo>
                    <a:pt x="1498857" y="0"/>
                    <a:pt x="1523729" y="24872"/>
                    <a:pt x="1523729" y="55554"/>
                  </a:cubicBezTo>
                  <a:lnTo>
                    <a:pt x="1523729" y="583560"/>
                  </a:lnTo>
                  <a:cubicBezTo>
                    <a:pt x="1523729" y="614241"/>
                    <a:pt x="1498857" y="639114"/>
                    <a:pt x="1468175" y="639114"/>
                  </a:cubicBezTo>
                  <a:lnTo>
                    <a:pt x="55554" y="639114"/>
                  </a:lnTo>
                  <a:cubicBezTo>
                    <a:pt x="24872" y="639114"/>
                    <a:pt x="0" y="614241"/>
                    <a:pt x="0" y="583560"/>
                  </a:cubicBezTo>
                  <a:lnTo>
                    <a:pt x="0" y="55554"/>
                  </a:lnTo>
                  <a:cubicBezTo>
                    <a:pt x="0" y="24872"/>
                    <a:pt x="24872" y="0"/>
                    <a:pt x="55554" y="0"/>
                  </a:cubicBezTo>
                  <a:close/>
                </a:path>
              </a:pathLst>
            </a:custGeom>
            <a:solidFill>
              <a:srgbClr val="FFFFFF"/>
            </a:solidFill>
            <a:ln w="9525" cap="rnd">
              <a:solidFill>
                <a:srgbClr val="243037"/>
              </a:solidFill>
              <a:prstDash val="solid"/>
              <a:round/>
            </a:ln>
          </p:spPr>
        </p:sp>
        <p:sp>
          <p:nvSpPr>
            <p:cNvPr name="TextBox 18" id="18"/>
            <p:cNvSpPr txBox="true"/>
            <p:nvPr/>
          </p:nvSpPr>
          <p:spPr>
            <a:xfrm>
              <a:off x="0" y="-38100"/>
              <a:ext cx="1523729" cy="6772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7331717" y="7050842"/>
            <a:ext cx="2894808" cy="792794"/>
            <a:chOff x="0" y="0"/>
            <a:chExt cx="855441" cy="234278"/>
          </a:xfrm>
        </p:grpSpPr>
        <p:sp>
          <p:nvSpPr>
            <p:cNvPr name="Freeform 20" id="20"/>
            <p:cNvSpPr/>
            <p:nvPr/>
          </p:nvSpPr>
          <p:spPr>
            <a:xfrm flipH="false" flipV="false" rot="0">
              <a:off x="0" y="0"/>
              <a:ext cx="855441" cy="234278"/>
            </a:xfrm>
            <a:custGeom>
              <a:avLst/>
              <a:gdLst/>
              <a:ahLst/>
              <a:cxnLst/>
              <a:rect r="r" b="b" t="t" l="l"/>
              <a:pathLst>
                <a:path h="234278" w="855441">
                  <a:moveTo>
                    <a:pt x="98953" y="0"/>
                  </a:moveTo>
                  <a:lnTo>
                    <a:pt x="756488" y="0"/>
                  </a:lnTo>
                  <a:cubicBezTo>
                    <a:pt x="811138" y="0"/>
                    <a:pt x="855441" y="44303"/>
                    <a:pt x="855441" y="98953"/>
                  </a:cubicBezTo>
                  <a:lnTo>
                    <a:pt x="855441" y="135324"/>
                  </a:lnTo>
                  <a:cubicBezTo>
                    <a:pt x="855441" y="161568"/>
                    <a:pt x="845016" y="186738"/>
                    <a:pt x="826458" y="205295"/>
                  </a:cubicBezTo>
                  <a:cubicBezTo>
                    <a:pt x="807901" y="223852"/>
                    <a:pt x="782732" y="234278"/>
                    <a:pt x="756488" y="234278"/>
                  </a:cubicBezTo>
                  <a:lnTo>
                    <a:pt x="98953" y="234278"/>
                  </a:lnTo>
                  <a:cubicBezTo>
                    <a:pt x="72709" y="234278"/>
                    <a:pt x="47540" y="223852"/>
                    <a:pt x="28983" y="205295"/>
                  </a:cubicBezTo>
                  <a:cubicBezTo>
                    <a:pt x="10425" y="186738"/>
                    <a:pt x="0" y="161568"/>
                    <a:pt x="0" y="135324"/>
                  </a:cubicBezTo>
                  <a:lnTo>
                    <a:pt x="0" y="98953"/>
                  </a:lnTo>
                  <a:cubicBezTo>
                    <a:pt x="0" y="44303"/>
                    <a:pt x="44303" y="0"/>
                    <a:pt x="98953" y="0"/>
                  </a:cubicBezTo>
                  <a:close/>
                </a:path>
              </a:pathLst>
            </a:custGeom>
            <a:solidFill>
              <a:srgbClr val="FEAC3D"/>
            </a:solidFill>
            <a:ln cap="rnd">
              <a:noFill/>
              <a:prstDash val="solid"/>
              <a:round/>
            </a:ln>
          </p:spPr>
        </p:sp>
        <p:sp>
          <p:nvSpPr>
            <p:cNvPr name="TextBox 21" id="21"/>
            <p:cNvSpPr txBox="true"/>
            <p:nvPr/>
          </p:nvSpPr>
          <p:spPr>
            <a:xfrm>
              <a:off x="0" y="-38100"/>
              <a:ext cx="855441" cy="2723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6936711" y="7943047"/>
            <a:ext cx="5448827" cy="251388"/>
          </a:xfrm>
          <a:prstGeom prst="rect">
            <a:avLst/>
          </a:prstGeom>
        </p:spPr>
        <p:txBody>
          <a:bodyPr anchor="t" rtlCol="false" tIns="0" lIns="0" bIns="0" rIns="0">
            <a:spAutoFit/>
          </a:bodyPr>
          <a:lstStyle/>
          <a:p>
            <a:pPr algn="l" marL="317586" indent="-158793" lvl="1">
              <a:lnSpc>
                <a:spcPts val="2059"/>
              </a:lnSpc>
              <a:buFont typeface="Arial"/>
              <a:buChar char="•"/>
            </a:pPr>
            <a:r>
              <a:rPr lang="en-US" sz="1470">
                <a:solidFill>
                  <a:srgbClr val="242424"/>
                </a:solidFill>
                <a:latin typeface="TT Hoves"/>
                <a:ea typeface="TT Hoves"/>
                <a:cs typeface="TT Hoves"/>
                <a:sym typeface="TT Hoves"/>
              </a:rPr>
              <a:t>Inconsistensy Data : </a:t>
            </a:r>
          </a:p>
        </p:txBody>
      </p:sp>
      <p:sp>
        <p:nvSpPr>
          <p:cNvPr name="TextBox 23" id="23"/>
          <p:cNvSpPr txBox="true"/>
          <p:nvPr/>
        </p:nvSpPr>
        <p:spPr>
          <a:xfrm rot="0">
            <a:off x="7044698" y="8191609"/>
            <a:ext cx="5448827" cy="1031915"/>
          </a:xfrm>
          <a:prstGeom prst="rect">
            <a:avLst/>
          </a:prstGeom>
        </p:spPr>
        <p:txBody>
          <a:bodyPr anchor="t" rtlCol="false" tIns="0" lIns="0" bIns="0" rIns="0">
            <a:spAutoFit/>
          </a:bodyPr>
          <a:lstStyle/>
          <a:p>
            <a:pPr algn="l" marL="317586" indent="-158793" lvl="1">
              <a:lnSpc>
                <a:spcPts val="2059"/>
              </a:lnSpc>
              <a:buAutoNum type="arabicPeriod" startAt="1"/>
            </a:pPr>
            <a:r>
              <a:rPr lang="en-US" sz="1470">
                <a:solidFill>
                  <a:srgbClr val="242424"/>
                </a:solidFill>
                <a:latin typeface="TT Hoves"/>
                <a:ea typeface="TT Hoves"/>
                <a:cs typeface="TT Hoves"/>
                <a:sym typeface="TT Hoves"/>
              </a:rPr>
              <a:t>Area (City) → Yogyakarta, Bandung, Surabaya, Jakarta</a:t>
            </a:r>
          </a:p>
          <a:p>
            <a:pPr algn="l" marL="317586" indent="-158793" lvl="1">
              <a:lnSpc>
                <a:spcPts val="2059"/>
              </a:lnSpc>
              <a:buAutoNum type="arabicPeriod" startAt="1"/>
            </a:pPr>
            <a:r>
              <a:rPr lang="en-US" sz="1470">
                <a:solidFill>
                  <a:srgbClr val="242424"/>
                </a:solidFill>
                <a:latin typeface="TT Hoves"/>
                <a:ea typeface="TT Hoves"/>
                <a:cs typeface="TT Hoves"/>
                <a:sym typeface="TT Hoves"/>
              </a:rPr>
              <a:t>Cluster (Province) → DIY, Jabar, Jatim, DKI</a:t>
            </a:r>
          </a:p>
          <a:p>
            <a:pPr algn="l" marL="317586" indent="-158793" lvl="1">
              <a:lnSpc>
                <a:spcPts val="2059"/>
              </a:lnSpc>
              <a:buAutoNum type="arabicPeriod" startAt="1"/>
            </a:pPr>
            <a:r>
              <a:rPr lang="en-US" sz="1470">
                <a:solidFill>
                  <a:srgbClr val="242424"/>
                </a:solidFill>
                <a:latin typeface="TT Hoves"/>
                <a:ea typeface="TT Hoves"/>
                <a:cs typeface="TT Hoves"/>
                <a:sym typeface="TT Hoves"/>
              </a:rPr>
              <a:t>Channel → Dealer, Online, Retail</a:t>
            </a:r>
          </a:p>
          <a:p>
            <a:pPr algn="l" marL="317586" indent="-158793" lvl="1">
              <a:lnSpc>
                <a:spcPts val="2059"/>
              </a:lnSpc>
              <a:buAutoNum type="arabicPeriod" startAt="1"/>
            </a:pPr>
            <a:r>
              <a:rPr lang="en-US" sz="1470">
                <a:solidFill>
                  <a:srgbClr val="242424"/>
                </a:solidFill>
                <a:latin typeface="TT Hoves"/>
                <a:ea typeface="TT Hoves"/>
                <a:cs typeface="TT Hoves"/>
                <a:sym typeface="TT Hoves"/>
              </a:rPr>
              <a:t>Tenure_Month → Tenure_Days (abs positif)</a:t>
            </a:r>
          </a:p>
        </p:txBody>
      </p:sp>
      <p:grpSp>
        <p:nvGrpSpPr>
          <p:cNvPr name="Group 24" id="24"/>
          <p:cNvGrpSpPr/>
          <p:nvPr/>
        </p:nvGrpSpPr>
        <p:grpSpPr>
          <a:xfrm rot="0">
            <a:off x="12282662" y="7366564"/>
            <a:ext cx="4958488" cy="2162757"/>
            <a:chOff x="0" y="0"/>
            <a:chExt cx="1465277" cy="639114"/>
          </a:xfrm>
        </p:grpSpPr>
        <p:sp>
          <p:nvSpPr>
            <p:cNvPr name="Freeform 25" id="25"/>
            <p:cNvSpPr/>
            <p:nvPr/>
          </p:nvSpPr>
          <p:spPr>
            <a:xfrm flipH="false" flipV="false" rot="0">
              <a:off x="0" y="0"/>
              <a:ext cx="1465277" cy="639114"/>
            </a:xfrm>
            <a:custGeom>
              <a:avLst/>
              <a:gdLst/>
              <a:ahLst/>
              <a:cxnLst/>
              <a:rect r="r" b="b" t="t" l="l"/>
              <a:pathLst>
                <a:path h="639114" w="1465277">
                  <a:moveTo>
                    <a:pt x="57770" y="0"/>
                  </a:moveTo>
                  <a:lnTo>
                    <a:pt x="1407507" y="0"/>
                  </a:lnTo>
                  <a:cubicBezTo>
                    <a:pt x="1422828" y="0"/>
                    <a:pt x="1437522" y="6086"/>
                    <a:pt x="1448356" y="16920"/>
                  </a:cubicBezTo>
                  <a:cubicBezTo>
                    <a:pt x="1459190" y="27754"/>
                    <a:pt x="1465277" y="42448"/>
                    <a:pt x="1465277" y="57770"/>
                  </a:cubicBezTo>
                  <a:lnTo>
                    <a:pt x="1465277" y="581344"/>
                  </a:lnTo>
                  <a:cubicBezTo>
                    <a:pt x="1465277" y="596665"/>
                    <a:pt x="1459190" y="611359"/>
                    <a:pt x="1448356" y="622193"/>
                  </a:cubicBezTo>
                  <a:cubicBezTo>
                    <a:pt x="1437522" y="633027"/>
                    <a:pt x="1422828" y="639114"/>
                    <a:pt x="1407507" y="639114"/>
                  </a:cubicBezTo>
                  <a:lnTo>
                    <a:pt x="57770" y="639114"/>
                  </a:lnTo>
                  <a:cubicBezTo>
                    <a:pt x="42448" y="639114"/>
                    <a:pt x="27754" y="633027"/>
                    <a:pt x="16920" y="622193"/>
                  </a:cubicBezTo>
                  <a:cubicBezTo>
                    <a:pt x="6086" y="611359"/>
                    <a:pt x="0" y="596665"/>
                    <a:pt x="0" y="581344"/>
                  </a:cubicBezTo>
                  <a:lnTo>
                    <a:pt x="0" y="57770"/>
                  </a:lnTo>
                  <a:cubicBezTo>
                    <a:pt x="0" y="42448"/>
                    <a:pt x="6086" y="27754"/>
                    <a:pt x="16920" y="16920"/>
                  </a:cubicBezTo>
                  <a:cubicBezTo>
                    <a:pt x="27754" y="6086"/>
                    <a:pt x="42448" y="0"/>
                    <a:pt x="57770" y="0"/>
                  </a:cubicBezTo>
                  <a:close/>
                </a:path>
              </a:pathLst>
            </a:custGeom>
            <a:solidFill>
              <a:srgbClr val="FFFFFF"/>
            </a:solidFill>
            <a:ln w="9525" cap="rnd">
              <a:solidFill>
                <a:srgbClr val="243037"/>
              </a:solidFill>
              <a:prstDash val="solid"/>
              <a:round/>
            </a:ln>
          </p:spPr>
        </p:sp>
        <p:sp>
          <p:nvSpPr>
            <p:cNvPr name="TextBox 26" id="26"/>
            <p:cNvSpPr txBox="true"/>
            <p:nvPr/>
          </p:nvSpPr>
          <p:spPr>
            <a:xfrm>
              <a:off x="0" y="-38100"/>
              <a:ext cx="1465277" cy="6772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7" id="27"/>
          <p:cNvGrpSpPr/>
          <p:nvPr/>
        </p:nvGrpSpPr>
        <p:grpSpPr>
          <a:xfrm rot="0">
            <a:off x="12812730" y="7050842"/>
            <a:ext cx="2894808" cy="792794"/>
            <a:chOff x="0" y="0"/>
            <a:chExt cx="855441" cy="234278"/>
          </a:xfrm>
        </p:grpSpPr>
        <p:sp>
          <p:nvSpPr>
            <p:cNvPr name="Freeform 28" id="28"/>
            <p:cNvSpPr/>
            <p:nvPr/>
          </p:nvSpPr>
          <p:spPr>
            <a:xfrm flipH="false" flipV="false" rot="0">
              <a:off x="0" y="0"/>
              <a:ext cx="855441" cy="234278"/>
            </a:xfrm>
            <a:custGeom>
              <a:avLst/>
              <a:gdLst/>
              <a:ahLst/>
              <a:cxnLst/>
              <a:rect r="r" b="b" t="t" l="l"/>
              <a:pathLst>
                <a:path h="234278" w="855441">
                  <a:moveTo>
                    <a:pt x="98953" y="0"/>
                  </a:moveTo>
                  <a:lnTo>
                    <a:pt x="756488" y="0"/>
                  </a:lnTo>
                  <a:cubicBezTo>
                    <a:pt x="811138" y="0"/>
                    <a:pt x="855441" y="44303"/>
                    <a:pt x="855441" y="98953"/>
                  </a:cubicBezTo>
                  <a:lnTo>
                    <a:pt x="855441" y="135324"/>
                  </a:lnTo>
                  <a:cubicBezTo>
                    <a:pt x="855441" y="161568"/>
                    <a:pt x="845016" y="186738"/>
                    <a:pt x="826458" y="205295"/>
                  </a:cubicBezTo>
                  <a:cubicBezTo>
                    <a:pt x="807901" y="223852"/>
                    <a:pt x="782732" y="234278"/>
                    <a:pt x="756488" y="234278"/>
                  </a:cubicBezTo>
                  <a:lnTo>
                    <a:pt x="98953" y="234278"/>
                  </a:lnTo>
                  <a:cubicBezTo>
                    <a:pt x="72709" y="234278"/>
                    <a:pt x="47540" y="223852"/>
                    <a:pt x="28983" y="205295"/>
                  </a:cubicBezTo>
                  <a:cubicBezTo>
                    <a:pt x="10425" y="186738"/>
                    <a:pt x="0" y="161568"/>
                    <a:pt x="0" y="135324"/>
                  </a:cubicBezTo>
                  <a:lnTo>
                    <a:pt x="0" y="98953"/>
                  </a:lnTo>
                  <a:cubicBezTo>
                    <a:pt x="0" y="44303"/>
                    <a:pt x="44303" y="0"/>
                    <a:pt x="98953" y="0"/>
                  </a:cubicBezTo>
                  <a:close/>
                </a:path>
              </a:pathLst>
            </a:custGeom>
            <a:solidFill>
              <a:srgbClr val="6237CF"/>
            </a:solidFill>
            <a:ln cap="rnd">
              <a:noFill/>
              <a:prstDash val="solid"/>
              <a:round/>
            </a:ln>
          </p:spPr>
        </p:sp>
        <p:sp>
          <p:nvSpPr>
            <p:cNvPr name="TextBox 29" id="29"/>
            <p:cNvSpPr txBox="true"/>
            <p:nvPr/>
          </p:nvSpPr>
          <p:spPr>
            <a:xfrm>
              <a:off x="0" y="-38100"/>
              <a:ext cx="855441" cy="2723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0" id="30"/>
          <p:cNvSpPr/>
          <p:nvPr/>
        </p:nvSpPr>
        <p:spPr>
          <a:xfrm flipH="false" flipV="false" rot="0">
            <a:off x="9181857" y="1803457"/>
            <a:ext cx="6965806" cy="4271018"/>
          </a:xfrm>
          <a:custGeom>
            <a:avLst/>
            <a:gdLst/>
            <a:ahLst/>
            <a:cxnLst/>
            <a:rect r="r" b="b" t="t" l="l"/>
            <a:pathLst>
              <a:path h="4271018" w="6965806">
                <a:moveTo>
                  <a:pt x="0" y="0"/>
                </a:moveTo>
                <a:lnTo>
                  <a:pt x="6965806" y="0"/>
                </a:lnTo>
                <a:lnTo>
                  <a:pt x="6965806" y="4271018"/>
                </a:lnTo>
                <a:lnTo>
                  <a:pt x="0" y="4271018"/>
                </a:lnTo>
                <a:lnTo>
                  <a:pt x="0" y="0"/>
                </a:lnTo>
                <a:close/>
              </a:path>
            </a:pathLst>
          </a:custGeom>
          <a:blipFill>
            <a:blip r:embed="rId3"/>
            <a:stretch>
              <a:fillRect l="0" t="0" r="-24812" b="0"/>
            </a:stretch>
          </a:blipFill>
          <a:ln w="9525" cap="sq">
            <a:solidFill>
              <a:srgbClr val="000000"/>
            </a:solidFill>
            <a:prstDash val="solid"/>
            <a:miter/>
          </a:ln>
        </p:spPr>
      </p:sp>
      <p:sp>
        <p:nvSpPr>
          <p:cNvPr name="TextBox 31" id="31"/>
          <p:cNvSpPr txBox="true"/>
          <p:nvPr/>
        </p:nvSpPr>
        <p:spPr>
          <a:xfrm rot="0">
            <a:off x="5228126" y="616007"/>
            <a:ext cx="7831747" cy="873125"/>
          </a:xfrm>
          <a:prstGeom prst="rect">
            <a:avLst/>
          </a:prstGeom>
        </p:spPr>
        <p:txBody>
          <a:bodyPr anchor="t" rtlCol="false" tIns="0" lIns="0" bIns="0" rIns="0">
            <a:spAutoFit/>
          </a:bodyPr>
          <a:lstStyle/>
          <a:p>
            <a:pPr algn="ctr">
              <a:lnSpc>
                <a:spcPts val="7000"/>
              </a:lnSpc>
            </a:pPr>
            <a:r>
              <a:rPr lang="en-US" b="true" sz="5000">
                <a:solidFill>
                  <a:srgbClr val="1F0560"/>
                </a:solidFill>
                <a:latin typeface="Neue Machina Ultra-Bold"/>
                <a:ea typeface="Neue Machina Ultra-Bold"/>
                <a:cs typeface="Neue Machina Ultra-Bold"/>
                <a:sym typeface="Neue Machina Ultra-Bold"/>
              </a:rPr>
              <a:t>Data Preparation</a:t>
            </a:r>
          </a:p>
        </p:txBody>
      </p:sp>
      <p:sp>
        <p:nvSpPr>
          <p:cNvPr name="TextBox 32" id="32"/>
          <p:cNvSpPr txBox="true"/>
          <p:nvPr/>
        </p:nvSpPr>
        <p:spPr>
          <a:xfrm rot="0">
            <a:off x="1765996" y="6253043"/>
            <a:ext cx="7111168" cy="367362"/>
          </a:xfrm>
          <a:prstGeom prst="rect">
            <a:avLst/>
          </a:prstGeom>
        </p:spPr>
        <p:txBody>
          <a:bodyPr anchor="t" rtlCol="false" tIns="0" lIns="0" bIns="0" rIns="0">
            <a:spAutoFit/>
          </a:bodyPr>
          <a:lstStyle/>
          <a:p>
            <a:pPr algn="ctr">
              <a:lnSpc>
                <a:spcPts val="2851"/>
              </a:lnSpc>
            </a:pPr>
            <a:r>
              <a:rPr lang="en-US" sz="2036">
                <a:solidFill>
                  <a:srgbClr val="FEAC3D"/>
                </a:solidFill>
                <a:latin typeface="Poppins"/>
                <a:ea typeface="Poppins"/>
                <a:cs typeface="Poppins"/>
                <a:sym typeface="Poppins"/>
              </a:rPr>
              <a:t>Data Original terdiri dari </a:t>
            </a:r>
            <a:r>
              <a:rPr lang="en-US" sz="2036">
                <a:solidFill>
                  <a:srgbClr val="1F0560"/>
                </a:solidFill>
                <a:latin typeface="Poppins"/>
                <a:ea typeface="Poppins"/>
                <a:cs typeface="Poppins"/>
                <a:sym typeface="Poppins"/>
              </a:rPr>
              <a:t>100.000 baris</a:t>
            </a:r>
            <a:r>
              <a:rPr lang="en-US" sz="2036">
                <a:solidFill>
                  <a:srgbClr val="FEAC3D"/>
                </a:solidFill>
                <a:latin typeface="Poppins"/>
                <a:ea typeface="Poppins"/>
                <a:cs typeface="Poppins"/>
                <a:sym typeface="Poppins"/>
              </a:rPr>
              <a:t> dan </a:t>
            </a:r>
            <a:r>
              <a:rPr lang="en-US" sz="2036">
                <a:solidFill>
                  <a:srgbClr val="1F0560"/>
                </a:solidFill>
                <a:latin typeface="Poppins"/>
                <a:ea typeface="Poppins"/>
                <a:cs typeface="Poppins"/>
                <a:sym typeface="Poppins"/>
              </a:rPr>
              <a:t>18 kolom</a:t>
            </a:r>
          </a:p>
        </p:txBody>
      </p:sp>
      <p:sp>
        <p:nvSpPr>
          <p:cNvPr name="TextBox 33" id="33"/>
          <p:cNvSpPr txBox="true"/>
          <p:nvPr/>
        </p:nvSpPr>
        <p:spPr>
          <a:xfrm rot="0">
            <a:off x="1805859" y="7236921"/>
            <a:ext cx="2405542" cy="373012"/>
          </a:xfrm>
          <a:prstGeom prst="rect">
            <a:avLst/>
          </a:prstGeom>
        </p:spPr>
        <p:txBody>
          <a:bodyPr anchor="t" rtlCol="false" tIns="0" lIns="0" bIns="0" rIns="0">
            <a:spAutoFit/>
          </a:bodyPr>
          <a:lstStyle/>
          <a:p>
            <a:pPr algn="ctr">
              <a:lnSpc>
                <a:spcPts val="3024"/>
              </a:lnSpc>
            </a:pPr>
            <a:r>
              <a:rPr lang="en-US" sz="2160" b="true">
                <a:solidFill>
                  <a:srgbClr val="F9F5E7"/>
                </a:solidFill>
                <a:latin typeface="TT Hoves Bold"/>
                <a:ea typeface="TT Hoves Bold"/>
                <a:cs typeface="TT Hoves Bold"/>
                <a:sym typeface="TT Hoves Bold"/>
              </a:rPr>
              <a:t>Data Cleaning</a:t>
            </a:r>
          </a:p>
        </p:txBody>
      </p:sp>
      <p:sp>
        <p:nvSpPr>
          <p:cNvPr name="TextBox 34" id="34"/>
          <p:cNvSpPr txBox="true"/>
          <p:nvPr/>
        </p:nvSpPr>
        <p:spPr>
          <a:xfrm rot="0">
            <a:off x="1166221" y="7969325"/>
            <a:ext cx="5448827" cy="511564"/>
          </a:xfrm>
          <a:prstGeom prst="rect">
            <a:avLst/>
          </a:prstGeom>
        </p:spPr>
        <p:txBody>
          <a:bodyPr anchor="t" rtlCol="false" tIns="0" lIns="0" bIns="0" rIns="0">
            <a:spAutoFit/>
          </a:bodyPr>
          <a:lstStyle/>
          <a:p>
            <a:pPr algn="l" marL="317586" indent="-158793" lvl="1">
              <a:lnSpc>
                <a:spcPts val="2059"/>
              </a:lnSpc>
              <a:buFont typeface="Arial"/>
              <a:buChar char="•"/>
            </a:pPr>
            <a:r>
              <a:rPr lang="en-US" sz="1470">
                <a:solidFill>
                  <a:srgbClr val="242424"/>
                </a:solidFill>
                <a:latin typeface="TT Hoves"/>
                <a:ea typeface="TT Hoves"/>
                <a:cs typeface="TT Hoves"/>
                <a:sym typeface="TT Hoves"/>
              </a:rPr>
              <a:t>Duplicate Data : Txn_ID → Diabaikan (isi transaksi beda)</a:t>
            </a:r>
          </a:p>
          <a:p>
            <a:pPr algn="l" marL="317586" indent="-158793" lvl="1">
              <a:lnSpc>
                <a:spcPts val="2059"/>
              </a:lnSpc>
              <a:buFont typeface="Arial"/>
              <a:buChar char="•"/>
            </a:pPr>
            <a:r>
              <a:rPr lang="en-US" sz="1470">
                <a:solidFill>
                  <a:srgbClr val="242424"/>
                </a:solidFill>
                <a:latin typeface="TT Hoves"/>
                <a:ea typeface="TT Hoves"/>
                <a:cs typeface="TT Hoves"/>
                <a:sym typeface="TT Hoves"/>
              </a:rPr>
              <a:t>Missing Value Handling:</a:t>
            </a:r>
          </a:p>
        </p:txBody>
      </p:sp>
      <p:sp>
        <p:nvSpPr>
          <p:cNvPr name="TextBox 35" id="35"/>
          <p:cNvSpPr txBox="true"/>
          <p:nvPr/>
        </p:nvSpPr>
        <p:spPr>
          <a:xfrm rot="0">
            <a:off x="1166221" y="9064493"/>
            <a:ext cx="5448827" cy="251388"/>
          </a:xfrm>
          <a:prstGeom prst="rect">
            <a:avLst/>
          </a:prstGeom>
        </p:spPr>
        <p:txBody>
          <a:bodyPr anchor="t" rtlCol="false" tIns="0" lIns="0" bIns="0" rIns="0">
            <a:spAutoFit/>
          </a:bodyPr>
          <a:lstStyle/>
          <a:p>
            <a:pPr algn="l" marL="317586" indent="-158793" lvl="1">
              <a:lnSpc>
                <a:spcPts val="2059"/>
              </a:lnSpc>
              <a:buFont typeface="Arial"/>
              <a:buChar char="•"/>
            </a:pPr>
            <a:r>
              <a:rPr lang="en-US" sz="1470">
                <a:solidFill>
                  <a:srgbClr val="242424"/>
                </a:solidFill>
                <a:latin typeface="TT Hoves"/>
                <a:ea typeface="TT Hoves"/>
                <a:cs typeface="TT Hoves"/>
                <a:sym typeface="TT Hoves"/>
              </a:rPr>
              <a:t>Data Type Validation : Activated_Date (Object → Datetime)</a:t>
            </a:r>
          </a:p>
        </p:txBody>
      </p:sp>
      <p:sp>
        <p:nvSpPr>
          <p:cNvPr name="TextBox 36" id="36"/>
          <p:cNvSpPr txBox="true"/>
          <p:nvPr/>
        </p:nvSpPr>
        <p:spPr>
          <a:xfrm rot="0">
            <a:off x="7576349" y="7208048"/>
            <a:ext cx="2405542" cy="373012"/>
          </a:xfrm>
          <a:prstGeom prst="rect">
            <a:avLst/>
          </a:prstGeom>
        </p:spPr>
        <p:txBody>
          <a:bodyPr anchor="t" rtlCol="false" tIns="0" lIns="0" bIns="0" rIns="0">
            <a:spAutoFit/>
          </a:bodyPr>
          <a:lstStyle/>
          <a:p>
            <a:pPr algn="ctr">
              <a:lnSpc>
                <a:spcPts val="3024"/>
              </a:lnSpc>
            </a:pPr>
            <a:r>
              <a:rPr lang="en-US" b="true" sz="2160">
                <a:solidFill>
                  <a:srgbClr val="1F0560"/>
                </a:solidFill>
                <a:latin typeface="TT Hoves Bold"/>
                <a:ea typeface="TT Hoves Bold"/>
                <a:cs typeface="TT Hoves Bold"/>
                <a:sym typeface="TT Hoves Bold"/>
              </a:rPr>
              <a:t>Data Validation</a:t>
            </a:r>
          </a:p>
        </p:txBody>
      </p:sp>
      <p:sp>
        <p:nvSpPr>
          <p:cNvPr name="TextBox 37" id="37"/>
          <p:cNvSpPr txBox="true"/>
          <p:nvPr/>
        </p:nvSpPr>
        <p:spPr>
          <a:xfrm rot="0">
            <a:off x="12822575" y="7236921"/>
            <a:ext cx="2894808" cy="373012"/>
          </a:xfrm>
          <a:prstGeom prst="rect">
            <a:avLst/>
          </a:prstGeom>
        </p:spPr>
        <p:txBody>
          <a:bodyPr anchor="t" rtlCol="false" tIns="0" lIns="0" bIns="0" rIns="0">
            <a:spAutoFit/>
          </a:bodyPr>
          <a:lstStyle/>
          <a:p>
            <a:pPr algn="ctr">
              <a:lnSpc>
                <a:spcPts val="3024"/>
              </a:lnSpc>
            </a:pPr>
            <a:r>
              <a:rPr lang="en-US" sz="2160" b="true">
                <a:solidFill>
                  <a:srgbClr val="F9F5E7"/>
                </a:solidFill>
                <a:latin typeface="TT Hoves Bold"/>
                <a:ea typeface="TT Hoves Bold"/>
                <a:cs typeface="TT Hoves Bold"/>
                <a:sym typeface="TT Hoves Bold"/>
              </a:rPr>
              <a:t>Feature Engineering </a:t>
            </a:r>
          </a:p>
        </p:txBody>
      </p:sp>
      <p:sp>
        <p:nvSpPr>
          <p:cNvPr name="TextBox 38" id="38"/>
          <p:cNvSpPr txBox="true"/>
          <p:nvPr/>
        </p:nvSpPr>
        <p:spPr>
          <a:xfrm rot="0">
            <a:off x="12282662" y="8068767"/>
            <a:ext cx="5448827" cy="1292091"/>
          </a:xfrm>
          <a:prstGeom prst="rect">
            <a:avLst/>
          </a:prstGeom>
        </p:spPr>
        <p:txBody>
          <a:bodyPr anchor="t" rtlCol="false" tIns="0" lIns="0" bIns="0" rIns="0">
            <a:spAutoFit/>
          </a:bodyPr>
          <a:lstStyle/>
          <a:p>
            <a:pPr algn="l" marL="317586" indent="-158793" lvl="1">
              <a:lnSpc>
                <a:spcPts val="2059"/>
              </a:lnSpc>
              <a:buFont typeface="Arial"/>
              <a:buChar char="•"/>
            </a:pPr>
            <a:r>
              <a:rPr lang="en-US" sz="1470">
                <a:solidFill>
                  <a:srgbClr val="242424"/>
                </a:solidFill>
                <a:latin typeface="TT Hoves"/>
                <a:ea typeface="TT Hoves"/>
                <a:cs typeface="TT Hoves"/>
                <a:sym typeface="TT Hoves"/>
              </a:rPr>
              <a:t>Profit : Recharge_Amount - Network_Cost</a:t>
            </a:r>
          </a:p>
          <a:p>
            <a:pPr algn="l" marL="317586" indent="-158793" lvl="1">
              <a:lnSpc>
                <a:spcPts val="2059"/>
              </a:lnSpc>
              <a:buFont typeface="Arial"/>
              <a:buChar char="•"/>
            </a:pPr>
            <a:r>
              <a:rPr lang="en-US" sz="1470">
                <a:solidFill>
                  <a:srgbClr val="242424"/>
                </a:solidFill>
                <a:latin typeface="TT Hoves"/>
                <a:ea typeface="TT Hoves"/>
                <a:cs typeface="TT Hoves"/>
                <a:sym typeface="TT Hoves"/>
              </a:rPr>
              <a:t>Churn : Activated_Date, Subsciber_ID (boolean)</a:t>
            </a:r>
          </a:p>
          <a:p>
            <a:pPr algn="l" marL="317586" indent="-158793" lvl="1">
              <a:lnSpc>
                <a:spcPts val="2059"/>
              </a:lnSpc>
              <a:buFont typeface="Arial"/>
              <a:buChar char="•"/>
            </a:pPr>
            <a:r>
              <a:rPr lang="en-US" sz="1470">
                <a:solidFill>
                  <a:srgbClr val="242424"/>
                </a:solidFill>
                <a:latin typeface="TT Hoves"/>
                <a:ea typeface="TT Hoves"/>
                <a:cs typeface="TT Hoves"/>
                <a:sym typeface="TT Hoves"/>
              </a:rPr>
              <a:t>ARPU_Gap : Recharge_Amount - Target_ARPU</a:t>
            </a:r>
          </a:p>
          <a:p>
            <a:pPr algn="l" marL="317586" indent="-158793" lvl="1">
              <a:lnSpc>
                <a:spcPts val="2059"/>
              </a:lnSpc>
              <a:buFont typeface="Arial"/>
              <a:buChar char="•"/>
            </a:pPr>
            <a:r>
              <a:rPr lang="en-US" sz="1470">
                <a:solidFill>
                  <a:srgbClr val="242424"/>
                </a:solidFill>
                <a:latin typeface="TT Hoves"/>
                <a:ea typeface="TT Hoves"/>
                <a:cs typeface="TT Hoves"/>
                <a:sym typeface="TT Hoves"/>
              </a:rPr>
              <a:t>Segment : Subscriber_ID, RFM_score</a:t>
            </a:r>
          </a:p>
          <a:p>
            <a:pPr algn="l" marL="317586" indent="-158793" lvl="1">
              <a:lnSpc>
                <a:spcPts val="2059"/>
              </a:lnSpc>
              <a:buFont typeface="Arial"/>
              <a:buChar char="•"/>
            </a:pPr>
            <a:r>
              <a:rPr lang="en-US" sz="1470">
                <a:solidFill>
                  <a:srgbClr val="242424"/>
                </a:solidFill>
                <a:latin typeface="TT Hoves"/>
                <a:ea typeface="TT Hoves"/>
                <a:cs typeface="TT Hoves"/>
                <a:sym typeface="TT Hoves"/>
              </a:rPr>
              <a:t>RFM_Score : Activated_Date, Subsciber_ID, RFM_Score</a:t>
            </a:r>
          </a:p>
        </p:txBody>
      </p:sp>
      <p:sp>
        <p:nvSpPr>
          <p:cNvPr name="TextBox 39" id="39"/>
          <p:cNvSpPr txBox="true"/>
          <p:nvPr/>
        </p:nvSpPr>
        <p:spPr>
          <a:xfrm rot="0">
            <a:off x="8807517" y="6253043"/>
            <a:ext cx="7714486" cy="367362"/>
          </a:xfrm>
          <a:prstGeom prst="rect">
            <a:avLst/>
          </a:prstGeom>
        </p:spPr>
        <p:txBody>
          <a:bodyPr anchor="t" rtlCol="false" tIns="0" lIns="0" bIns="0" rIns="0">
            <a:spAutoFit/>
          </a:bodyPr>
          <a:lstStyle/>
          <a:p>
            <a:pPr algn="ctr">
              <a:lnSpc>
                <a:spcPts val="2851"/>
              </a:lnSpc>
            </a:pPr>
            <a:r>
              <a:rPr lang="en-US" sz="2036">
                <a:solidFill>
                  <a:srgbClr val="FEAC3D"/>
                </a:solidFill>
                <a:latin typeface="Poppins"/>
                <a:ea typeface="Poppins"/>
                <a:cs typeface="Poppins"/>
                <a:sym typeface="Poppins"/>
              </a:rPr>
              <a:t>Final Dataset terdiri dari </a:t>
            </a:r>
            <a:r>
              <a:rPr lang="en-US" sz="2036">
                <a:solidFill>
                  <a:srgbClr val="1F0560"/>
                </a:solidFill>
                <a:latin typeface="Poppins"/>
                <a:ea typeface="Poppins"/>
                <a:cs typeface="Poppins"/>
                <a:sym typeface="Poppins"/>
              </a:rPr>
              <a:t>100.000 baris </a:t>
            </a:r>
            <a:r>
              <a:rPr lang="en-US" sz="2036">
                <a:solidFill>
                  <a:srgbClr val="FEAC3D"/>
                </a:solidFill>
                <a:latin typeface="Poppins"/>
                <a:ea typeface="Poppins"/>
                <a:cs typeface="Poppins"/>
                <a:sym typeface="Poppins"/>
              </a:rPr>
              <a:t>dan </a:t>
            </a:r>
            <a:r>
              <a:rPr lang="en-US" sz="2036">
                <a:solidFill>
                  <a:srgbClr val="1F0560"/>
                </a:solidFill>
                <a:latin typeface="Poppins"/>
                <a:ea typeface="Poppins"/>
                <a:cs typeface="Poppins"/>
                <a:sym typeface="Poppins"/>
              </a:rPr>
              <a:t>24 kolom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86785" y="5107550"/>
            <a:ext cx="13106922" cy="4150750"/>
            <a:chOff x="0" y="0"/>
            <a:chExt cx="3452029" cy="1093202"/>
          </a:xfrm>
        </p:grpSpPr>
        <p:sp>
          <p:nvSpPr>
            <p:cNvPr name="Freeform 3" id="3"/>
            <p:cNvSpPr/>
            <p:nvPr/>
          </p:nvSpPr>
          <p:spPr>
            <a:xfrm flipH="false" flipV="false" rot="0">
              <a:off x="0" y="0"/>
              <a:ext cx="3452029" cy="1093202"/>
            </a:xfrm>
            <a:custGeom>
              <a:avLst/>
              <a:gdLst/>
              <a:ahLst/>
              <a:cxnLst/>
              <a:rect r="r" b="b" t="t" l="l"/>
              <a:pathLst>
                <a:path h="1093202" w="3452029">
                  <a:moveTo>
                    <a:pt x="0" y="0"/>
                  </a:moveTo>
                  <a:lnTo>
                    <a:pt x="3452029" y="0"/>
                  </a:lnTo>
                  <a:lnTo>
                    <a:pt x="3452029" y="1093202"/>
                  </a:lnTo>
                  <a:lnTo>
                    <a:pt x="0" y="1093202"/>
                  </a:lnTo>
                  <a:close/>
                </a:path>
              </a:pathLst>
            </a:custGeom>
            <a:solidFill>
              <a:srgbClr val="F0EAFF">
                <a:alpha val="64706"/>
              </a:srgbClr>
            </a:solidFill>
          </p:spPr>
        </p:sp>
        <p:sp>
          <p:nvSpPr>
            <p:cNvPr name="TextBox 4" id="4"/>
            <p:cNvSpPr txBox="true"/>
            <p:nvPr/>
          </p:nvSpPr>
          <p:spPr>
            <a:xfrm>
              <a:off x="0" y="-38100"/>
              <a:ext cx="3452029" cy="113130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363799" y="254075"/>
            <a:ext cx="10051055" cy="8187041"/>
          </a:xfrm>
          <a:custGeom>
            <a:avLst/>
            <a:gdLst/>
            <a:ahLst/>
            <a:cxnLst/>
            <a:rect r="r" b="b" t="t" l="l"/>
            <a:pathLst>
              <a:path h="8187041" w="10051055">
                <a:moveTo>
                  <a:pt x="0" y="0"/>
                </a:moveTo>
                <a:lnTo>
                  <a:pt x="10051055" y="0"/>
                </a:lnTo>
                <a:lnTo>
                  <a:pt x="10051055" y="8187041"/>
                </a:lnTo>
                <a:lnTo>
                  <a:pt x="0" y="8187041"/>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true" flipV="false" rot="5400000">
            <a:off x="1194709" y="9053005"/>
            <a:ext cx="352670" cy="1059936"/>
          </a:xfrm>
          <a:custGeom>
            <a:avLst/>
            <a:gdLst/>
            <a:ahLst/>
            <a:cxnLst/>
            <a:rect r="r" b="b" t="t" l="l"/>
            <a:pathLst>
              <a:path h="1059936" w="352670">
                <a:moveTo>
                  <a:pt x="352670" y="0"/>
                </a:moveTo>
                <a:lnTo>
                  <a:pt x="0" y="0"/>
                </a:lnTo>
                <a:lnTo>
                  <a:pt x="0" y="1059936"/>
                </a:lnTo>
                <a:lnTo>
                  <a:pt x="352670" y="1059936"/>
                </a:lnTo>
                <a:lnTo>
                  <a:pt x="35267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624507" y="3872333"/>
            <a:ext cx="4848879" cy="1915102"/>
            <a:chOff x="0" y="0"/>
            <a:chExt cx="1505360" cy="594553"/>
          </a:xfrm>
        </p:grpSpPr>
        <p:sp>
          <p:nvSpPr>
            <p:cNvPr name="Freeform 8" id="8"/>
            <p:cNvSpPr/>
            <p:nvPr/>
          </p:nvSpPr>
          <p:spPr>
            <a:xfrm flipH="false" flipV="false" rot="0">
              <a:off x="0" y="0"/>
              <a:ext cx="1505360" cy="594553"/>
            </a:xfrm>
            <a:custGeom>
              <a:avLst/>
              <a:gdLst/>
              <a:ahLst/>
              <a:cxnLst/>
              <a:rect r="r" b="b" t="t" l="l"/>
              <a:pathLst>
                <a:path h="594553" w="1505360">
                  <a:moveTo>
                    <a:pt x="59076" y="0"/>
                  </a:moveTo>
                  <a:lnTo>
                    <a:pt x="1446284" y="0"/>
                  </a:lnTo>
                  <a:cubicBezTo>
                    <a:pt x="1461952" y="0"/>
                    <a:pt x="1476978" y="6224"/>
                    <a:pt x="1488057" y="17303"/>
                  </a:cubicBezTo>
                  <a:cubicBezTo>
                    <a:pt x="1499136" y="28382"/>
                    <a:pt x="1505360" y="43408"/>
                    <a:pt x="1505360" y="59076"/>
                  </a:cubicBezTo>
                  <a:lnTo>
                    <a:pt x="1505360" y="535478"/>
                  </a:lnTo>
                  <a:cubicBezTo>
                    <a:pt x="1505360" y="551146"/>
                    <a:pt x="1499136" y="566172"/>
                    <a:pt x="1488057" y="577251"/>
                  </a:cubicBezTo>
                  <a:cubicBezTo>
                    <a:pt x="1476978" y="588329"/>
                    <a:pt x="1461952" y="594553"/>
                    <a:pt x="1446284" y="594553"/>
                  </a:cubicBezTo>
                  <a:lnTo>
                    <a:pt x="59076" y="594553"/>
                  </a:lnTo>
                  <a:cubicBezTo>
                    <a:pt x="26449" y="594553"/>
                    <a:pt x="0" y="568104"/>
                    <a:pt x="0" y="535478"/>
                  </a:cubicBezTo>
                  <a:lnTo>
                    <a:pt x="0" y="59076"/>
                  </a:lnTo>
                  <a:cubicBezTo>
                    <a:pt x="0" y="43408"/>
                    <a:pt x="6224" y="28382"/>
                    <a:pt x="17303" y="17303"/>
                  </a:cubicBezTo>
                  <a:cubicBezTo>
                    <a:pt x="28382" y="6224"/>
                    <a:pt x="43408" y="0"/>
                    <a:pt x="59076" y="0"/>
                  </a:cubicBezTo>
                  <a:close/>
                </a:path>
              </a:pathLst>
            </a:custGeom>
            <a:solidFill>
              <a:srgbClr val="FFFFFF"/>
            </a:solidFill>
            <a:ln w="9525" cap="rnd">
              <a:solidFill>
                <a:srgbClr val="243037"/>
              </a:solidFill>
              <a:prstDash val="solid"/>
              <a:round/>
            </a:ln>
          </p:spPr>
        </p:sp>
        <p:sp>
          <p:nvSpPr>
            <p:cNvPr name="TextBox 9" id="9"/>
            <p:cNvSpPr txBox="true"/>
            <p:nvPr/>
          </p:nvSpPr>
          <p:spPr>
            <a:xfrm>
              <a:off x="0" y="-38100"/>
              <a:ext cx="1505360" cy="63265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624507" y="6394461"/>
            <a:ext cx="4848879" cy="1919354"/>
            <a:chOff x="0" y="0"/>
            <a:chExt cx="1505360" cy="595873"/>
          </a:xfrm>
        </p:grpSpPr>
        <p:sp>
          <p:nvSpPr>
            <p:cNvPr name="Freeform 11" id="11"/>
            <p:cNvSpPr/>
            <p:nvPr/>
          </p:nvSpPr>
          <p:spPr>
            <a:xfrm flipH="false" flipV="false" rot="0">
              <a:off x="0" y="0"/>
              <a:ext cx="1505360" cy="595873"/>
            </a:xfrm>
            <a:custGeom>
              <a:avLst/>
              <a:gdLst/>
              <a:ahLst/>
              <a:cxnLst/>
              <a:rect r="r" b="b" t="t" l="l"/>
              <a:pathLst>
                <a:path h="595873" w="1505360">
                  <a:moveTo>
                    <a:pt x="59076" y="0"/>
                  </a:moveTo>
                  <a:lnTo>
                    <a:pt x="1446284" y="0"/>
                  </a:lnTo>
                  <a:cubicBezTo>
                    <a:pt x="1461952" y="0"/>
                    <a:pt x="1476978" y="6224"/>
                    <a:pt x="1488057" y="17303"/>
                  </a:cubicBezTo>
                  <a:cubicBezTo>
                    <a:pt x="1499136" y="28382"/>
                    <a:pt x="1505360" y="43408"/>
                    <a:pt x="1505360" y="59076"/>
                  </a:cubicBezTo>
                  <a:lnTo>
                    <a:pt x="1505360" y="536798"/>
                  </a:lnTo>
                  <a:cubicBezTo>
                    <a:pt x="1505360" y="569424"/>
                    <a:pt x="1478911" y="595873"/>
                    <a:pt x="1446284" y="595873"/>
                  </a:cubicBezTo>
                  <a:lnTo>
                    <a:pt x="59076" y="595873"/>
                  </a:lnTo>
                  <a:cubicBezTo>
                    <a:pt x="43408" y="595873"/>
                    <a:pt x="28382" y="589649"/>
                    <a:pt x="17303" y="578571"/>
                  </a:cubicBezTo>
                  <a:cubicBezTo>
                    <a:pt x="6224" y="567492"/>
                    <a:pt x="0" y="552466"/>
                    <a:pt x="0" y="536798"/>
                  </a:cubicBezTo>
                  <a:lnTo>
                    <a:pt x="0" y="59076"/>
                  </a:lnTo>
                  <a:cubicBezTo>
                    <a:pt x="0" y="43408"/>
                    <a:pt x="6224" y="28382"/>
                    <a:pt x="17303" y="17303"/>
                  </a:cubicBezTo>
                  <a:cubicBezTo>
                    <a:pt x="28382" y="6224"/>
                    <a:pt x="43408" y="0"/>
                    <a:pt x="59076" y="0"/>
                  </a:cubicBezTo>
                  <a:close/>
                </a:path>
              </a:pathLst>
            </a:custGeom>
            <a:solidFill>
              <a:srgbClr val="FFFFFF"/>
            </a:solidFill>
            <a:ln w="9525" cap="rnd">
              <a:solidFill>
                <a:srgbClr val="243037"/>
              </a:solidFill>
              <a:prstDash val="solid"/>
              <a:round/>
            </a:ln>
          </p:spPr>
        </p:sp>
        <p:sp>
          <p:nvSpPr>
            <p:cNvPr name="TextBox 12" id="12"/>
            <p:cNvSpPr txBox="true"/>
            <p:nvPr/>
          </p:nvSpPr>
          <p:spPr>
            <a:xfrm>
              <a:off x="0" y="-38100"/>
              <a:ext cx="1505360" cy="63397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6875185" y="3872333"/>
            <a:ext cx="4848879" cy="1915102"/>
            <a:chOff x="0" y="0"/>
            <a:chExt cx="1505360" cy="594553"/>
          </a:xfrm>
        </p:grpSpPr>
        <p:sp>
          <p:nvSpPr>
            <p:cNvPr name="Freeform 14" id="14"/>
            <p:cNvSpPr/>
            <p:nvPr/>
          </p:nvSpPr>
          <p:spPr>
            <a:xfrm flipH="false" flipV="false" rot="0">
              <a:off x="0" y="0"/>
              <a:ext cx="1505360" cy="594553"/>
            </a:xfrm>
            <a:custGeom>
              <a:avLst/>
              <a:gdLst/>
              <a:ahLst/>
              <a:cxnLst/>
              <a:rect r="r" b="b" t="t" l="l"/>
              <a:pathLst>
                <a:path h="594553" w="1505360">
                  <a:moveTo>
                    <a:pt x="59076" y="0"/>
                  </a:moveTo>
                  <a:lnTo>
                    <a:pt x="1446284" y="0"/>
                  </a:lnTo>
                  <a:cubicBezTo>
                    <a:pt x="1461952" y="0"/>
                    <a:pt x="1476978" y="6224"/>
                    <a:pt x="1488057" y="17303"/>
                  </a:cubicBezTo>
                  <a:cubicBezTo>
                    <a:pt x="1499136" y="28382"/>
                    <a:pt x="1505360" y="43408"/>
                    <a:pt x="1505360" y="59076"/>
                  </a:cubicBezTo>
                  <a:lnTo>
                    <a:pt x="1505360" y="535478"/>
                  </a:lnTo>
                  <a:cubicBezTo>
                    <a:pt x="1505360" y="551146"/>
                    <a:pt x="1499136" y="566172"/>
                    <a:pt x="1488057" y="577251"/>
                  </a:cubicBezTo>
                  <a:cubicBezTo>
                    <a:pt x="1476978" y="588329"/>
                    <a:pt x="1461952" y="594553"/>
                    <a:pt x="1446284" y="594553"/>
                  </a:cubicBezTo>
                  <a:lnTo>
                    <a:pt x="59076" y="594553"/>
                  </a:lnTo>
                  <a:cubicBezTo>
                    <a:pt x="26449" y="594553"/>
                    <a:pt x="0" y="568104"/>
                    <a:pt x="0" y="535478"/>
                  </a:cubicBezTo>
                  <a:lnTo>
                    <a:pt x="0" y="59076"/>
                  </a:lnTo>
                  <a:cubicBezTo>
                    <a:pt x="0" y="43408"/>
                    <a:pt x="6224" y="28382"/>
                    <a:pt x="17303" y="17303"/>
                  </a:cubicBezTo>
                  <a:cubicBezTo>
                    <a:pt x="28382" y="6224"/>
                    <a:pt x="43408" y="0"/>
                    <a:pt x="59076" y="0"/>
                  </a:cubicBezTo>
                  <a:close/>
                </a:path>
              </a:pathLst>
            </a:custGeom>
            <a:solidFill>
              <a:srgbClr val="FFFFFF"/>
            </a:solidFill>
            <a:ln w="9525" cap="rnd">
              <a:solidFill>
                <a:srgbClr val="243037"/>
              </a:solidFill>
              <a:prstDash val="solid"/>
              <a:round/>
            </a:ln>
          </p:spPr>
        </p:sp>
        <p:sp>
          <p:nvSpPr>
            <p:cNvPr name="TextBox 15" id="15"/>
            <p:cNvSpPr txBox="true"/>
            <p:nvPr/>
          </p:nvSpPr>
          <p:spPr>
            <a:xfrm>
              <a:off x="0" y="-38100"/>
              <a:ext cx="1505360" cy="63265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6875185" y="6398713"/>
            <a:ext cx="4848879" cy="1870430"/>
            <a:chOff x="0" y="0"/>
            <a:chExt cx="1505360" cy="580685"/>
          </a:xfrm>
        </p:grpSpPr>
        <p:sp>
          <p:nvSpPr>
            <p:cNvPr name="Freeform 17" id="17"/>
            <p:cNvSpPr/>
            <p:nvPr/>
          </p:nvSpPr>
          <p:spPr>
            <a:xfrm flipH="false" flipV="false" rot="0">
              <a:off x="0" y="0"/>
              <a:ext cx="1505360" cy="580685"/>
            </a:xfrm>
            <a:custGeom>
              <a:avLst/>
              <a:gdLst/>
              <a:ahLst/>
              <a:cxnLst/>
              <a:rect r="r" b="b" t="t" l="l"/>
              <a:pathLst>
                <a:path h="580685" w="1505360">
                  <a:moveTo>
                    <a:pt x="59076" y="0"/>
                  </a:moveTo>
                  <a:lnTo>
                    <a:pt x="1446284" y="0"/>
                  </a:lnTo>
                  <a:cubicBezTo>
                    <a:pt x="1461952" y="0"/>
                    <a:pt x="1476978" y="6224"/>
                    <a:pt x="1488057" y="17303"/>
                  </a:cubicBezTo>
                  <a:cubicBezTo>
                    <a:pt x="1499136" y="28382"/>
                    <a:pt x="1505360" y="43408"/>
                    <a:pt x="1505360" y="59076"/>
                  </a:cubicBezTo>
                  <a:lnTo>
                    <a:pt x="1505360" y="521609"/>
                  </a:lnTo>
                  <a:cubicBezTo>
                    <a:pt x="1505360" y="554236"/>
                    <a:pt x="1478911" y="580685"/>
                    <a:pt x="1446284" y="580685"/>
                  </a:cubicBezTo>
                  <a:lnTo>
                    <a:pt x="59076" y="580685"/>
                  </a:lnTo>
                  <a:cubicBezTo>
                    <a:pt x="43408" y="580685"/>
                    <a:pt x="28382" y="574461"/>
                    <a:pt x="17303" y="563382"/>
                  </a:cubicBezTo>
                  <a:cubicBezTo>
                    <a:pt x="6224" y="552303"/>
                    <a:pt x="0" y="537277"/>
                    <a:pt x="0" y="521609"/>
                  </a:cubicBezTo>
                  <a:lnTo>
                    <a:pt x="0" y="59076"/>
                  </a:lnTo>
                  <a:cubicBezTo>
                    <a:pt x="0" y="43408"/>
                    <a:pt x="6224" y="28382"/>
                    <a:pt x="17303" y="17303"/>
                  </a:cubicBezTo>
                  <a:cubicBezTo>
                    <a:pt x="28382" y="6224"/>
                    <a:pt x="43408" y="0"/>
                    <a:pt x="59076" y="0"/>
                  </a:cubicBezTo>
                  <a:close/>
                </a:path>
              </a:pathLst>
            </a:custGeom>
            <a:solidFill>
              <a:srgbClr val="FFFFFF"/>
            </a:solidFill>
            <a:ln w="9525" cap="rnd">
              <a:solidFill>
                <a:srgbClr val="243037"/>
              </a:solidFill>
              <a:prstDash val="solid"/>
              <a:round/>
            </a:ln>
          </p:spPr>
        </p:sp>
        <p:sp>
          <p:nvSpPr>
            <p:cNvPr name="TextBox 18" id="18"/>
            <p:cNvSpPr txBox="true"/>
            <p:nvPr/>
          </p:nvSpPr>
          <p:spPr>
            <a:xfrm>
              <a:off x="0" y="-38100"/>
              <a:ext cx="1505360" cy="61878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2098399" y="3616484"/>
            <a:ext cx="2576073" cy="754626"/>
            <a:chOff x="0" y="0"/>
            <a:chExt cx="799755" cy="234278"/>
          </a:xfrm>
        </p:grpSpPr>
        <p:sp>
          <p:nvSpPr>
            <p:cNvPr name="Freeform 20" id="20"/>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FEAC3D"/>
            </a:solidFill>
            <a:ln cap="rnd">
              <a:noFill/>
              <a:prstDash val="solid"/>
              <a:round/>
            </a:ln>
          </p:spPr>
        </p:sp>
        <p:sp>
          <p:nvSpPr>
            <p:cNvPr name="TextBox 21" id="21"/>
            <p:cNvSpPr txBox="true"/>
            <p:nvPr/>
          </p:nvSpPr>
          <p:spPr>
            <a:xfrm>
              <a:off x="0" y="-38100"/>
              <a:ext cx="799755" cy="272378"/>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2098399" y="6106737"/>
            <a:ext cx="2576073" cy="754626"/>
            <a:chOff x="0" y="0"/>
            <a:chExt cx="799755" cy="234278"/>
          </a:xfrm>
        </p:grpSpPr>
        <p:sp>
          <p:nvSpPr>
            <p:cNvPr name="Freeform 23" id="23"/>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6237CF"/>
            </a:solidFill>
            <a:ln cap="rnd">
              <a:noFill/>
              <a:prstDash val="solid"/>
              <a:round/>
            </a:ln>
          </p:spPr>
        </p:sp>
        <p:sp>
          <p:nvSpPr>
            <p:cNvPr name="TextBox 24" id="24"/>
            <p:cNvSpPr txBox="true"/>
            <p:nvPr/>
          </p:nvSpPr>
          <p:spPr>
            <a:xfrm>
              <a:off x="0" y="-38100"/>
              <a:ext cx="799755" cy="27237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5" id="25"/>
          <p:cNvGrpSpPr/>
          <p:nvPr/>
        </p:nvGrpSpPr>
        <p:grpSpPr>
          <a:xfrm rot="0">
            <a:off x="7349077" y="3626009"/>
            <a:ext cx="2576073" cy="754626"/>
            <a:chOff x="0" y="0"/>
            <a:chExt cx="799755" cy="234278"/>
          </a:xfrm>
        </p:grpSpPr>
        <p:sp>
          <p:nvSpPr>
            <p:cNvPr name="Freeform 26" id="26"/>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6237CF"/>
            </a:solidFill>
            <a:ln cap="rnd">
              <a:noFill/>
              <a:prstDash val="solid"/>
              <a:round/>
            </a:ln>
          </p:spPr>
        </p:sp>
        <p:sp>
          <p:nvSpPr>
            <p:cNvPr name="TextBox 27" id="27"/>
            <p:cNvSpPr txBox="true"/>
            <p:nvPr/>
          </p:nvSpPr>
          <p:spPr>
            <a:xfrm>
              <a:off x="0" y="-38100"/>
              <a:ext cx="799755" cy="272378"/>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7349077" y="6098191"/>
            <a:ext cx="2576073" cy="754626"/>
            <a:chOff x="0" y="0"/>
            <a:chExt cx="799755" cy="234278"/>
          </a:xfrm>
        </p:grpSpPr>
        <p:sp>
          <p:nvSpPr>
            <p:cNvPr name="Freeform 29" id="29"/>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FEAC3D"/>
            </a:solidFill>
            <a:ln cap="rnd">
              <a:noFill/>
              <a:prstDash val="solid"/>
              <a:round/>
            </a:ln>
          </p:spPr>
        </p:sp>
        <p:sp>
          <p:nvSpPr>
            <p:cNvPr name="TextBox 30" id="30"/>
            <p:cNvSpPr txBox="true"/>
            <p:nvPr/>
          </p:nvSpPr>
          <p:spPr>
            <a:xfrm>
              <a:off x="0" y="-38100"/>
              <a:ext cx="799755" cy="272378"/>
            </a:xfrm>
            <a:prstGeom prst="rect">
              <a:avLst/>
            </a:prstGeom>
          </p:spPr>
          <p:txBody>
            <a:bodyPr anchor="ctr" rtlCol="false" tIns="50800" lIns="50800" bIns="50800" rIns="50800"/>
            <a:lstStyle/>
            <a:p>
              <a:pPr algn="ctr">
                <a:lnSpc>
                  <a:spcPts val="2659"/>
                </a:lnSpc>
                <a:spcBef>
                  <a:spcPct val="0"/>
                </a:spcBef>
              </a:pPr>
            </a:p>
          </p:txBody>
        </p:sp>
      </p:grpSp>
      <p:sp>
        <p:nvSpPr>
          <p:cNvPr name="TextBox 31" id="31"/>
          <p:cNvSpPr txBox="true"/>
          <p:nvPr/>
        </p:nvSpPr>
        <p:spPr>
          <a:xfrm rot="0">
            <a:off x="2006626" y="1723962"/>
            <a:ext cx="14585998" cy="1066800"/>
          </a:xfrm>
          <a:prstGeom prst="rect">
            <a:avLst/>
          </a:prstGeom>
        </p:spPr>
        <p:txBody>
          <a:bodyPr anchor="t" rtlCol="false" tIns="0" lIns="0" bIns="0" rIns="0">
            <a:spAutoFit/>
          </a:bodyPr>
          <a:lstStyle/>
          <a:p>
            <a:pPr algn="ctr" marL="0" indent="0" lvl="0">
              <a:lnSpc>
                <a:spcPts val="8395"/>
              </a:lnSpc>
              <a:spcBef>
                <a:spcPct val="0"/>
              </a:spcBef>
            </a:pPr>
            <a:r>
              <a:rPr lang="en-US" b="true" sz="6996">
                <a:solidFill>
                  <a:srgbClr val="E3613D"/>
                </a:solidFill>
                <a:latin typeface="Cy Grotesk Key Bold"/>
                <a:ea typeface="Cy Grotesk Key Bold"/>
                <a:cs typeface="Cy Grotesk Key Bold"/>
                <a:sym typeface="Cy Grotesk Key Bold"/>
              </a:rPr>
              <a:t>Busin</a:t>
            </a:r>
            <a:r>
              <a:rPr lang="en-US" b="true" sz="6996" strike="noStrike" u="none">
                <a:solidFill>
                  <a:srgbClr val="E3613D"/>
                </a:solidFill>
                <a:latin typeface="Cy Grotesk Key Bold"/>
                <a:ea typeface="Cy Grotesk Key Bold"/>
                <a:cs typeface="Cy Grotesk Key Bold"/>
                <a:sym typeface="Cy Grotesk Key Bold"/>
              </a:rPr>
              <a:t>ess Metrics</a:t>
            </a:r>
          </a:p>
        </p:txBody>
      </p:sp>
      <p:sp>
        <p:nvSpPr>
          <p:cNvPr name="TextBox 32" id="32"/>
          <p:cNvSpPr txBox="true"/>
          <p:nvPr/>
        </p:nvSpPr>
        <p:spPr>
          <a:xfrm rot="0">
            <a:off x="2399715" y="3738694"/>
            <a:ext cx="1973441" cy="417572"/>
          </a:xfrm>
          <a:prstGeom prst="rect">
            <a:avLst/>
          </a:prstGeom>
        </p:spPr>
        <p:txBody>
          <a:bodyPr anchor="t" rtlCol="false" tIns="0" lIns="0" bIns="0" rIns="0">
            <a:spAutoFit/>
          </a:bodyPr>
          <a:lstStyle/>
          <a:p>
            <a:pPr algn="ctr">
              <a:lnSpc>
                <a:spcPts val="3472"/>
              </a:lnSpc>
            </a:pPr>
            <a:r>
              <a:rPr lang="en-US" sz="2480" b="true">
                <a:solidFill>
                  <a:srgbClr val="242424"/>
                </a:solidFill>
                <a:latin typeface="TT Hoves Bold"/>
                <a:ea typeface="TT Hoves Bold"/>
                <a:cs typeface="TT Hoves Bold"/>
                <a:sym typeface="TT Hoves Bold"/>
              </a:rPr>
              <a:t>Churn Rate</a:t>
            </a:r>
          </a:p>
        </p:txBody>
      </p:sp>
      <p:sp>
        <p:nvSpPr>
          <p:cNvPr name="TextBox 33" id="33"/>
          <p:cNvSpPr txBox="true"/>
          <p:nvPr/>
        </p:nvSpPr>
        <p:spPr>
          <a:xfrm rot="0">
            <a:off x="2316096" y="6228947"/>
            <a:ext cx="2140678" cy="418177"/>
          </a:xfrm>
          <a:prstGeom prst="rect">
            <a:avLst/>
          </a:prstGeom>
        </p:spPr>
        <p:txBody>
          <a:bodyPr anchor="t" rtlCol="false" tIns="0" lIns="0" bIns="0" rIns="0">
            <a:spAutoFit/>
          </a:bodyPr>
          <a:lstStyle/>
          <a:p>
            <a:pPr algn="ctr">
              <a:lnSpc>
                <a:spcPts val="3438"/>
              </a:lnSpc>
            </a:pPr>
            <a:r>
              <a:rPr lang="en-US" sz="2456" b="true">
                <a:solidFill>
                  <a:srgbClr val="F9F5E7"/>
                </a:solidFill>
                <a:latin typeface="TT Hoves Bold"/>
                <a:ea typeface="TT Hoves Bold"/>
                <a:cs typeface="TT Hoves Bold"/>
                <a:sym typeface="TT Hoves Bold"/>
              </a:rPr>
              <a:t>RFM</a:t>
            </a:r>
          </a:p>
        </p:txBody>
      </p:sp>
      <p:sp>
        <p:nvSpPr>
          <p:cNvPr name="TextBox 34" id="34"/>
          <p:cNvSpPr txBox="true"/>
          <p:nvPr/>
        </p:nvSpPr>
        <p:spPr>
          <a:xfrm rot="0">
            <a:off x="7474066" y="3748219"/>
            <a:ext cx="2280929" cy="418177"/>
          </a:xfrm>
          <a:prstGeom prst="rect">
            <a:avLst/>
          </a:prstGeom>
        </p:spPr>
        <p:txBody>
          <a:bodyPr anchor="t" rtlCol="false" tIns="0" lIns="0" bIns="0" rIns="0">
            <a:spAutoFit/>
          </a:bodyPr>
          <a:lstStyle/>
          <a:p>
            <a:pPr algn="ctr">
              <a:lnSpc>
                <a:spcPts val="3438"/>
              </a:lnSpc>
            </a:pPr>
            <a:r>
              <a:rPr lang="en-US" sz="2456" b="true">
                <a:solidFill>
                  <a:srgbClr val="F9F5E7"/>
                </a:solidFill>
                <a:latin typeface="TT Hoves Bold"/>
                <a:ea typeface="TT Hoves Bold"/>
                <a:cs typeface="TT Hoves Bold"/>
                <a:sym typeface="TT Hoves Bold"/>
              </a:rPr>
              <a:t>Retention Rate</a:t>
            </a:r>
          </a:p>
        </p:txBody>
      </p:sp>
      <p:sp>
        <p:nvSpPr>
          <p:cNvPr name="TextBox 35" id="35"/>
          <p:cNvSpPr txBox="true"/>
          <p:nvPr/>
        </p:nvSpPr>
        <p:spPr>
          <a:xfrm rot="0">
            <a:off x="7784472" y="6220402"/>
            <a:ext cx="1705284" cy="405879"/>
          </a:xfrm>
          <a:prstGeom prst="rect">
            <a:avLst/>
          </a:prstGeom>
        </p:spPr>
        <p:txBody>
          <a:bodyPr anchor="t" rtlCol="false" tIns="0" lIns="0" bIns="0" rIns="0">
            <a:spAutoFit/>
          </a:bodyPr>
          <a:lstStyle/>
          <a:p>
            <a:pPr algn="ctr">
              <a:lnSpc>
                <a:spcPts val="3321"/>
              </a:lnSpc>
            </a:pPr>
            <a:r>
              <a:rPr lang="en-US" sz="2372" b="true">
                <a:solidFill>
                  <a:srgbClr val="242424"/>
                </a:solidFill>
                <a:latin typeface="TT Hoves Bold"/>
                <a:ea typeface="TT Hoves Bold"/>
                <a:cs typeface="TT Hoves Bold"/>
                <a:sym typeface="TT Hoves Bold"/>
              </a:rPr>
              <a:t>Marketing</a:t>
            </a:r>
          </a:p>
        </p:txBody>
      </p:sp>
      <p:sp>
        <p:nvSpPr>
          <p:cNvPr name="TextBox 36" id="36"/>
          <p:cNvSpPr txBox="true"/>
          <p:nvPr/>
        </p:nvSpPr>
        <p:spPr>
          <a:xfrm rot="0">
            <a:off x="2148641" y="4439354"/>
            <a:ext cx="4158513" cy="1840807"/>
          </a:xfrm>
          <a:prstGeom prst="rect">
            <a:avLst/>
          </a:prstGeom>
        </p:spPr>
        <p:txBody>
          <a:bodyPr anchor="t" rtlCol="false" tIns="0" lIns="0" bIns="0" rIns="0">
            <a:spAutoFit/>
          </a:bodyPr>
          <a:lstStyle/>
          <a:p>
            <a:pPr algn="l">
              <a:lnSpc>
                <a:spcPts val="2940"/>
              </a:lnSpc>
              <a:spcBef>
                <a:spcPct val="0"/>
              </a:spcBef>
            </a:pPr>
            <a:r>
              <a:rPr lang="en-US" sz="2100">
                <a:solidFill>
                  <a:srgbClr val="242424"/>
                </a:solidFill>
                <a:latin typeface="TT Hoves"/>
                <a:ea typeface="TT Hoves"/>
                <a:cs typeface="TT Hoves"/>
                <a:sym typeface="TT Hoves"/>
              </a:rPr>
              <a:t>%</a:t>
            </a:r>
            <a:r>
              <a:rPr lang="en-US" sz="2100">
                <a:solidFill>
                  <a:srgbClr val="242424"/>
                </a:solidFill>
                <a:latin typeface="TT Hoves"/>
                <a:ea typeface="TT Hoves"/>
                <a:cs typeface="TT Hoves"/>
                <a:sym typeface="TT Hoves"/>
              </a:rPr>
              <a:t> pelanggan yang berhenti berlangganan</a:t>
            </a:r>
          </a:p>
          <a:p>
            <a:pPr algn="l">
              <a:lnSpc>
                <a:spcPts val="2940"/>
              </a:lnSpc>
              <a:spcBef>
                <a:spcPct val="0"/>
              </a:spcBef>
            </a:pPr>
            <a:r>
              <a:rPr lang="en-US" sz="2100">
                <a:solidFill>
                  <a:srgbClr val="242424"/>
                </a:solidFill>
                <a:latin typeface="TT Hoves"/>
                <a:ea typeface="TT Hoves"/>
                <a:cs typeface="TT Hoves"/>
                <a:sym typeface="TT Hoves"/>
              </a:rPr>
              <a:t>⟶ Subscriber_ID, churn_customers</a:t>
            </a:r>
          </a:p>
          <a:p>
            <a:pPr algn="l">
              <a:lnSpc>
                <a:spcPts val="2940"/>
              </a:lnSpc>
              <a:spcBef>
                <a:spcPct val="0"/>
              </a:spcBef>
            </a:pPr>
          </a:p>
          <a:p>
            <a:pPr algn="l">
              <a:lnSpc>
                <a:spcPts val="2940"/>
              </a:lnSpc>
              <a:spcBef>
                <a:spcPct val="0"/>
              </a:spcBef>
            </a:pPr>
          </a:p>
        </p:txBody>
      </p:sp>
      <p:sp>
        <p:nvSpPr>
          <p:cNvPr name="TextBox 37" id="37"/>
          <p:cNvSpPr txBox="true"/>
          <p:nvPr/>
        </p:nvSpPr>
        <p:spPr>
          <a:xfrm rot="0">
            <a:off x="2171001" y="6969614"/>
            <a:ext cx="4136153" cy="1471502"/>
          </a:xfrm>
          <a:prstGeom prst="rect">
            <a:avLst/>
          </a:prstGeom>
        </p:spPr>
        <p:txBody>
          <a:bodyPr anchor="t" rtlCol="false" tIns="0" lIns="0" bIns="0" rIns="0">
            <a:spAutoFit/>
          </a:bodyPr>
          <a:lstStyle/>
          <a:p>
            <a:pPr algn="l">
              <a:lnSpc>
                <a:spcPts val="2940"/>
              </a:lnSpc>
              <a:spcBef>
                <a:spcPct val="0"/>
              </a:spcBef>
            </a:pPr>
            <a:r>
              <a:rPr lang="en-US" sz="2100">
                <a:solidFill>
                  <a:srgbClr val="242424"/>
                </a:solidFill>
                <a:latin typeface="TT Hoves"/>
                <a:ea typeface="TT Hoves"/>
                <a:cs typeface="TT Hoves"/>
                <a:sym typeface="TT Hoves"/>
              </a:rPr>
              <a:t>RFM</a:t>
            </a:r>
            <a:r>
              <a:rPr lang="en-US" sz="2100">
                <a:solidFill>
                  <a:srgbClr val="242424"/>
                </a:solidFill>
                <a:latin typeface="TT Hoves"/>
                <a:ea typeface="TT Hoves"/>
                <a:cs typeface="TT Hoves"/>
                <a:sym typeface="TT Hoves"/>
              </a:rPr>
              <a:t> (Recency, Frekuensi, Moneter)</a:t>
            </a:r>
          </a:p>
          <a:p>
            <a:pPr algn="l">
              <a:lnSpc>
                <a:spcPts val="2940"/>
              </a:lnSpc>
              <a:spcBef>
                <a:spcPct val="0"/>
              </a:spcBef>
            </a:pPr>
            <a:r>
              <a:rPr lang="en-US" sz="2100">
                <a:solidFill>
                  <a:srgbClr val="242424"/>
                </a:solidFill>
                <a:latin typeface="TT Hoves"/>
                <a:ea typeface="TT Hoves"/>
                <a:cs typeface="TT Hoves"/>
                <a:sym typeface="TT Hoves"/>
              </a:rPr>
              <a:t>⟶ Subscriber_ID, Activation_Date</a:t>
            </a:r>
          </a:p>
          <a:p>
            <a:pPr algn="l">
              <a:lnSpc>
                <a:spcPts val="2940"/>
              </a:lnSpc>
              <a:spcBef>
                <a:spcPct val="0"/>
              </a:spcBef>
            </a:pPr>
          </a:p>
        </p:txBody>
      </p:sp>
      <p:sp>
        <p:nvSpPr>
          <p:cNvPr name="TextBox 38" id="38"/>
          <p:cNvSpPr txBox="true"/>
          <p:nvPr/>
        </p:nvSpPr>
        <p:spPr>
          <a:xfrm rot="0">
            <a:off x="7474066" y="4430191"/>
            <a:ext cx="4291962" cy="1471502"/>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42424"/>
                </a:solidFill>
                <a:latin typeface="TT Hoves"/>
                <a:ea typeface="TT Hoves"/>
                <a:cs typeface="TT Hoves"/>
                <a:sym typeface="TT Hoves"/>
              </a:rPr>
              <a:t>%</a:t>
            </a:r>
            <a:r>
              <a:rPr lang="en-US" sz="2100" strike="noStrike" u="none">
                <a:solidFill>
                  <a:srgbClr val="242424"/>
                </a:solidFill>
                <a:latin typeface="TT Hoves"/>
                <a:ea typeface="TT Hoves"/>
                <a:cs typeface="TT Hoves"/>
                <a:sym typeface="TT Hoves"/>
              </a:rPr>
              <a:t> pelanggan yang masih aktif</a:t>
            </a:r>
          </a:p>
          <a:p>
            <a:pPr algn="l" marL="0" indent="0" lvl="0">
              <a:lnSpc>
                <a:spcPts val="2940"/>
              </a:lnSpc>
              <a:spcBef>
                <a:spcPct val="0"/>
              </a:spcBef>
            </a:pPr>
            <a:r>
              <a:rPr lang="en-US" sz="2100" strike="noStrike" u="none">
                <a:solidFill>
                  <a:srgbClr val="242424"/>
                </a:solidFill>
                <a:latin typeface="TT Hoves"/>
                <a:ea typeface="TT Hoves"/>
                <a:cs typeface="TT Hoves"/>
                <a:sym typeface="TT Hoves"/>
              </a:rPr>
              <a:t>⟶ Subscriber_ID, retention_customers</a:t>
            </a:r>
          </a:p>
          <a:p>
            <a:pPr algn="l" marL="0" indent="0" lvl="0">
              <a:lnSpc>
                <a:spcPts val="2940"/>
              </a:lnSpc>
              <a:spcBef>
                <a:spcPct val="0"/>
              </a:spcBef>
            </a:pPr>
          </a:p>
        </p:txBody>
      </p:sp>
      <p:sp>
        <p:nvSpPr>
          <p:cNvPr name="TextBox 39" id="39"/>
          <p:cNvSpPr txBox="true"/>
          <p:nvPr/>
        </p:nvSpPr>
        <p:spPr>
          <a:xfrm rot="0">
            <a:off x="7474066" y="6949721"/>
            <a:ext cx="4249998" cy="1471502"/>
          </a:xfrm>
          <a:prstGeom prst="rect">
            <a:avLst/>
          </a:prstGeom>
        </p:spPr>
        <p:txBody>
          <a:bodyPr anchor="t" rtlCol="false" tIns="0" lIns="0" bIns="0" rIns="0">
            <a:spAutoFit/>
          </a:bodyPr>
          <a:lstStyle/>
          <a:p>
            <a:pPr algn="l">
              <a:lnSpc>
                <a:spcPts val="2940"/>
              </a:lnSpc>
              <a:spcBef>
                <a:spcPct val="0"/>
              </a:spcBef>
            </a:pPr>
            <a:r>
              <a:rPr lang="en-US" sz="2100">
                <a:solidFill>
                  <a:srgbClr val="242424"/>
                </a:solidFill>
                <a:latin typeface="TT Hoves"/>
                <a:ea typeface="TT Hoves"/>
                <a:cs typeface="TT Hoves"/>
                <a:sym typeface="TT Hoves"/>
              </a:rPr>
              <a:t>Strategi Pemasaran Produk</a:t>
            </a:r>
          </a:p>
          <a:p>
            <a:pPr algn="l">
              <a:lnSpc>
                <a:spcPts val="2940"/>
              </a:lnSpc>
              <a:spcBef>
                <a:spcPct val="0"/>
              </a:spcBef>
            </a:pPr>
            <a:r>
              <a:rPr lang="en-US" sz="2100">
                <a:solidFill>
                  <a:srgbClr val="242424"/>
                </a:solidFill>
                <a:latin typeface="TT Hoves"/>
                <a:ea typeface="TT Hoves"/>
                <a:cs typeface="TT Hoves"/>
                <a:sym typeface="TT Hoves"/>
              </a:rPr>
              <a:t>⟶ Package_Type, Method_Payment, CLTV, Segment</a:t>
            </a:r>
          </a:p>
          <a:p>
            <a:pPr algn="l">
              <a:lnSpc>
                <a:spcPts val="2940"/>
              </a:lnSpc>
              <a:spcBef>
                <a:spcPct val="0"/>
              </a:spcBef>
            </a:pPr>
          </a:p>
        </p:txBody>
      </p:sp>
      <p:grpSp>
        <p:nvGrpSpPr>
          <p:cNvPr name="Group 40" id="40"/>
          <p:cNvGrpSpPr/>
          <p:nvPr/>
        </p:nvGrpSpPr>
        <p:grpSpPr>
          <a:xfrm rot="0">
            <a:off x="12022336" y="3872333"/>
            <a:ext cx="4848879" cy="1915102"/>
            <a:chOff x="0" y="0"/>
            <a:chExt cx="1505360" cy="594553"/>
          </a:xfrm>
        </p:grpSpPr>
        <p:sp>
          <p:nvSpPr>
            <p:cNvPr name="Freeform 41" id="41"/>
            <p:cNvSpPr/>
            <p:nvPr/>
          </p:nvSpPr>
          <p:spPr>
            <a:xfrm flipH="false" flipV="false" rot="0">
              <a:off x="0" y="0"/>
              <a:ext cx="1505360" cy="594553"/>
            </a:xfrm>
            <a:custGeom>
              <a:avLst/>
              <a:gdLst/>
              <a:ahLst/>
              <a:cxnLst/>
              <a:rect r="r" b="b" t="t" l="l"/>
              <a:pathLst>
                <a:path h="594553" w="1505360">
                  <a:moveTo>
                    <a:pt x="59076" y="0"/>
                  </a:moveTo>
                  <a:lnTo>
                    <a:pt x="1446284" y="0"/>
                  </a:lnTo>
                  <a:cubicBezTo>
                    <a:pt x="1461952" y="0"/>
                    <a:pt x="1476978" y="6224"/>
                    <a:pt x="1488057" y="17303"/>
                  </a:cubicBezTo>
                  <a:cubicBezTo>
                    <a:pt x="1499136" y="28382"/>
                    <a:pt x="1505360" y="43408"/>
                    <a:pt x="1505360" y="59076"/>
                  </a:cubicBezTo>
                  <a:lnTo>
                    <a:pt x="1505360" y="535478"/>
                  </a:lnTo>
                  <a:cubicBezTo>
                    <a:pt x="1505360" y="551146"/>
                    <a:pt x="1499136" y="566172"/>
                    <a:pt x="1488057" y="577251"/>
                  </a:cubicBezTo>
                  <a:cubicBezTo>
                    <a:pt x="1476978" y="588329"/>
                    <a:pt x="1461952" y="594553"/>
                    <a:pt x="1446284" y="594553"/>
                  </a:cubicBezTo>
                  <a:lnTo>
                    <a:pt x="59076" y="594553"/>
                  </a:lnTo>
                  <a:cubicBezTo>
                    <a:pt x="26449" y="594553"/>
                    <a:pt x="0" y="568104"/>
                    <a:pt x="0" y="535478"/>
                  </a:cubicBezTo>
                  <a:lnTo>
                    <a:pt x="0" y="59076"/>
                  </a:lnTo>
                  <a:cubicBezTo>
                    <a:pt x="0" y="43408"/>
                    <a:pt x="6224" y="28382"/>
                    <a:pt x="17303" y="17303"/>
                  </a:cubicBezTo>
                  <a:cubicBezTo>
                    <a:pt x="28382" y="6224"/>
                    <a:pt x="43408" y="0"/>
                    <a:pt x="59076" y="0"/>
                  </a:cubicBezTo>
                  <a:close/>
                </a:path>
              </a:pathLst>
            </a:custGeom>
            <a:solidFill>
              <a:srgbClr val="FFFFFF"/>
            </a:solidFill>
            <a:ln w="9525" cap="rnd">
              <a:solidFill>
                <a:srgbClr val="243037"/>
              </a:solidFill>
              <a:prstDash val="solid"/>
              <a:round/>
            </a:ln>
          </p:spPr>
        </p:sp>
        <p:sp>
          <p:nvSpPr>
            <p:cNvPr name="TextBox 42" id="42"/>
            <p:cNvSpPr txBox="true"/>
            <p:nvPr/>
          </p:nvSpPr>
          <p:spPr>
            <a:xfrm>
              <a:off x="0" y="-38100"/>
              <a:ext cx="1505360" cy="63265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3" id="43"/>
          <p:cNvGrpSpPr/>
          <p:nvPr/>
        </p:nvGrpSpPr>
        <p:grpSpPr>
          <a:xfrm rot="0">
            <a:off x="12496228" y="3616484"/>
            <a:ext cx="2576073" cy="754626"/>
            <a:chOff x="0" y="0"/>
            <a:chExt cx="799755" cy="234278"/>
          </a:xfrm>
        </p:grpSpPr>
        <p:sp>
          <p:nvSpPr>
            <p:cNvPr name="Freeform 44" id="44"/>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FEAC3D"/>
            </a:solidFill>
            <a:ln cap="rnd">
              <a:noFill/>
              <a:prstDash val="solid"/>
              <a:round/>
            </a:ln>
          </p:spPr>
        </p:sp>
        <p:sp>
          <p:nvSpPr>
            <p:cNvPr name="TextBox 45" id="45"/>
            <p:cNvSpPr txBox="true"/>
            <p:nvPr/>
          </p:nvSpPr>
          <p:spPr>
            <a:xfrm>
              <a:off x="0" y="-38100"/>
              <a:ext cx="799755" cy="272378"/>
            </a:xfrm>
            <a:prstGeom prst="rect">
              <a:avLst/>
            </a:prstGeom>
          </p:spPr>
          <p:txBody>
            <a:bodyPr anchor="ctr" rtlCol="false" tIns="50800" lIns="50800" bIns="50800" rIns="50800"/>
            <a:lstStyle/>
            <a:p>
              <a:pPr algn="ctr">
                <a:lnSpc>
                  <a:spcPts val="2659"/>
                </a:lnSpc>
                <a:spcBef>
                  <a:spcPct val="0"/>
                </a:spcBef>
              </a:pPr>
            </a:p>
          </p:txBody>
        </p:sp>
      </p:grpSp>
      <p:sp>
        <p:nvSpPr>
          <p:cNvPr name="TextBox 46" id="46"/>
          <p:cNvSpPr txBox="true"/>
          <p:nvPr/>
        </p:nvSpPr>
        <p:spPr>
          <a:xfrm rot="0">
            <a:off x="12621217" y="3737610"/>
            <a:ext cx="2329228" cy="418177"/>
          </a:xfrm>
          <a:prstGeom prst="rect">
            <a:avLst/>
          </a:prstGeom>
        </p:spPr>
        <p:txBody>
          <a:bodyPr anchor="t" rtlCol="false" tIns="0" lIns="0" bIns="0" rIns="0">
            <a:spAutoFit/>
          </a:bodyPr>
          <a:lstStyle/>
          <a:p>
            <a:pPr algn="ctr">
              <a:lnSpc>
                <a:spcPts val="3438"/>
              </a:lnSpc>
            </a:pPr>
            <a:r>
              <a:rPr lang="en-US" sz="2456" b="true">
                <a:solidFill>
                  <a:srgbClr val="242424"/>
                </a:solidFill>
                <a:latin typeface="TT Hoves Bold"/>
                <a:ea typeface="TT Hoves Bold"/>
                <a:cs typeface="TT Hoves Bold"/>
                <a:sym typeface="TT Hoves Bold"/>
              </a:rPr>
              <a:t>Profit </a:t>
            </a:r>
          </a:p>
        </p:txBody>
      </p:sp>
      <p:sp>
        <p:nvSpPr>
          <p:cNvPr name="TextBox 47" id="47"/>
          <p:cNvSpPr txBox="true"/>
          <p:nvPr/>
        </p:nvSpPr>
        <p:spPr>
          <a:xfrm rot="0">
            <a:off x="12579253" y="4429904"/>
            <a:ext cx="3905201" cy="1471502"/>
          </a:xfrm>
          <a:prstGeom prst="rect">
            <a:avLst/>
          </a:prstGeom>
        </p:spPr>
        <p:txBody>
          <a:bodyPr anchor="t" rtlCol="false" tIns="0" lIns="0" bIns="0" rIns="0">
            <a:spAutoFit/>
          </a:bodyPr>
          <a:lstStyle/>
          <a:p>
            <a:pPr algn="l">
              <a:lnSpc>
                <a:spcPts val="2940"/>
              </a:lnSpc>
              <a:spcBef>
                <a:spcPct val="0"/>
              </a:spcBef>
            </a:pPr>
            <a:r>
              <a:rPr lang="en-US" sz="2100">
                <a:solidFill>
                  <a:srgbClr val="242424"/>
                </a:solidFill>
                <a:latin typeface="TT Hoves"/>
                <a:ea typeface="TT Hoves"/>
                <a:cs typeface="TT Hoves"/>
                <a:sym typeface="TT Hoves"/>
              </a:rPr>
              <a:t>K</a:t>
            </a:r>
            <a:r>
              <a:rPr lang="en-US" sz="2100">
                <a:solidFill>
                  <a:srgbClr val="242424"/>
                </a:solidFill>
                <a:latin typeface="TT Hoves"/>
                <a:ea typeface="TT Hoves"/>
                <a:cs typeface="TT Hoves"/>
                <a:sym typeface="TT Hoves"/>
              </a:rPr>
              <a:t>euntungan bersih </a:t>
            </a:r>
          </a:p>
          <a:p>
            <a:pPr algn="l">
              <a:lnSpc>
                <a:spcPts val="2940"/>
              </a:lnSpc>
              <a:spcBef>
                <a:spcPct val="0"/>
              </a:spcBef>
            </a:pPr>
            <a:r>
              <a:rPr lang="en-US" sz="2100">
                <a:solidFill>
                  <a:srgbClr val="242424"/>
                </a:solidFill>
                <a:latin typeface="TT Hoves"/>
                <a:ea typeface="TT Hoves"/>
                <a:cs typeface="TT Hoves"/>
                <a:sym typeface="TT Hoves"/>
              </a:rPr>
              <a:t>⟶ Recharge_Amount, Network_Cost</a:t>
            </a:r>
          </a:p>
          <a:p>
            <a:pPr algn="l">
              <a:lnSpc>
                <a:spcPts val="2940"/>
              </a:lnSpc>
              <a:spcBef>
                <a:spcPct val="0"/>
              </a:spcBef>
            </a:pPr>
          </a:p>
        </p:txBody>
      </p:sp>
      <p:grpSp>
        <p:nvGrpSpPr>
          <p:cNvPr name="Group 48" id="48"/>
          <p:cNvGrpSpPr/>
          <p:nvPr/>
        </p:nvGrpSpPr>
        <p:grpSpPr>
          <a:xfrm rot="0">
            <a:off x="12022336" y="6394461"/>
            <a:ext cx="4848879" cy="1874682"/>
            <a:chOff x="0" y="0"/>
            <a:chExt cx="1505360" cy="582005"/>
          </a:xfrm>
        </p:grpSpPr>
        <p:sp>
          <p:nvSpPr>
            <p:cNvPr name="Freeform 49" id="49"/>
            <p:cNvSpPr/>
            <p:nvPr/>
          </p:nvSpPr>
          <p:spPr>
            <a:xfrm flipH="false" flipV="false" rot="0">
              <a:off x="0" y="0"/>
              <a:ext cx="1505360" cy="582005"/>
            </a:xfrm>
            <a:custGeom>
              <a:avLst/>
              <a:gdLst/>
              <a:ahLst/>
              <a:cxnLst/>
              <a:rect r="r" b="b" t="t" l="l"/>
              <a:pathLst>
                <a:path h="582005" w="1505360">
                  <a:moveTo>
                    <a:pt x="59076" y="0"/>
                  </a:moveTo>
                  <a:lnTo>
                    <a:pt x="1446284" y="0"/>
                  </a:lnTo>
                  <a:cubicBezTo>
                    <a:pt x="1461952" y="0"/>
                    <a:pt x="1476978" y="6224"/>
                    <a:pt x="1488057" y="17303"/>
                  </a:cubicBezTo>
                  <a:cubicBezTo>
                    <a:pt x="1499136" y="28382"/>
                    <a:pt x="1505360" y="43408"/>
                    <a:pt x="1505360" y="59076"/>
                  </a:cubicBezTo>
                  <a:lnTo>
                    <a:pt x="1505360" y="522929"/>
                  </a:lnTo>
                  <a:cubicBezTo>
                    <a:pt x="1505360" y="555556"/>
                    <a:pt x="1478911" y="582005"/>
                    <a:pt x="1446284" y="582005"/>
                  </a:cubicBezTo>
                  <a:lnTo>
                    <a:pt x="59076" y="582005"/>
                  </a:lnTo>
                  <a:cubicBezTo>
                    <a:pt x="43408" y="582005"/>
                    <a:pt x="28382" y="575781"/>
                    <a:pt x="17303" y="564702"/>
                  </a:cubicBezTo>
                  <a:cubicBezTo>
                    <a:pt x="6224" y="553623"/>
                    <a:pt x="0" y="538597"/>
                    <a:pt x="0" y="522929"/>
                  </a:cubicBezTo>
                  <a:lnTo>
                    <a:pt x="0" y="59076"/>
                  </a:lnTo>
                  <a:cubicBezTo>
                    <a:pt x="0" y="43408"/>
                    <a:pt x="6224" y="28382"/>
                    <a:pt x="17303" y="17303"/>
                  </a:cubicBezTo>
                  <a:cubicBezTo>
                    <a:pt x="28382" y="6224"/>
                    <a:pt x="43408" y="0"/>
                    <a:pt x="59076" y="0"/>
                  </a:cubicBezTo>
                  <a:close/>
                </a:path>
              </a:pathLst>
            </a:custGeom>
            <a:solidFill>
              <a:srgbClr val="FFFFFF"/>
            </a:solidFill>
            <a:ln w="9525" cap="rnd">
              <a:solidFill>
                <a:srgbClr val="243037"/>
              </a:solidFill>
              <a:prstDash val="solid"/>
              <a:round/>
            </a:ln>
          </p:spPr>
        </p:sp>
        <p:sp>
          <p:nvSpPr>
            <p:cNvPr name="TextBox 50" id="50"/>
            <p:cNvSpPr txBox="true"/>
            <p:nvPr/>
          </p:nvSpPr>
          <p:spPr>
            <a:xfrm>
              <a:off x="0" y="-38100"/>
              <a:ext cx="1505360" cy="62010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1" id="51"/>
          <p:cNvGrpSpPr/>
          <p:nvPr/>
        </p:nvGrpSpPr>
        <p:grpSpPr>
          <a:xfrm rot="0">
            <a:off x="12496228" y="6098191"/>
            <a:ext cx="2576073" cy="754626"/>
            <a:chOff x="0" y="0"/>
            <a:chExt cx="799755" cy="234278"/>
          </a:xfrm>
        </p:grpSpPr>
        <p:sp>
          <p:nvSpPr>
            <p:cNvPr name="Freeform 52" id="52"/>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6237CF"/>
            </a:solidFill>
            <a:ln cap="rnd">
              <a:noFill/>
              <a:prstDash val="solid"/>
              <a:round/>
            </a:ln>
          </p:spPr>
        </p:sp>
        <p:sp>
          <p:nvSpPr>
            <p:cNvPr name="TextBox 53" id="53"/>
            <p:cNvSpPr txBox="true"/>
            <p:nvPr/>
          </p:nvSpPr>
          <p:spPr>
            <a:xfrm>
              <a:off x="0" y="-38100"/>
              <a:ext cx="799755" cy="2723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4" id="54"/>
          <p:cNvSpPr txBox="true"/>
          <p:nvPr/>
        </p:nvSpPr>
        <p:spPr>
          <a:xfrm rot="0">
            <a:off x="12713925" y="6220402"/>
            <a:ext cx="2140678" cy="418177"/>
          </a:xfrm>
          <a:prstGeom prst="rect">
            <a:avLst/>
          </a:prstGeom>
        </p:spPr>
        <p:txBody>
          <a:bodyPr anchor="t" rtlCol="false" tIns="0" lIns="0" bIns="0" rIns="0">
            <a:spAutoFit/>
          </a:bodyPr>
          <a:lstStyle/>
          <a:p>
            <a:pPr algn="ctr">
              <a:lnSpc>
                <a:spcPts val="3438"/>
              </a:lnSpc>
            </a:pPr>
            <a:r>
              <a:rPr lang="en-US" sz="2456" b="true">
                <a:solidFill>
                  <a:srgbClr val="F9F5E7"/>
                </a:solidFill>
                <a:latin typeface="TT Hoves Bold"/>
                <a:ea typeface="TT Hoves Bold"/>
                <a:cs typeface="TT Hoves Bold"/>
                <a:sym typeface="TT Hoves Bold"/>
              </a:rPr>
              <a:t>Segment</a:t>
            </a:r>
          </a:p>
        </p:txBody>
      </p:sp>
      <p:sp>
        <p:nvSpPr>
          <p:cNvPr name="TextBox 55" id="55"/>
          <p:cNvSpPr txBox="true"/>
          <p:nvPr/>
        </p:nvSpPr>
        <p:spPr>
          <a:xfrm rot="0">
            <a:off x="12568830" y="6949721"/>
            <a:ext cx="4136153" cy="1471502"/>
          </a:xfrm>
          <a:prstGeom prst="rect">
            <a:avLst/>
          </a:prstGeom>
        </p:spPr>
        <p:txBody>
          <a:bodyPr anchor="t" rtlCol="false" tIns="0" lIns="0" bIns="0" rIns="0">
            <a:spAutoFit/>
          </a:bodyPr>
          <a:lstStyle/>
          <a:p>
            <a:pPr algn="l">
              <a:lnSpc>
                <a:spcPts val="2940"/>
              </a:lnSpc>
              <a:spcBef>
                <a:spcPct val="0"/>
              </a:spcBef>
            </a:pPr>
            <a:r>
              <a:rPr lang="en-US" sz="2100">
                <a:solidFill>
                  <a:srgbClr val="242424"/>
                </a:solidFill>
                <a:latin typeface="TT Hoves"/>
                <a:ea typeface="TT Hoves"/>
                <a:cs typeface="TT Hoves"/>
                <a:sym typeface="TT Hoves"/>
              </a:rPr>
              <a:t>Segmentasi berdasarkan perilaku</a:t>
            </a:r>
          </a:p>
          <a:p>
            <a:pPr algn="l">
              <a:lnSpc>
                <a:spcPts val="2940"/>
              </a:lnSpc>
              <a:spcBef>
                <a:spcPct val="0"/>
              </a:spcBef>
            </a:pPr>
            <a:r>
              <a:rPr lang="en-US" sz="2100">
                <a:solidFill>
                  <a:srgbClr val="242424"/>
                </a:solidFill>
                <a:latin typeface="TT Hoves"/>
                <a:ea typeface="TT Hoves"/>
                <a:cs typeface="TT Hoves"/>
                <a:sym typeface="TT Hoves"/>
              </a:rPr>
              <a:t>⟶ RFM_Score, Subscriber_ID Activation Date</a:t>
            </a:r>
          </a:p>
          <a:p>
            <a:pPr algn="l">
              <a:lnSpc>
                <a:spcPts val="2940"/>
              </a:lnSpc>
              <a:spcBef>
                <a:spcPct val="0"/>
              </a:spcBef>
            </a:pPr>
          </a:p>
        </p:txBody>
      </p:sp>
      <p:sp>
        <p:nvSpPr>
          <p:cNvPr name="Freeform 56" id="56"/>
          <p:cNvSpPr/>
          <p:nvPr/>
        </p:nvSpPr>
        <p:spPr>
          <a:xfrm flipH="false" flipV="false" rot="0">
            <a:off x="15678099" y="559803"/>
            <a:ext cx="1308437" cy="1308437"/>
          </a:xfrm>
          <a:custGeom>
            <a:avLst/>
            <a:gdLst/>
            <a:ahLst/>
            <a:cxnLst/>
            <a:rect r="r" b="b" t="t" l="l"/>
            <a:pathLst>
              <a:path h="1308437" w="1308437">
                <a:moveTo>
                  <a:pt x="0" y="0"/>
                </a:moveTo>
                <a:lnTo>
                  <a:pt x="1308437" y="0"/>
                </a:lnTo>
                <a:lnTo>
                  <a:pt x="1308437" y="1308437"/>
                </a:lnTo>
                <a:lnTo>
                  <a:pt x="0" y="13084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86785" y="5107550"/>
            <a:ext cx="13106922" cy="4150750"/>
            <a:chOff x="0" y="0"/>
            <a:chExt cx="3452029" cy="1093202"/>
          </a:xfrm>
        </p:grpSpPr>
        <p:sp>
          <p:nvSpPr>
            <p:cNvPr name="Freeform 3" id="3"/>
            <p:cNvSpPr/>
            <p:nvPr/>
          </p:nvSpPr>
          <p:spPr>
            <a:xfrm flipH="false" flipV="false" rot="0">
              <a:off x="0" y="0"/>
              <a:ext cx="3452029" cy="1093202"/>
            </a:xfrm>
            <a:custGeom>
              <a:avLst/>
              <a:gdLst/>
              <a:ahLst/>
              <a:cxnLst/>
              <a:rect r="r" b="b" t="t" l="l"/>
              <a:pathLst>
                <a:path h="1093202" w="3452029">
                  <a:moveTo>
                    <a:pt x="0" y="0"/>
                  </a:moveTo>
                  <a:lnTo>
                    <a:pt x="3452029" y="0"/>
                  </a:lnTo>
                  <a:lnTo>
                    <a:pt x="3452029" y="1093202"/>
                  </a:lnTo>
                  <a:lnTo>
                    <a:pt x="0" y="1093202"/>
                  </a:lnTo>
                  <a:close/>
                </a:path>
              </a:pathLst>
            </a:custGeom>
            <a:solidFill>
              <a:srgbClr val="F0EAFF">
                <a:alpha val="64706"/>
              </a:srgbClr>
            </a:solidFill>
          </p:spPr>
        </p:sp>
        <p:sp>
          <p:nvSpPr>
            <p:cNvPr name="TextBox 4" id="4"/>
            <p:cNvSpPr txBox="true"/>
            <p:nvPr/>
          </p:nvSpPr>
          <p:spPr>
            <a:xfrm>
              <a:off x="0" y="-38100"/>
              <a:ext cx="3452029" cy="113130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363799" y="254075"/>
            <a:ext cx="10051055" cy="8187041"/>
          </a:xfrm>
          <a:custGeom>
            <a:avLst/>
            <a:gdLst/>
            <a:ahLst/>
            <a:cxnLst/>
            <a:rect r="r" b="b" t="t" l="l"/>
            <a:pathLst>
              <a:path h="8187041" w="10051055">
                <a:moveTo>
                  <a:pt x="0" y="0"/>
                </a:moveTo>
                <a:lnTo>
                  <a:pt x="10051055" y="0"/>
                </a:lnTo>
                <a:lnTo>
                  <a:pt x="10051055" y="8187041"/>
                </a:lnTo>
                <a:lnTo>
                  <a:pt x="0" y="8187041"/>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5678099" y="559803"/>
            <a:ext cx="1308437" cy="1308437"/>
          </a:xfrm>
          <a:custGeom>
            <a:avLst/>
            <a:gdLst/>
            <a:ahLst/>
            <a:cxnLst/>
            <a:rect r="r" b="b" t="t" l="l"/>
            <a:pathLst>
              <a:path h="1308437" w="1308437">
                <a:moveTo>
                  <a:pt x="0" y="0"/>
                </a:moveTo>
                <a:lnTo>
                  <a:pt x="1308437" y="0"/>
                </a:lnTo>
                <a:lnTo>
                  <a:pt x="1308437" y="1308437"/>
                </a:lnTo>
                <a:lnTo>
                  <a:pt x="0" y="130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41716" y="4429611"/>
            <a:ext cx="5044066" cy="3497284"/>
            <a:chOff x="0" y="0"/>
            <a:chExt cx="1565957" cy="1085750"/>
          </a:xfrm>
        </p:grpSpPr>
        <p:sp>
          <p:nvSpPr>
            <p:cNvPr name="Freeform 8" id="8"/>
            <p:cNvSpPr/>
            <p:nvPr/>
          </p:nvSpPr>
          <p:spPr>
            <a:xfrm flipH="false" flipV="false" rot="0">
              <a:off x="0" y="0"/>
              <a:ext cx="1565957" cy="1085750"/>
            </a:xfrm>
            <a:custGeom>
              <a:avLst/>
              <a:gdLst/>
              <a:ahLst/>
              <a:cxnLst/>
              <a:rect r="r" b="b" t="t" l="l"/>
              <a:pathLst>
                <a:path h="1085750" w="1565957">
                  <a:moveTo>
                    <a:pt x="56790" y="0"/>
                  </a:moveTo>
                  <a:lnTo>
                    <a:pt x="1509167" y="0"/>
                  </a:lnTo>
                  <a:cubicBezTo>
                    <a:pt x="1524228" y="0"/>
                    <a:pt x="1538673" y="5983"/>
                    <a:pt x="1549323" y="16633"/>
                  </a:cubicBezTo>
                  <a:cubicBezTo>
                    <a:pt x="1559973" y="27283"/>
                    <a:pt x="1565957" y="41728"/>
                    <a:pt x="1565957" y="56790"/>
                  </a:cubicBezTo>
                  <a:lnTo>
                    <a:pt x="1565957" y="1028960"/>
                  </a:lnTo>
                  <a:cubicBezTo>
                    <a:pt x="1565957" y="1044022"/>
                    <a:pt x="1559973" y="1058467"/>
                    <a:pt x="1549323" y="1069117"/>
                  </a:cubicBezTo>
                  <a:cubicBezTo>
                    <a:pt x="1538673" y="1079767"/>
                    <a:pt x="1524228" y="1085750"/>
                    <a:pt x="1509167" y="1085750"/>
                  </a:cubicBezTo>
                  <a:lnTo>
                    <a:pt x="56790" y="1085750"/>
                  </a:lnTo>
                  <a:cubicBezTo>
                    <a:pt x="41728" y="1085750"/>
                    <a:pt x="27283" y="1079767"/>
                    <a:pt x="16633" y="1069117"/>
                  </a:cubicBezTo>
                  <a:cubicBezTo>
                    <a:pt x="5983" y="1058467"/>
                    <a:pt x="0" y="1044022"/>
                    <a:pt x="0" y="1028960"/>
                  </a:cubicBezTo>
                  <a:lnTo>
                    <a:pt x="0" y="56790"/>
                  </a:lnTo>
                  <a:cubicBezTo>
                    <a:pt x="0" y="41728"/>
                    <a:pt x="5983" y="27283"/>
                    <a:pt x="16633" y="16633"/>
                  </a:cubicBezTo>
                  <a:cubicBezTo>
                    <a:pt x="27283" y="5983"/>
                    <a:pt x="41728" y="0"/>
                    <a:pt x="56790" y="0"/>
                  </a:cubicBezTo>
                  <a:close/>
                </a:path>
              </a:pathLst>
            </a:custGeom>
            <a:solidFill>
              <a:srgbClr val="FFFFFF"/>
            </a:solidFill>
            <a:ln w="9525" cap="rnd">
              <a:solidFill>
                <a:srgbClr val="243037"/>
              </a:solidFill>
              <a:prstDash val="solid"/>
              <a:round/>
            </a:ln>
          </p:spPr>
        </p:sp>
        <p:sp>
          <p:nvSpPr>
            <p:cNvPr name="TextBox 9" id="9"/>
            <p:cNvSpPr txBox="true"/>
            <p:nvPr/>
          </p:nvSpPr>
          <p:spPr>
            <a:xfrm>
              <a:off x="0" y="-38100"/>
              <a:ext cx="1565957" cy="112385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916953" y="2252072"/>
            <a:ext cx="14585998" cy="1066800"/>
          </a:xfrm>
          <a:prstGeom prst="rect">
            <a:avLst/>
          </a:prstGeom>
        </p:spPr>
        <p:txBody>
          <a:bodyPr anchor="t" rtlCol="false" tIns="0" lIns="0" bIns="0" rIns="0">
            <a:spAutoFit/>
          </a:bodyPr>
          <a:lstStyle/>
          <a:p>
            <a:pPr algn="ctr" marL="0" indent="0" lvl="0">
              <a:lnSpc>
                <a:spcPts val="8395"/>
              </a:lnSpc>
              <a:spcBef>
                <a:spcPct val="0"/>
              </a:spcBef>
            </a:pPr>
            <a:r>
              <a:rPr lang="en-US" b="true" sz="6996">
                <a:solidFill>
                  <a:srgbClr val="1F0560"/>
                </a:solidFill>
                <a:latin typeface="Cy Grotesk Key Bold"/>
                <a:ea typeface="Cy Grotesk Key Bold"/>
                <a:cs typeface="Cy Grotesk Key Bold"/>
                <a:sym typeface="Cy Grotesk Key Bold"/>
              </a:rPr>
              <a:t>Busin</a:t>
            </a:r>
            <a:r>
              <a:rPr lang="en-US" b="true" sz="6996" strike="noStrike" u="none">
                <a:solidFill>
                  <a:srgbClr val="1F0560"/>
                </a:solidFill>
                <a:latin typeface="Cy Grotesk Key Bold"/>
                <a:ea typeface="Cy Grotesk Key Bold"/>
                <a:cs typeface="Cy Grotesk Key Bold"/>
                <a:sym typeface="Cy Grotesk Key Bold"/>
              </a:rPr>
              <a:t>ess Questions</a:t>
            </a:r>
          </a:p>
        </p:txBody>
      </p:sp>
      <p:grpSp>
        <p:nvGrpSpPr>
          <p:cNvPr name="Group 11" id="11"/>
          <p:cNvGrpSpPr/>
          <p:nvPr/>
        </p:nvGrpSpPr>
        <p:grpSpPr>
          <a:xfrm rot="0">
            <a:off x="2076397" y="4060351"/>
            <a:ext cx="3574703" cy="754626"/>
            <a:chOff x="0" y="0"/>
            <a:chExt cx="1109785" cy="234278"/>
          </a:xfrm>
        </p:grpSpPr>
        <p:sp>
          <p:nvSpPr>
            <p:cNvPr name="Freeform 12" id="12"/>
            <p:cNvSpPr/>
            <p:nvPr/>
          </p:nvSpPr>
          <p:spPr>
            <a:xfrm flipH="false" flipV="false" rot="0">
              <a:off x="0" y="0"/>
              <a:ext cx="1109785" cy="234278"/>
            </a:xfrm>
            <a:custGeom>
              <a:avLst/>
              <a:gdLst/>
              <a:ahLst/>
              <a:cxnLst/>
              <a:rect r="r" b="b" t="t" l="l"/>
              <a:pathLst>
                <a:path h="234278" w="1109785">
                  <a:moveTo>
                    <a:pt x="80133" y="0"/>
                  </a:moveTo>
                  <a:lnTo>
                    <a:pt x="1029652" y="0"/>
                  </a:lnTo>
                  <a:cubicBezTo>
                    <a:pt x="1050905" y="0"/>
                    <a:pt x="1071287" y="8443"/>
                    <a:pt x="1086315" y="23470"/>
                  </a:cubicBezTo>
                  <a:cubicBezTo>
                    <a:pt x="1101343" y="38498"/>
                    <a:pt x="1109785" y="58880"/>
                    <a:pt x="1109785" y="80133"/>
                  </a:cubicBezTo>
                  <a:lnTo>
                    <a:pt x="1109785" y="154145"/>
                  </a:lnTo>
                  <a:cubicBezTo>
                    <a:pt x="1109785" y="175397"/>
                    <a:pt x="1101343" y="195779"/>
                    <a:pt x="1086315" y="210807"/>
                  </a:cubicBezTo>
                  <a:cubicBezTo>
                    <a:pt x="1071287" y="225835"/>
                    <a:pt x="1050905" y="234278"/>
                    <a:pt x="1029652" y="234278"/>
                  </a:cubicBezTo>
                  <a:lnTo>
                    <a:pt x="80133" y="234278"/>
                  </a:lnTo>
                  <a:cubicBezTo>
                    <a:pt x="58880" y="234278"/>
                    <a:pt x="38498" y="225835"/>
                    <a:pt x="23470" y="210807"/>
                  </a:cubicBezTo>
                  <a:cubicBezTo>
                    <a:pt x="8443" y="195779"/>
                    <a:pt x="0" y="175397"/>
                    <a:pt x="0" y="154145"/>
                  </a:cubicBezTo>
                  <a:lnTo>
                    <a:pt x="0" y="80133"/>
                  </a:lnTo>
                  <a:cubicBezTo>
                    <a:pt x="0" y="58880"/>
                    <a:pt x="8443" y="38498"/>
                    <a:pt x="23470" y="23470"/>
                  </a:cubicBezTo>
                  <a:cubicBezTo>
                    <a:pt x="38498" y="8443"/>
                    <a:pt x="58880" y="0"/>
                    <a:pt x="80133" y="0"/>
                  </a:cubicBezTo>
                  <a:close/>
                </a:path>
              </a:pathLst>
            </a:custGeom>
            <a:solidFill>
              <a:srgbClr val="FEAC3D"/>
            </a:solidFill>
            <a:ln cap="rnd">
              <a:noFill/>
              <a:prstDash val="solid"/>
              <a:round/>
            </a:ln>
          </p:spPr>
        </p:sp>
        <p:sp>
          <p:nvSpPr>
            <p:cNvPr name="TextBox 13" id="13"/>
            <p:cNvSpPr txBox="true"/>
            <p:nvPr/>
          </p:nvSpPr>
          <p:spPr>
            <a:xfrm>
              <a:off x="0" y="-38100"/>
              <a:ext cx="1109785" cy="27237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75552" y="4204763"/>
            <a:ext cx="3176393" cy="418177"/>
          </a:xfrm>
          <a:prstGeom prst="rect">
            <a:avLst/>
          </a:prstGeom>
        </p:spPr>
        <p:txBody>
          <a:bodyPr anchor="t" rtlCol="false" tIns="0" lIns="0" bIns="0" rIns="0">
            <a:spAutoFit/>
          </a:bodyPr>
          <a:lstStyle/>
          <a:p>
            <a:pPr algn="ctr">
              <a:lnSpc>
                <a:spcPts val="3438"/>
              </a:lnSpc>
            </a:pPr>
            <a:r>
              <a:rPr lang="en-US" sz="2456" b="true">
                <a:solidFill>
                  <a:srgbClr val="242424"/>
                </a:solidFill>
                <a:latin typeface="TT Hoves Bold"/>
                <a:ea typeface="TT Hoves Bold"/>
                <a:cs typeface="TT Hoves Bold"/>
                <a:sym typeface="TT Hoves Bold"/>
              </a:rPr>
              <a:t>Profitability Analysis</a:t>
            </a:r>
          </a:p>
        </p:txBody>
      </p:sp>
      <p:grpSp>
        <p:nvGrpSpPr>
          <p:cNvPr name="Group 15" id="15"/>
          <p:cNvGrpSpPr/>
          <p:nvPr/>
        </p:nvGrpSpPr>
        <p:grpSpPr>
          <a:xfrm rot="0">
            <a:off x="6757846" y="4483869"/>
            <a:ext cx="4884598" cy="3443025"/>
            <a:chOff x="0" y="0"/>
            <a:chExt cx="1516449" cy="1068905"/>
          </a:xfrm>
        </p:grpSpPr>
        <p:sp>
          <p:nvSpPr>
            <p:cNvPr name="Freeform 16" id="16"/>
            <p:cNvSpPr/>
            <p:nvPr/>
          </p:nvSpPr>
          <p:spPr>
            <a:xfrm flipH="false" flipV="false" rot="0">
              <a:off x="0" y="0"/>
              <a:ext cx="1516449" cy="1068905"/>
            </a:xfrm>
            <a:custGeom>
              <a:avLst/>
              <a:gdLst/>
              <a:ahLst/>
              <a:cxnLst/>
              <a:rect r="r" b="b" t="t" l="l"/>
              <a:pathLst>
                <a:path h="1068905" w="1516449">
                  <a:moveTo>
                    <a:pt x="58644" y="0"/>
                  </a:moveTo>
                  <a:lnTo>
                    <a:pt x="1457805" y="0"/>
                  </a:lnTo>
                  <a:cubicBezTo>
                    <a:pt x="1490193" y="0"/>
                    <a:pt x="1516449" y="26256"/>
                    <a:pt x="1516449" y="58644"/>
                  </a:cubicBezTo>
                  <a:lnTo>
                    <a:pt x="1516449" y="1010261"/>
                  </a:lnTo>
                  <a:cubicBezTo>
                    <a:pt x="1516449" y="1042650"/>
                    <a:pt x="1490193" y="1068905"/>
                    <a:pt x="1457805" y="1068905"/>
                  </a:cubicBezTo>
                  <a:lnTo>
                    <a:pt x="58644" y="1068905"/>
                  </a:lnTo>
                  <a:cubicBezTo>
                    <a:pt x="26256" y="1068905"/>
                    <a:pt x="0" y="1042650"/>
                    <a:pt x="0" y="1010261"/>
                  </a:cubicBezTo>
                  <a:lnTo>
                    <a:pt x="0" y="58644"/>
                  </a:lnTo>
                  <a:cubicBezTo>
                    <a:pt x="0" y="26256"/>
                    <a:pt x="26256" y="0"/>
                    <a:pt x="58644" y="0"/>
                  </a:cubicBezTo>
                  <a:close/>
                </a:path>
              </a:pathLst>
            </a:custGeom>
            <a:solidFill>
              <a:srgbClr val="FFFFFF"/>
            </a:solidFill>
            <a:ln w="9525" cap="rnd">
              <a:solidFill>
                <a:srgbClr val="243037"/>
              </a:solidFill>
              <a:prstDash val="solid"/>
              <a:round/>
            </a:ln>
          </p:spPr>
        </p:sp>
        <p:sp>
          <p:nvSpPr>
            <p:cNvPr name="TextBox 17" id="17"/>
            <p:cNvSpPr txBox="true"/>
            <p:nvPr/>
          </p:nvSpPr>
          <p:spPr>
            <a:xfrm>
              <a:off x="0" y="-38100"/>
              <a:ext cx="1516449" cy="1107005"/>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7987867" y="4052297"/>
            <a:ext cx="2576073" cy="754626"/>
            <a:chOff x="0" y="0"/>
            <a:chExt cx="3434763" cy="1006168"/>
          </a:xfrm>
        </p:grpSpPr>
        <p:grpSp>
          <p:nvGrpSpPr>
            <p:cNvPr name="Group 19" id="19"/>
            <p:cNvGrpSpPr/>
            <p:nvPr/>
          </p:nvGrpSpPr>
          <p:grpSpPr>
            <a:xfrm rot="0">
              <a:off x="0" y="0"/>
              <a:ext cx="3434763" cy="1006168"/>
              <a:chOff x="0" y="0"/>
              <a:chExt cx="799755" cy="234278"/>
            </a:xfrm>
          </p:grpSpPr>
          <p:sp>
            <p:nvSpPr>
              <p:cNvPr name="Freeform 20" id="20"/>
              <p:cNvSpPr/>
              <p:nvPr/>
            </p:nvSpPr>
            <p:spPr>
              <a:xfrm flipH="false" flipV="false" rot="0">
                <a:off x="0" y="0"/>
                <a:ext cx="799755" cy="234278"/>
              </a:xfrm>
              <a:custGeom>
                <a:avLst/>
                <a:gdLst/>
                <a:ahLst/>
                <a:cxnLst/>
                <a:rect r="r" b="b" t="t" l="l"/>
                <a:pathLst>
                  <a:path h="234278" w="799755">
                    <a:moveTo>
                      <a:pt x="111197" y="0"/>
                    </a:moveTo>
                    <a:lnTo>
                      <a:pt x="688558" y="0"/>
                    </a:lnTo>
                    <a:cubicBezTo>
                      <a:pt x="749971" y="0"/>
                      <a:pt x="799755" y="49785"/>
                      <a:pt x="799755" y="111197"/>
                    </a:cubicBezTo>
                    <a:lnTo>
                      <a:pt x="799755" y="123081"/>
                    </a:lnTo>
                    <a:cubicBezTo>
                      <a:pt x="799755" y="184493"/>
                      <a:pt x="749971" y="234278"/>
                      <a:pt x="688558" y="234278"/>
                    </a:cubicBezTo>
                    <a:lnTo>
                      <a:pt x="111197" y="234278"/>
                    </a:lnTo>
                    <a:cubicBezTo>
                      <a:pt x="81706" y="234278"/>
                      <a:pt x="53422" y="222562"/>
                      <a:pt x="32569" y="201709"/>
                    </a:cubicBezTo>
                    <a:cubicBezTo>
                      <a:pt x="11715" y="180855"/>
                      <a:pt x="0" y="152572"/>
                      <a:pt x="0" y="123081"/>
                    </a:cubicBezTo>
                    <a:lnTo>
                      <a:pt x="0" y="111197"/>
                    </a:lnTo>
                    <a:cubicBezTo>
                      <a:pt x="0" y="49785"/>
                      <a:pt x="49785" y="0"/>
                      <a:pt x="111197" y="0"/>
                    </a:cubicBezTo>
                    <a:close/>
                  </a:path>
                </a:pathLst>
              </a:custGeom>
              <a:solidFill>
                <a:srgbClr val="6237CF"/>
              </a:solidFill>
              <a:ln cap="rnd">
                <a:noFill/>
                <a:prstDash val="solid"/>
                <a:round/>
              </a:ln>
            </p:spPr>
          </p:sp>
          <p:sp>
            <p:nvSpPr>
              <p:cNvPr name="TextBox 21" id="21"/>
              <p:cNvSpPr txBox="true"/>
              <p:nvPr/>
            </p:nvSpPr>
            <p:spPr>
              <a:xfrm>
                <a:off x="0" y="-38100"/>
                <a:ext cx="799755" cy="272378"/>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66652" y="178822"/>
              <a:ext cx="3041238" cy="541695"/>
            </a:xfrm>
            <a:prstGeom prst="rect">
              <a:avLst/>
            </a:prstGeom>
          </p:spPr>
          <p:txBody>
            <a:bodyPr anchor="t" rtlCol="false" tIns="0" lIns="0" bIns="0" rIns="0">
              <a:spAutoFit/>
            </a:bodyPr>
            <a:lstStyle/>
            <a:p>
              <a:pPr algn="ctr">
                <a:lnSpc>
                  <a:spcPts val="3438"/>
                </a:lnSpc>
              </a:pPr>
              <a:r>
                <a:rPr lang="en-US" sz="2456" b="true">
                  <a:solidFill>
                    <a:srgbClr val="F9F5E7"/>
                  </a:solidFill>
                  <a:latin typeface="TT Hoves Bold"/>
                  <a:ea typeface="TT Hoves Bold"/>
                  <a:cs typeface="TT Hoves Bold"/>
                  <a:sym typeface="TT Hoves Bold"/>
                </a:rPr>
                <a:t>Churn Analyst</a:t>
              </a:r>
            </a:p>
          </p:txBody>
        </p:sp>
      </p:grpSp>
      <p:sp>
        <p:nvSpPr>
          <p:cNvPr name="TextBox 23" id="23"/>
          <p:cNvSpPr txBox="true"/>
          <p:nvPr/>
        </p:nvSpPr>
        <p:spPr>
          <a:xfrm rot="0">
            <a:off x="1391099" y="4938802"/>
            <a:ext cx="4600611" cy="737231"/>
          </a:xfrm>
          <a:prstGeom prst="rect">
            <a:avLst/>
          </a:prstGeom>
        </p:spPr>
        <p:txBody>
          <a:bodyPr anchor="t" rtlCol="false" tIns="0" lIns="0" bIns="0" rIns="0">
            <a:spAutoFit/>
          </a:bodyPr>
          <a:lstStyle/>
          <a:p>
            <a:pPr algn="l" marL="453424" indent="-226712" lvl="1">
              <a:lnSpc>
                <a:spcPts val="2940"/>
              </a:lnSpc>
              <a:buFont typeface="Arial"/>
              <a:buChar char="•"/>
            </a:pPr>
            <a:r>
              <a:rPr lang="en-US" sz="2100">
                <a:solidFill>
                  <a:srgbClr val="242424"/>
                </a:solidFill>
                <a:latin typeface="TT Hoves"/>
                <a:ea typeface="TT Hoves"/>
                <a:cs typeface="TT Hoves"/>
                <a:sym typeface="TT Hoves"/>
              </a:rPr>
              <a:t>Mengapa</a:t>
            </a:r>
            <a:r>
              <a:rPr lang="en-US" sz="2100">
                <a:solidFill>
                  <a:srgbClr val="242424"/>
                </a:solidFill>
                <a:latin typeface="TT Hoves"/>
                <a:ea typeface="TT Hoves"/>
                <a:cs typeface="TT Hoves"/>
                <a:sym typeface="TT Hoves"/>
              </a:rPr>
              <a:t> pertumbuhan revenue tidak sejalan dengan profitabilitas?</a:t>
            </a:r>
          </a:p>
        </p:txBody>
      </p:sp>
      <p:sp>
        <p:nvSpPr>
          <p:cNvPr name="TextBox 24" id="24"/>
          <p:cNvSpPr txBox="true"/>
          <p:nvPr/>
        </p:nvSpPr>
        <p:spPr>
          <a:xfrm rot="0">
            <a:off x="1347357" y="6942841"/>
            <a:ext cx="4649994" cy="737231"/>
          </a:xfrm>
          <a:prstGeom prst="rect">
            <a:avLst/>
          </a:prstGeom>
        </p:spPr>
        <p:txBody>
          <a:bodyPr anchor="t" rtlCol="false" tIns="0" lIns="0" bIns="0" rIns="0">
            <a:spAutoFit/>
          </a:bodyPr>
          <a:lstStyle/>
          <a:p>
            <a:pPr algn="l" marL="453424" indent="-226712" lvl="1">
              <a:lnSpc>
                <a:spcPts val="2940"/>
              </a:lnSpc>
              <a:buFont typeface="Arial"/>
              <a:buChar char="•"/>
            </a:pPr>
            <a:r>
              <a:rPr lang="en-US" sz="2100">
                <a:solidFill>
                  <a:srgbClr val="242424"/>
                </a:solidFill>
                <a:latin typeface="TT Hoves"/>
                <a:ea typeface="TT Hoves"/>
                <a:cs typeface="TT Hoves"/>
                <a:sym typeface="TT Hoves"/>
              </a:rPr>
              <a:t>Bagaimana solusi yang diterapkan perusahaan saat profit turun?</a:t>
            </a:r>
          </a:p>
        </p:txBody>
      </p:sp>
      <p:sp>
        <p:nvSpPr>
          <p:cNvPr name="TextBox 25" id="25"/>
          <p:cNvSpPr txBox="true"/>
          <p:nvPr/>
        </p:nvSpPr>
        <p:spPr>
          <a:xfrm rot="0">
            <a:off x="1341716" y="5801913"/>
            <a:ext cx="5158955" cy="1108706"/>
          </a:xfrm>
          <a:prstGeom prst="rect">
            <a:avLst/>
          </a:prstGeom>
        </p:spPr>
        <p:txBody>
          <a:bodyPr anchor="t" rtlCol="false" tIns="0" lIns="0" bIns="0" rIns="0">
            <a:spAutoFit/>
          </a:bodyPr>
          <a:lstStyle/>
          <a:p>
            <a:pPr algn="l" marL="453424" indent="-226712" lvl="1">
              <a:lnSpc>
                <a:spcPts val="2940"/>
              </a:lnSpc>
              <a:buFont typeface="Arial"/>
              <a:buChar char="•"/>
            </a:pPr>
            <a:r>
              <a:rPr lang="en-US" sz="2100">
                <a:solidFill>
                  <a:srgbClr val="242424"/>
                </a:solidFill>
                <a:latin typeface="TT Hoves"/>
                <a:ea typeface="TT Hoves"/>
                <a:cs typeface="TT Hoves"/>
                <a:sym typeface="TT Hoves"/>
              </a:rPr>
              <a:t>Bagaimana solusi yang diterapkan perusahaan untuk meningkatkan revenue?</a:t>
            </a:r>
          </a:p>
        </p:txBody>
      </p:sp>
      <p:sp>
        <p:nvSpPr>
          <p:cNvPr name="TextBox 26" id="26"/>
          <p:cNvSpPr txBox="true"/>
          <p:nvPr/>
        </p:nvSpPr>
        <p:spPr>
          <a:xfrm rot="0">
            <a:off x="6812825" y="5600087"/>
            <a:ext cx="5178569" cy="737231"/>
          </a:xfrm>
          <a:prstGeom prst="rect">
            <a:avLst/>
          </a:prstGeom>
        </p:spPr>
        <p:txBody>
          <a:bodyPr anchor="t" rtlCol="false" tIns="0" lIns="0" bIns="0" rIns="0">
            <a:spAutoFit/>
          </a:bodyPr>
          <a:lstStyle/>
          <a:p>
            <a:pPr algn="l" marL="453424" indent="-226712" lvl="1">
              <a:lnSpc>
                <a:spcPts val="2940"/>
              </a:lnSpc>
              <a:buFont typeface="Arial"/>
              <a:buChar char="•"/>
            </a:pPr>
            <a:r>
              <a:rPr lang="en-US" sz="2100">
                <a:solidFill>
                  <a:srgbClr val="242424"/>
                </a:solidFill>
                <a:latin typeface="TT Hoves"/>
                <a:ea typeface="TT Hoves"/>
                <a:cs typeface="TT Hoves"/>
                <a:sym typeface="TT Hoves"/>
              </a:rPr>
              <a:t>Identifikasi Customer rentency dan churn berdasarkan metrik RFM!</a:t>
            </a:r>
          </a:p>
        </p:txBody>
      </p:sp>
      <p:grpSp>
        <p:nvGrpSpPr>
          <p:cNvPr name="Group 27" id="27"/>
          <p:cNvGrpSpPr/>
          <p:nvPr/>
        </p:nvGrpSpPr>
        <p:grpSpPr>
          <a:xfrm rot="0">
            <a:off x="11899619" y="4400640"/>
            <a:ext cx="4835523" cy="3497284"/>
            <a:chOff x="0" y="0"/>
            <a:chExt cx="1501213" cy="1085750"/>
          </a:xfrm>
        </p:grpSpPr>
        <p:sp>
          <p:nvSpPr>
            <p:cNvPr name="Freeform 28" id="28"/>
            <p:cNvSpPr/>
            <p:nvPr/>
          </p:nvSpPr>
          <p:spPr>
            <a:xfrm flipH="false" flipV="false" rot="0">
              <a:off x="0" y="0"/>
              <a:ext cx="1501213" cy="1085750"/>
            </a:xfrm>
            <a:custGeom>
              <a:avLst/>
              <a:gdLst/>
              <a:ahLst/>
              <a:cxnLst/>
              <a:rect r="r" b="b" t="t" l="l"/>
              <a:pathLst>
                <a:path h="1085750" w="1501213">
                  <a:moveTo>
                    <a:pt x="59239" y="0"/>
                  </a:moveTo>
                  <a:lnTo>
                    <a:pt x="1441974" y="0"/>
                  </a:lnTo>
                  <a:cubicBezTo>
                    <a:pt x="1474691" y="0"/>
                    <a:pt x="1501213" y="26522"/>
                    <a:pt x="1501213" y="59239"/>
                  </a:cubicBezTo>
                  <a:lnTo>
                    <a:pt x="1501213" y="1026511"/>
                  </a:lnTo>
                  <a:cubicBezTo>
                    <a:pt x="1501213" y="1059228"/>
                    <a:pt x="1474691" y="1085750"/>
                    <a:pt x="1441974" y="1085750"/>
                  </a:cubicBezTo>
                  <a:lnTo>
                    <a:pt x="59239" y="1085750"/>
                  </a:lnTo>
                  <a:cubicBezTo>
                    <a:pt x="26522" y="1085750"/>
                    <a:pt x="0" y="1059228"/>
                    <a:pt x="0" y="1026511"/>
                  </a:cubicBezTo>
                  <a:lnTo>
                    <a:pt x="0" y="59239"/>
                  </a:lnTo>
                  <a:cubicBezTo>
                    <a:pt x="0" y="26522"/>
                    <a:pt x="26522" y="0"/>
                    <a:pt x="59239" y="0"/>
                  </a:cubicBezTo>
                  <a:close/>
                </a:path>
              </a:pathLst>
            </a:custGeom>
            <a:solidFill>
              <a:srgbClr val="FFFFFF"/>
            </a:solidFill>
            <a:ln w="9525" cap="rnd">
              <a:solidFill>
                <a:srgbClr val="243037"/>
              </a:solidFill>
              <a:prstDash val="solid"/>
              <a:round/>
            </a:ln>
          </p:spPr>
        </p:sp>
        <p:sp>
          <p:nvSpPr>
            <p:cNvPr name="TextBox 29" id="29"/>
            <p:cNvSpPr txBox="true"/>
            <p:nvPr/>
          </p:nvSpPr>
          <p:spPr>
            <a:xfrm>
              <a:off x="0" y="-38100"/>
              <a:ext cx="1501213" cy="1123850"/>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13367854" y="4060351"/>
            <a:ext cx="2242098" cy="754626"/>
            <a:chOff x="0" y="0"/>
            <a:chExt cx="696071" cy="234278"/>
          </a:xfrm>
        </p:grpSpPr>
        <p:sp>
          <p:nvSpPr>
            <p:cNvPr name="Freeform 31" id="31"/>
            <p:cNvSpPr/>
            <p:nvPr/>
          </p:nvSpPr>
          <p:spPr>
            <a:xfrm flipH="false" flipV="false" rot="0">
              <a:off x="0" y="0"/>
              <a:ext cx="696071" cy="234278"/>
            </a:xfrm>
            <a:custGeom>
              <a:avLst/>
              <a:gdLst/>
              <a:ahLst/>
              <a:cxnLst/>
              <a:rect r="r" b="b" t="t" l="l"/>
              <a:pathLst>
                <a:path h="234278" w="696071">
                  <a:moveTo>
                    <a:pt x="117139" y="0"/>
                  </a:moveTo>
                  <a:lnTo>
                    <a:pt x="578932" y="0"/>
                  </a:lnTo>
                  <a:cubicBezTo>
                    <a:pt x="643626" y="0"/>
                    <a:pt x="696071" y="52445"/>
                    <a:pt x="696071" y="117139"/>
                  </a:cubicBezTo>
                  <a:lnTo>
                    <a:pt x="696071" y="117139"/>
                  </a:lnTo>
                  <a:cubicBezTo>
                    <a:pt x="696071" y="181833"/>
                    <a:pt x="643626" y="234278"/>
                    <a:pt x="578932" y="234278"/>
                  </a:cubicBezTo>
                  <a:lnTo>
                    <a:pt x="117139" y="234278"/>
                  </a:lnTo>
                  <a:cubicBezTo>
                    <a:pt x="52445" y="234278"/>
                    <a:pt x="0" y="181833"/>
                    <a:pt x="0" y="117139"/>
                  </a:cubicBezTo>
                  <a:lnTo>
                    <a:pt x="0" y="117139"/>
                  </a:lnTo>
                  <a:cubicBezTo>
                    <a:pt x="0" y="52445"/>
                    <a:pt x="52445" y="0"/>
                    <a:pt x="117139" y="0"/>
                  </a:cubicBezTo>
                  <a:close/>
                </a:path>
              </a:pathLst>
            </a:custGeom>
            <a:solidFill>
              <a:srgbClr val="FEAC3D"/>
            </a:solidFill>
            <a:ln cap="rnd">
              <a:noFill/>
              <a:prstDash val="solid"/>
              <a:round/>
            </a:ln>
          </p:spPr>
        </p:sp>
        <p:sp>
          <p:nvSpPr>
            <p:cNvPr name="TextBox 32" id="32"/>
            <p:cNvSpPr txBox="true"/>
            <p:nvPr/>
          </p:nvSpPr>
          <p:spPr>
            <a:xfrm>
              <a:off x="0" y="-38100"/>
              <a:ext cx="696071" cy="272378"/>
            </a:xfrm>
            <a:prstGeom prst="rect">
              <a:avLst/>
            </a:prstGeom>
          </p:spPr>
          <p:txBody>
            <a:bodyPr anchor="ctr" rtlCol="false" tIns="50800" lIns="50800" bIns="50800" rIns="50800"/>
            <a:lstStyle/>
            <a:p>
              <a:pPr algn="ctr">
                <a:lnSpc>
                  <a:spcPts val="2659"/>
                </a:lnSpc>
                <a:spcBef>
                  <a:spcPct val="0"/>
                </a:spcBef>
              </a:pPr>
            </a:p>
          </p:txBody>
        </p:sp>
      </p:grpSp>
      <p:sp>
        <p:nvSpPr>
          <p:cNvPr name="TextBox 33" id="33"/>
          <p:cNvSpPr txBox="true"/>
          <p:nvPr/>
        </p:nvSpPr>
        <p:spPr>
          <a:xfrm rot="0">
            <a:off x="12900707" y="4204763"/>
            <a:ext cx="3176393" cy="418177"/>
          </a:xfrm>
          <a:prstGeom prst="rect">
            <a:avLst/>
          </a:prstGeom>
        </p:spPr>
        <p:txBody>
          <a:bodyPr anchor="t" rtlCol="false" tIns="0" lIns="0" bIns="0" rIns="0">
            <a:spAutoFit/>
          </a:bodyPr>
          <a:lstStyle/>
          <a:p>
            <a:pPr algn="ctr">
              <a:lnSpc>
                <a:spcPts val="3438"/>
              </a:lnSpc>
            </a:pPr>
            <a:r>
              <a:rPr lang="en-US" sz="2456" b="true">
                <a:solidFill>
                  <a:srgbClr val="242424"/>
                </a:solidFill>
                <a:latin typeface="TT Hoves Bold"/>
                <a:ea typeface="TT Hoves Bold"/>
                <a:cs typeface="TT Hoves Bold"/>
                <a:sym typeface="TT Hoves Bold"/>
              </a:rPr>
              <a:t>Action</a:t>
            </a:r>
          </a:p>
        </p:txBody>
      </p:sp>
      <p:sp>
        <p:nvSpPr>
          <p:cNvPr name="TextBox 34" id="34"/>
          <p:cNvSpPr txBox="true"/>
          <p:nvPr/>
        </p:nvSpPr>
        <p:spPr>
          <a:xfrm rot="0">
            <a:off x="11899619" y="5228612"/>
            <a:ext cx="5178569" cy="1851656"/>
          </a:xfrm>
          <a:prstGeom prst="rect">
            <a:avLst/>
          </a:prstGeom>
        </p:spPr>
        <p:txBody>
          <a:bodyPr anchor="t" rtlCol="false" tIns="0" lIns="0" bIns="0" rIns="0">
            <a:spAutoFit/>
          </a:bodyPr>
          <a:lstStyle/>
          <a:p>
            <a:pPr algn="l" marL="453424" indent="-226712" lvl="1">
              <a:lnSpc>
                <a:spcPts val="2940"/>
              </a:lnSpc>
              <a:buFont typeface="Arial"/>
              <a:buChar char="•"/>
            </a:pPr>
            <a:r>
              <a:rPr lang="en-US" sz="2100">
                <a:solidFill>
                  <a:srgbClr val="242424"/>
                </a:solidFill>
                <a:latin typeface="TT Hoves"/>
                <a:ea typeface="TT Hoves"/>
                <a:cs typeface="TT Hoves"/>
                <a:sym typeface="TT Hoves"/>
              </a:rPr>
              <a:t> Bagimana menyusun strategi  berdasarkan</a:t>
            </a:r>
            <a:r>
              <a:rPr lang="en-US" sz="2100">
                <a:solidFill>
                  <a:srgbClr val="242424"/>
                </a:solidFill>
                <a:latin typeface="TT Hoves"/>
                <a:ea typeface="TT Hoves"/>
                <a:cs typeface="TT Hoves"/>
                <a:sym typeface="TT Hoves"/>
              </a:rPr>
              <a:t> performa produk dan chanel untuk meningkatkan profitabilitas perusahaan di tahun 2026?</a:t>
            </a:r>
          </a:p>
        </p:txBody>
      </p:sp>
      <p:sp>
        <p:nvSpPr>
          <p:cNvPr name="Freeform 35" id="35"/>
          <p:cNvSpPr/>
          <p:nvPr/>
        </p:nvSpPr>
        <p:spPr>
          <a:xfrm flipH="true" flipV="false" rot="5400000">
            <a:off x="1194709" y="9053005"/>
            <a:ext cx="352670" cy="1059936"/>
          </a:xfrm>
          <a:custGeom>
            <a:avLst/>
            <a:gdLst/>
            <a:ahLst/>
            <a:cxnLst/>
            <a:rect r="r" b="b" t="t" l="l"/>
            <a:pathLst>
              <a:path h="1059936" w="352670">
                <a:moveTo>
                  <a:pt x="352670" y="0"/>
                </a:moveTo>
                <a:lnTo>
                  <a:pt x="0" y="0"/>
                </a:lnTo>
                <a:lnTo>
                  <a:pt x="0" y="1059936"/>
                </a:lnTo>
                <a:lnTo>
                  <a:pt x="352670" y="1059936"/>
                </a:lnTo>
                <a:lnTo>
                  <a:pt x="35267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5E7"/>
        </a:solidFill>
      </p:bgPr>
    </p:bg>
    <p:spTree>
      <p:nvGrpSpPr>
        <p:cNvPr id="1" name=""/>
        <p:cNvGrpSpPr/>
        <p:nvPr/>
      </p:nvGrpSpPr>
      <p:grpSpPr>
        <a:xfrm>
          <a:off x="0" y="0"/>
          <a:ext cx="0" cy="0"/>
          <a:chOff x="0" y="0"/>
          <a:chExt cx="0" cy="0"/>
        </a:xfrm>
      </p:grpSpPr>
      <p:sp>
        <p:nvSpPr>
          <p:cNvPr name="Freeform 2" id="2"/>
          <p:cNvSpPr/>
          <p:nvPr/>
        </p:nvSpPr>
        <p:spPr>
          <a:xfrm flipH="true" flipV="false" rot="173729">
            <a:off x="13749952" y="1825557"/>
            <a:ext cx="3664567" cy="4601625"/>
          </a:xfrm>
          <a:custGeom>
            <a:avLst/>
            <a:gdLst/>
            <a:ahLst/>
            <a:cxnLst/>
            <a:rect r="r" b="b" t="t" l="l"/>
            <a:pathLst>
              <a:path h="4601625" w="3664567">
                <a:moveTo>
                  <a:pt x="3664567" y="0"/>
                </a:moveTo>
                <a:lnTo>
                  <a:pt x="0" y="0"/>
                </a:lnTo>
                <a:lnTo>
                  <a:pt x="0" y="4601625"/>
                </a:lnTo>
                <a:lnTo>
                  <a:pt x="3664567" y="4601625"/>
                </a:lnTo>
                <a:lnTo>
                  <a:pt x="3664567" y="0"/>
                </a:lnTo>
                <a:close/>
              </a:path>
            </a:pathLst>
          </a:custGeom>
          <a:blipFill>
            <a:blip r:embed="rId2">
              <a:extLst>
                <a:ext uri="{96DAC541-7B7A-43D3-8B79-37D633B846F1}">
                  <asvg:svgBlip xmlns:asvg="http://schemas.microsoft.com/office/drawing/2016/SVG/main" r:embed="rId3"/>
                </a:ext>
              </a:extLst>
            </a:blip>
            <a:stretch>
              <a:fillRect l="0" t="0" r="0" b="0"/>
            </a:stretch>
          </a:blipFill>
          <a:ln w="9525" cap="sq">
            <a:solidFill>
              <a:srgbClr val="000000"/>
            </a:solidFill>
            <a:prstDash val="solid"/>
            <a:miter/>
          </a:ln>
        </p:spPr>
      </p:sp>
      <p:sp>
        <p:nvSpPr>
          <p:cNvPr name="Freeform 3" id="3"/>
          <p:cNvSpPr/>
          <p:nvPr/>
        </p:nvSpPr>
        <p:spPr>
          <a:xfrm flipH="false" flipV="false" rot="-447646">
            <a:off x="1118078" y="1738615"/>
            <a:ext cx="3851527" cy="4977741"/>
          </a:xfrm>
          <a:custGeom>
            <a:avLst/>
            <a:gdLst/>
            <a:ahLst/>
            <a:cxnLst/>
            <a:rect r="r" b="b" t="t" l="l"/>
            <a:pathLst>
              <a:path h="4977741" w="3851527">
                <a:moveTo>
                  <a:pt x="0" y="0"/>
                </a:moveTo>
                <a:lnTo>
                  <a:pt x="3851528" y="0"/>
                </a:lnTo>
                <a:lnTo>
                  <a:pt x="3851528" y="4977741"/>
                </a:lnTo>
                <a:lnTo>
                  <a:pt x="0" y="49777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5705">
            <a:off x="1088300" y="4873735"/>
            <a:ext cx="2866117" cy="3921304"/>
          </a:xfrm>
          <a:custGeom>
            <a:avLst/>
            <a:gdLst/>
            <a:ahLst/>
            <a:cxnLst/>
            <a:rect r="r" b="b" t="t" l="l"/>
            <a:pathLst>
              <a:path h="3921304" w="2866117">
                <a:moveTo>
                  <a:pt x="0" y="0"/>
                </a:moveTo>
                <a:lnTo>
                  <a:pt x="2866117" y="0"/>
                </a:lnTo>
                <a:lnTo>
                  <a:pt x="2866117" y="3921304"/>
                </a:lnTo>
                <a:lnTo>
                  <a:pt x="0" y="3921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565982" y="810300"/>
            <a:ext cx="15156036" cy="8666399"/>
            <a:chOff x="0" y="0"/>
            <a:chExt cx="3991713" cy="2282509"/>
          </a:xfrm>
        </p:grpSpPr>
        <p:sp>
          <p:nvSpPr>
            <p:cNvPr name="Freeform 6" id="6"/>
            <p:cNvSpPr/>
            <p:nvPr/>
          </p:nvSpPr>
          <p:spPr>
            <a:xfrm flipH="false" flipV="false" rot="0">
              <a:off x="0" y="0"/>
              <a:ext cx="3991713" cy="2282509"/>
            </a:xfrm>
            <a:custGeom>
              <a:avLst/>
              <a:gdLst/>
              <a:ahLst/>
              <a:cxnLst/>
              <a:rect r="r" b="b" t="t" l="l"/>
              <a:pathLst>
                <a:path h="2282509" w="3991713">
                  <a:moveTo>
                    <a:pt x="20433" y="0"/>
                  </a:moveTo>
                  <a:lnTo>
                    <a:pt x="3971281" y="0"/>
                  </a:lnTo>
                  <a:cubicBezTo>
                    <a:pt x="3976700" y="0"/>
                    <a:pt x="3981897" y="2153"/>
                    <a:pt x="3985729" y="5985"/>
                  </a:cubicBezTo>
                  <a:cubicBezTo>
                    <a:pt x="3989561" y="9816"/>
                    <a:pt x="3991713" y="15014"/>
                    <a:pt x="3991713" y="20433"/>
                  </a:cubicBezTo>
                  <a:lnTo>
                    <a:pt x="3991713" y="2262076"/>
                  </a:lnTo>
                  <a:cubicBezTo>
                    <a:pt x="3991713" y="2267495"/>
                    <a:pt x="3989561" y="2272692"/>
                    <a:pt x="3985729" y="2276524"/>
                  </a:cubicBezTo>
                  <a:cubicBezTo>
                    <a:pt x="3981897" y="2280356"/>
                    <a:pt x="3976700" y="2282509"/>
                    <a:pt x="3971281" y="2282509"/>
                  </a:cubicBezTo>
                  <a:lnTo>
                    <a:pt x="20433" y="2282509"/>
                  </a:lnTo>
                  <a:cubicBezTo>
                    <a:pt x="15014" y="2282509"/>
                    <a:pt x="9816" y="2280356"/>
                    <a:pt x="5985" y="2276524"/>
                  </a:cubicBezTo>
                  <a:cubicBezTo>
                    <a:pt x="2153" y="2272692"/>
                    <a:pt x="0" y="2267495"/>
                    <a:pt x="0" y="2262076"/>
                  </a:cubicBezTo>
                  <a:lnTo>
                    <a:pt x="0" y="20433"/>
                  </a:lnTo>
                  <a:cubicBezTo>
                    <a:pt x="0" y="15014"/>
                    <a:pt x="2153" y="9816"/>
                    <a:pt x="5985" y="5985"/>
                  </a:cubicBezTo>
                  <a:cubicBezTo>
                    <a:pt x="9816" y="2153"/>
                    <a:pt x="15014" y="0"/>
                    <a:pt x="20433" y="0"/>
                  </a:cubicBezTo>
                  <a:close/>
                </a:path>
              </a:pathLst>
            </a:custGeom>
            <a:solidFill>
              <a:srgbClr val="FFFFFF"/>
            </a:solidFill>
            <a:ln w="19050" cap="rnd">
              <a:solidFill>
                <a:srgbClr val="2D2621"/>
              </a:solidFill>
              <a:prstDash val="solid"/>
              <a:round/>
            </a:ln>
          </p:spPr>
        </p:sp>
        <p:sp>
          <p:nvSpPr>
            <p:cNvPr name="TextBox 7" id="7"/>
            <p:cNvSpPr txBox="true"/>
            <p:nvPr/>
          </p:nvSpPr>
          <p:spPr>
            <a:xfrm>
              <a:off x="0" y="28575"/>
              <a:ext cx="3991713" cy="2253934"/>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0">
            <a:off x="7139585" y="1028700"/>
            <a:ext cx="8968037" cy="8229600"/>
          </a:xfrm>
          <a:custGeom>
            <a:avLst/>
            <a:gdLst/>
            <a:ahLst/>
            <a:cxnLst/>
            <a:rect r="r" b="b" t="t" l="l"/>
            <a:pathLst>
              <a:path h="8229600" w="8968037">
                <a:moveTo>
                  <a:pt x="0" y="0"/>
                </a:moveTo>
                <a:lnTo>
                  <a:pt x="8968037" y="0"/>
                </a:lnTo>
                <a:lnTo>
                  <a:pt x="8968037" y="8229600"/>
                </a:lnTo>
                <a:lnTo>
                  <a:pt x="0" y="8229600"/>
                </a:lnTo>
                <a:lnTo>
                  <a:pt x="0" y="0"/>
                </a:lnTo>
                <a:close/>
              </a:path>
            </a:pathLst>
          </a:custGeom>
          <a:blipFill>
            <a:blip r:embed="rId8"/>
            <a:stretch>
              <a:fillRect l="0" t="-1617" r="0" b="0"/>
            </a:stretch>
          </a:blipFill>
          <a:ln w="9525" cap="sq">
            <a:solidFill>
              <a:srgbClr val="000000"/>
            </a:solidFill>
            <a:prstDash val="solid"/>
            <a:miter/>
          </a:ln>
        </p:spPr>
      </p:sp>
      <p:sp>
        <p:nvSpPr>
          <p:cNvPr name="TextBox 9" id="9"/>
          <p:cNvSpPr txBox="true"/>
          <p:nvPr/>
        </p:nvSpPr>
        <p:spPr>
          <a:xfrm rot="0">
            <a:off x="1808456" y="2183724"/>
            <a:ext cx="4409138" cy="1514475"/>
          </a:xfrm>
          <a:prstGeom prst="rect">
            <a:avLst/>
          </a:prstGeom>
        </p:spPr>
        <p:txBody>
          <a:bodyPr anchor="t" rtlCol="false" tIns="0" lIns="0" bIns="0" rIns="0">
            <a:spAutoFit/>
          </a:bodyPr>
          <a:lstStyle/>
          <a:p>
            <a:pPr algn="ctr" marL="0" indent="0" lvl="0">
              <a:lnSpc>
                <a:spcPts val="5995"/>
              </a:lnSpc>
              <a:spcBef>
                <a:spcPct val="0"/>
              </a:spcBef>
            </a:pPr>
            <a:r>
              <a:rPr lang="en-US" b="true" sz="4996">
                <a:solidFill>
                  <a:srgbClr val="1F0560"/>
                </a:solidFill>
                <a:latin typeface="Cy Grotesk Key Bold"/>
                <a:ea typeface="Cy Grotesk Key Bold"/>
                <a:cs typeface="Cy Grotesk Key Bold"/>
                <a:sym typeface="Cy Grotesk Key Bold"/>
              </a:rPr>
              <a:t>Dashboard</a:t>
            </a:r>
            <a:r>
              <a:rPr lang="en-US" b="true" sz="4996">
                <a:solidFill>
                  <a:srgbClr val="E3613D"/>
                </a:solidFill>
                <a:latin typeface="Cy Grotesk Key Bold"/>
                <a:ea typeface="Cy Grotesk Key Bold"/>
                <a:cs typeface="Cy Grotesk Key Bold"/>
                <a:sym typeface="Cy Grotesk Key Bold"/>
              </a:rPr>
              <a:t> Analytics</a:t>
            </a:r>
          </a:p>
        </p:txBody>
      </p:sp>
      <p:sp>
        <p:nvSpPr>
          <p:cNvPr name="TextBox 10" id="10"/>
          <p:cNvSpPr txBox="true"/>
          <p:nvPr/>
        </p:nvSpPr>
        <p:spPr>
          <a:xfrm rot="0">
            <a:off x="1808456" y="4078745"/>
            <a:ext cx="4411122" cy="4087672"/>
          </a:xfrm>
          <a:prstGeom prst="rect">
            <a:avLst/>
          </a:prstGeom>
        </p:spPr>
        <p:txBody>
          <a:bodyPr anchor="t" rtlCol="false" tIns="0" lIns="0" bIns="0" rIns="0">
            <a:spAutoFit/>
          </a:bodyPr>
          <a:lstStyle/>
          <a:p>
            <a:pPr algn="just">
              <a:lnSpc>
                <a:spcPts val="2545"/>
              </a:lnSpc>
            </a:pPr>
            <a:r>
              <a:rPr lang="en-US" sz="1818" b="true">
                <a:solidFill>
                  <a:srgbClr val="1F0560"/>
                </a:solidFill>
                <a:latin typeface="Poppins Bold"/>
                <a:ea typeface="Poppins Bold"/>
                <a:cs typeface="Poppins Bold"/>
                <a:sym typeface="Poppins Bold"/>
              </a:rPr>
              <a:t>Metabase</a:t>
            </a:r>
            <a:r>
              <a:rPr lang="en-US" sz="1818">
                <a:solidFill>
                  <a:srgbClr val="1F0560"/>
                </a:solidFill>
                <a:latin typeface="Poppins"/>
                <a:ea typeface="Poppins"/>
                <a:cs typeface="Poppins"/>
                <a:sym typeface="Poppins"/>
              </a:rPr>
              <a:t> :</a:t>
            </a:r>
          </a:p>
          <a:p>
            <a:pPr algn="l" marL="392514" indent="-196257" lvl="1">
              <a:lnSpc>
                <a:spcPts val="2545"/>
              </a:lnSpc>
              <a:buFont typeface="Arial"/>
              <a:buChar char="•"/>
            </a:pPr>
            <a:r>
              <a:rPr lang="en-US" sz="1818">
                <a:solidFill>
                  <a:srgbClr val="1F0560"/>
                </a:solidFill>
                <a:latin typeface="Poppins"/>
                <a:ea typeface="Poppins"/>
                <a:cs typeface="Poppins"/>
                <a:sym typeface="Poppins"/>
              </a:rPr>
              <a:t>Keterkaitan antara Reveneu, Network Cost dan Profit Perusahaan Berdasarkan Tahun transaksi</a:t>
            </a:r>
          </a:p>
          <a:p>
            <a:pPr algn="l" marL="392514" indent="-196257" lvl="1">
              <a:lnSpc>
                <a:spcPts val="2545"/>
              </a:lnSpc>
              <a:buFont typeface="Arial"/>
              <a:buChar char="•"/>
            </a:pPr>
            <a:r>
              <a:rPr lang="en-US" sz="1818">
                <a:solidFill>
                  <a:srgbClr val="1F0560"/>
                </a:solidFill>
                <a:latin typeface="Poppins"/>
                <a:ea typeface="Poppins"/>
                <a:cs typeface="Poppins"/>
                <a:sym typeface="Poppins"/>
              </a:rPr>
              <a:t>Korelasi antara Churn Customer dan Churn Rate berdasarkan Tahun transaksi</a:t>
            </a:r>
          </a:p>
          <a:p>
            <a:pPr algn="l" marL="392514" indent="-196257" lvl="1">
              <a:lnSpc>
                <a:spcPts val="2545"/>
              </a:lnSpc>
              <a:buFont typeface="Arial"/>
              <a:buChar char="•"/>
            </a:pPr>
            <a:r>
              <a:rPr lang="en-US" sz="1818">
                <a:solidFill>
                  <a:srgbClr val="1F0560"/>
                </a:solidFill>
                <a:latin typeface="Poppins"/>
                <a:ea typeface="Poppins"/>
                <a:cs typeface="Poppins"/>
                <a:sym typeface="Poppins"/>
              </a:rPr>
              <a:t>Perbandingan antara rata -rata Harga Produk, Nilai Kepuasan dengan jumlah Customer </a:t>
            </a:r>
          </a:p>
          <a:p>
            <a:pPr algn="l" marL="392514" indent="-196257" lvl="1">
              <a:lnSpc>
                <a:spcPts val="2545"/>
              </a:lnSpc>
              <a:buFont typeface="Arial"/>
              <a:buChar char="•"/>
            </a:pPr>
            <a:r>
              <a:rPr lang="en-US" sz="1818">
                <a:solidFill>
                  <a:srgbClr val="1F0560"/>
                </a:solidFill>
                <a:latin typeface="Poppins"/>
                <a:ea typeface="Poppins"/>
                <a:cs typeface="Poppins"/>
                <a:sym typeface="Poppins"/>
              </a:rPr>
              <a:t>Segmentasi Customer Berdasarkan Filter RFM Score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5E7"/>
        </a:solidFill>
      </p:bgPr>
    </p:bg>
    <p:spTree>
      <p:nvGrpSpPr>
        <p:cNvPr id="1" name=""/>
        <p:cNvGrpSpPr/>
        <p:nvPr/>
      </p:nvGrpSpPr>
      <p:grpSpPr>
        <a:xfrm>
          <a:off x="0" y="0"/>
          <a:ext cx="0" cy="0"/>
          <a:chOff x="0" y="0"/>
          <a:chExt cx="0" cy="0"/>
        </a:xfrm>
      </p:grpSpPr>
      <p:sp>
        <p:nvSpPr>
          <p:cNvPr name="Freeform 2" id="2"/>
          <p:cNvSpPr/>
          <p:nvPr/>
        </p:nvSpPr>
        <p:spPr>
          <a:xfrm flipH="true" flipV="false" rot="173729">
            <a:off x="13749952" y="1825557"/>
            <a:ext cx="3664567" cy="4601625"/>
          </a:xfrm>
          <a:custGeom>
            <a:avLst/>
            <a:gdLst/>
            <a:ahLst/>
            <a:cxnLst/>
            <a:rect r="r" b="b" t="t" l="l"/>
            <a:pathLst>
              <a:path h="4601625" w="3664567">
                <a:moveTo>
                  <a:pt x="3664567" y="0"/>
                </a:moveTo>
                <a:lnTo>
                  <a:pt x="0" y="0"/>
                </a:lnTo>
                <a:lnTo>
                  <a:pt x="0" y="4601625"/>
                </a:lnTo>
                <a:lnTo>
                  <a:pt x="3664567" y="4601625"/>
                </a:lnTo>
                <a:lnTo>
                  <a:pt x="3664567" y="0"/>
                </a:lnTo>
                <a:close/>
              </a:path>
            </a:pathLst>
          </a:custGeom>
          <a:blipFill>
            <a:blip r:embed="rId2">
              <a:extLst>
                <a:ext uri="{96DAC541-7B7A-43D3-8B79-37D633B846F1}">
                  <asvg:svgBlip xmlns:asvg="http://schemas.microsoft.com/office/drawing/2016/SVG/main" r:embed="rId3"/>
                </a:ext>
              </a:extLst>
            </a:blip>
            <a:stretch>
              <a:fillRect l="0" t="0" r="0" b="0"/>
            </a:stretch>
          </a:blipFill>
          <a:ln w="9525" cap="sq">
            <a:solidFill>
              <a:srgbClr val="000000"/>
            </a:solidFill>
            <a:prstDash val="solid"/>
            <a:miter/>
          </a:ln>
        </p:spPr>
      </p:sp>
      <p:sp>
        <p:nvSpPr>
          <p:cNvPr name="Freeform 3" id="3"/>
          <p:cNvSpPr/>
          <p:nvPr/>
        </p:nvSpPr>
        <p:spPr>
          <a:xfrm flipH="false" flipV="false" rot="-447646">
            <a:off x="1118078" y="1738615"/>
            <a:ext cx="3851527" cy="4977741"/>
          </a:xfrm>
          <a:custGeom>
            <a:avLst/>
            <a:gdLst/>
            <a:ahLst/>
            <a:cxnLst/>
            <a:rect r="r" b="b" t="t" l="l"/>
            <a:pathLst>
              <a:path h="4977741" w="3851527">
                <a:moveTo>
                  <a:pt x="0" y="0"/>
                </a:moveTo>
                <a:lnTo>
                  <a:pt x="3851528" y="0"/>
                </a:lnTo>
                <a:lnTo>
                  <a:pt x="3851528" y="4977741"/>
                </a:lnTo>
                <a:lnTo>
                  <a:pt x="0" y="49777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5705">
            <a:off x="1088300" y="4873735"/>
            <a:ext cx="2866117" cy="3921304"/>
          </a:xfrm>
          <a:custGeom>
            <a:avLst/>
            <a:gdLst/>
            <a:ahLst/>
            <a:cxnLst/>
            <a:rect r="r" b="b" t="t" l="l"/>
            <a:pathLst>
              <a:path h="3921304" w="2866117">
                <a:moveTo>
                  <a:pt x="0" y="0"/>
                </a:moveTo>
                <a:lnTo>
                  <a:pt x="2866117" y="0"/>
                </a:lnTo>
                <a:lnTo>
                  <a:pt x="2866117" y="3921304"/>
                </a:lnTo>
                <a:lnTo>
                  <a:pt x="0" y="3921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565982" y="810300"/>
            <a:ext cx="15156036" cy="8666399"/>
            <a:chOff x="0" y="0"/>
            <a:chExt cx="3991713" cy="2282509"/>
          </a:xfrm>
        </p:grpSpPr>
        <p:sp>
          <p:nvSpPr>
            <p:cNvPr name="Freeform 6" id="6"/>
            <p:cNvSpPr/>
            <p:nvPr/>
          </p:nvSpPr>
          <p:spPr>
            <a:xfrm flipH="false" flipV="false" rot="0">
              <a:off x="0" y="0"/>
              <a:ext cx="3991713" cy="2282509"/>
            </a:xfrm>
            <a:custGeom>
              <a:avLst/>
              <a:gdLst/>
              <a:ahLst/>
              <a:cxnLst/>
              <a:rect r="r" b="b" t="t" l="l"/>
              <a:pathLst>
                <a:path h="2282509" w="3991713">
                  <a:moveTo>
                    <a:pt x="20433" y="0"/>
                  </a:moveTo>
                  <a:lnTo>
                    <a:pt x="3971281" y="0"/>
                  </a:lnTo>
                  <a:cubicBezTo>
                    <a:pt x="3976700" y="0"/>
                    <a:pt x="3981897" y="2153"/>
                    <a:pt x="3985729" y="5985"/>
                  </a:cubicBezTo>
                  <a:cubicBezTo>
                    <a:pt x="3989561" y="9816"/>
                    <a:pt x="3991713" y="15014"/>
                    <a:pt x="3991713" y="20433"/>
                  </a:cubicBezTo>
                  <a:lnTo>
                    <a:pt x="3991713" y="2262076"/>
                  </a:lnTo>
                  <a:cubicBezTo>
                    <a:pt x="3991713" y="2267495"/>
                    <a:pt x="3989561" y="2272692"/>
                    <a:pt x="3985729" y="2276524"/>
                  </a:cubicBezTo>
                  <a:cubicBezTo>
                    <a:pt x="3981897" y="2280356"/>
                    <a:pt x="3976700" y="2282509"/>
                    <a:pt x="3971281" y="2282509"/>
                  </a:cubicBezTo>
                  <a:lnTo>
                    <a:pt x="20433" y="2282509"/>
                  </a:lnTo>
                  <a:cubicBezTo>
                    <a:pt x="15014" y="2282509"/>
                    <a:pt x="9816" y="2280356"/>
                    <a:pt x="5985" y="2276524"/>
                  </a:cubicBezTo>
                  <a:cubicBezTo>
                    <a:pt x="2153" y="2272692"/>
                    <a:pt x="0" y="2267495"/>
                    <a:pt x="0" y="2262076"/>
                  </a:cubicBezTo>
                  <a:lnTo>
                    <a:pt x="0" y="20433"/>
                  </a:lnTo>
                  <a:cubicBezTo>
                    <a:pt x="0" y="15014"/>
                    <a:pt x="2153" y="9816"/>
                    <a:pt x="5985" y="5985"/>
                  </a:cubicBezTo>
                  <a:cubicBezTo>
                    <a:pt x="9816" y="2153"/>
                    <a:pt x="15014" y="0"/>
                    <a:pt x="20433" y="0"/>
                  </a:cubicBezTo>
                  <a:close/>
                </a:path>
              </a:pathLst>
            </a:custGeom>
            <a:solidFill>
              <a:srgbClr val="FFFFFF"/>
            </a:solidFill>
            <a:ln w="19050" cap="rnd">
              <a:solidFill>
                <a:srgbClr val="2D2621"/>
              </a:solidFill>
              <a:prstDash val="solid"/>
              <a:round/>
            </a:ln>
          </p:spPr>
        </p:sp>
        <p:sp>
          <p:nvSpPr>
            <p:cNvPr name="TextBox 7" id="7"/>
            <p:cNvSpPr txBox="true"/>
            <p:nvPr/>
          </p:nvSpPr>
          <p:spPr>
            <a:xfrm>
              <a:off x="0" y="28575"/>
              <a:ext cx="3991713" cy="2253934"/>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0">
            <a:off x="5975120" y="2344437"/>
            <a:ext cx="10349732" cy="5847598"/>
          </a:xfrm>
          <a:custGeom>
            <a:avLst/>
            <a:gdLst/>
            <a:ahLst/>
            <a:cxnLst/>
            <a:rect r="r" b="b" t="t" l="l"/>
            <a:pathLst>
              <a:path h="5847598" w="10349732">
                <a:moveTo>
                  <a:pt x="0" y="0"/>
                </a:moveTo>
                <a:lnTo>
                  <a:pt x="10349732" y="0"/>
                </a:lnTo>
                <a:lnTo>
                  <a:pt x="10349732" y="5847599"/>
                </a:lnTo>
                <a:lnTo>
                  <a:pt x="0" y="5847599"/>
                </a:lnTo>
                <a:lnTo>
                  <a:pt x="0" y="0"/>
                </a:lnTo>
                <a:close/>
              </a:path>
            </a:pathLst>
          </a:custGeom>
          <a:blipFill>
            <a:blip r:embed="rId8"/>
            <a:stretch>
              <a:fillRect l="0" t="0" r="0" b="0"/>
            </a:stretch>
          </a:blipFill>
          <a:ln w="19050" cap="sq">
            <a:solidFill>
              <a:srgbClr val="000000"/>
            </a:solidFill>
            <a:prstDash val="solid"/>
            <a:miter/>
          </a:ln>
        </p:spPr>
      </p:sp>
      <p:sp>
        <p:nvSpPr>
          <p:cNvPr name="TextBox 9" id="9"/>
          <p:cNvSpPr txBox="true"/>
          <p:nvPr/>
        </p:nvSpPr>
        <p:spPr>
          <a:xfrm rot="0">
            <a:off x="1565982" y="2498049"/>
            <a:ext cx="4409138" cy="1514475"/>
          </a:xfrm>
          <a:prstGeom prst="rect">
            <a:avLst/>
          </a:prstGeom>
        </p:spPr>
        <p:txBody>
          <a:bodyPr anchor="t" rtlCol="false" tIns="0" lIns="0" bIns="0" rIns="0">
            <a:spAutoFit/>
          </a:bodyPr>
          <a:lstStyle/>
          <a:p>
            <a:pPr algn="ctr" marL="0" indent="0" lvl="0">
              <a:lnSpc>
                <a:spcPts val="5995"/>
              </a:lnSpc>
              <a:spcBef>
                <a:spcPct val="0"/>
              </a:spcBef>
            </a:pPr>
            <a:r>
              <a:rPr lang="en-US" b="true" sz="4996">
                <a:solidFill>
                  <a:srgbClr val="1F0560"/>
                </a:solidFill>
                <a:latin typeface="Cy Grotesk Key Bold"/>
                <a:ea typeface="Cy Grotesk Key Bold"/>
                <a:cs typeface="Cy Grotesk Key Bold"/>
                <a:sym typeface="Cy Grotesk Key Bold"/>
              </a:rPr>
              <a:t>Dashboard</a:t>
            </a:r>
            <a:r>
              <a:rPr lang="en-US" b="true" sz="4996">
                <a:solidFill>
                  <a:srgbClr val="E3613D"/>
                </a:solidFill>
                <a:latin typeface="Cy Grotesk Key Bold"/>
                <a:ea typeface="Cy Grotesk Key Bold"/>
                <a:cs typeface="Cy Grotesk Key Bold"/>
                <a:sym typeface="Cy Grotesk Key Bold"/>
              </a:rPr>
              <a:t> Analytics</a:t>
            </a:r>
          </a:p>
        </p:txBody>
      </p:sp>
      <p:sp>
        <p:nvSpPr>
          <p:cNvPr name="TextBox 10" id="10"/>
          <p:cNvSpPr txBox="true"/>
          <p:nvPr/>
        </p:nvSpPr>
        <p:spPr>
          <a:xfrm rot="0">
            <a:off x="1809448" y="4320404"/>
            <a:ext cx="4248323" cy="3459022"/>
          </a:xfrm>
          <a:prstGeom prst="rect">
            <a:avLst/>
          </a:prstGeom>
        </p:spPr>
        <p:txBody>
          <a:bodyPr anchor="t" rtlCol="false" tIns="0" lIns="0" bIns="0" rIns="0">
            <a:spAutoFit/>
          </a:bodyPr>
          <a:lstStyle/>
          <a:p>
            <a:pPr algn="just">
              <a:lnSpc>
                <a:spcPts val="2545"/>
              </a:lnSpc>
            </a:pPr>
            <a:r>
              <a:rPr lang="en-US" sz="1818" b="true">
                <a:solidFill>
                  <a:srgbClr val="1F0560"/>
                </a:solidFill>
                <a:latin typeface="Poppins Bold"/>
                <a:ea typeface="Poppins Bold"/>
                <a:cs typeface="Poppins Bold"/>
                <a:sym typeface="Poppins Bold"/>
              </a:rPr>
              <a:t>Power BI:</a:t>
            </a:r>
          </a:p>
          <a:p>
            <a:pPr algn="l" marL="392514" indent="-196257" lvl="1">
              <a:lnSpc>
                <a:spcPts val="2545"/>
              </a:lnSpc>
              <a:buFont typeface="Arial"/>
              <a:buChar char="•"/>
            </a:pPr>
            <a:r>
              <a:rPr lang="en-US" sz="1818">
                <a:solidFill>
                  <a:srgbClr val="1F0560"/>
                </a:solidFill>
                <a:latin typeface="Poppins"/>
                <a:ea typeface="Poppins"/>
                <a:cs typeface="Poppins"/>
                <a:sym typeface="Poppins"/>
              </a:rPr>
              <a:t>Perbandingan target ARPU vs revenue 2023-2025</a:t>
            </a:r>
          </a:p>
          <a:p>
            <a:pPr algn="l" marL="392514" indent="-196257" lvl="1">
              <a:lnSpc>
                <a:spcPts val="2545"/>
              </a:lnSpc>
              <a:buFont typeface="Arial"/>
              <a:buChar char="•"/>
            </a:pPr>
            <a:r>
              <a:rPr lang="en-US" sz="1818">
                <a:solidFill>
                  <a:srgbClr val="1F0560"/>
                </a:solidFill>
                <a:latin typeface="Poppins"/>
                <a:ea typeface="Poppins"/>
                <a:cs typeface="Poppins"/>
                <a:sym typeface="Poppins"/>
              </a:rPr>
              <a:t>Persentase Customer berdasarkan Segmentasi</a:t>
            </a:r>
          </a:p>
          <a:p>
            <a:pPr algn="l" marL="392514" indent="-196257" lvl="1">
              <a:lnSpc>
                <a:spcPts val="2545"/>
              </a:lnSpc>
              <a:buFont typeface="Arial"/>
              <a:buChar char="•"/>
            </a:pPr>
            <a:r>
              <a:rPr lang="en-US" sz="1818">
                <a:solidFill>
                  <a:srgbClr val="1F0560"/>
                </a:solidFill>
                <a:latin typeface="Poppins"/>
                <a:ea typeface="Poppins"/>
                <a:cs typeface="Poppins"/>
                <a:sym typeface="Poppins"/>
              </a:rPr>
              <a:t>Network cost per tahun</a:t>
            </a:r>
          </a:p>
          <a:p>
            <a:pPr algn="l" marL="392514" indent="-196257" lvl="1">
              <a:lnSpc>
                <a:spcPts val="2545"/>
              </a:lnSpc>
              <a:buFont typeface="Arial"/>
              <a:buChar char="•"/>
            </a:pPr>
            <a:r>
              <a:rPr lang="en-US" sz="1818">
                <a:solidFill>
                  <a:srgbClr val="1F0560"/>
                </a:solidFill>
                <a:latin typeface="Poppins"/>
                <a:ea typeface="Poppins"/>
                <a:cs typeface="Poppins"/>
                <a:sym typeface="Poppins"/>
              </a:rPr>
              <a:t>Perbandingan customer retention vs churn berdasarkan channel</a:t>
            </a:r>
          </a:p>
          <a:p>
            <a:pPr algn="l" marL="392514" indent="-196257" lvl="1">
              <a:lnSpc>
                <a:spcPts val="2545"/>
              </a:lnSpc>
              <a:buFont typeface="Arial"/>
              <a:buChar char="•"/>
            </a:pPr>
            <a:r>
              <a:rPr lang="en-US" sz="1818">
                <a:solidFill>
                  <a:srgbClr val="1F0560"/>
                </a:solidFill>
                <a:latin typeface="Poppins"/>
                <a:ea typeface="Poppins"/>
                <a:cs typeface="Poppins"/>
                <a:sym typeface="Poppins"/>
              </a:rPr>
              <a:t>Jumlah pengguna setiap package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5254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1263849" y="3988436"/>
            <a:ext cx="6278243" cy="2588806"/>
          </a:xfrm>
          <a:custGeom>
            <a:avLst/>
            <a:gdLst/>
            <a:ahLst/>
            <a:cxnLst/>
            <a:rect r="r" b="b" t="t" l="l"/>
            <a:pathLst>
              <a:path h="2588806" w="6278243">
                <a:moveTo>
                  <a:pt x="0" y="0"/>
                </a:moveTo>
                <a:lnTo>
                  <a:pt x="6278243" y="0"/>
                </a:lnTo>
                <a:lnTo>
                  <a:pt x="6278243" y="2588807"/>
                </a:lnTo>
                <a:lnTo>
                  <a:pt x="0" y="2588807"/>
                </a:lnTo>
                <a:lnTo>
                  <a:pt x="0" y="0"/>
                </a:lnTo>
                <a:close/>
              </a:path>
            </a:pathLst>
          </a:custGeom>
          <a:blipFill>
            <a:blip r:embed="rId2"/>
            <a:stretch>
              <a:fillRect l="0" t="0" r="0" b="0"/>
            </a:stretch>
          </a:blipFill>
          <a:ln w="9525" cap="sq">
            <a:solidFill>
              <a:srgbClr val="000000"/>
            </a:solidFill>
            <a:prstDash val="solid"/>
            <a:miter/>
          </a:ln>
        </p:spPr>
      </p:sp>
      <p:grpSp>
        <p:nvGrpSpPr>
          <p:cNvPr name="Group 12" id="12"/>
          <p:cNvGrpSpPr/>
          <p:nvPr/>
        </p:nvGrpSpPr>
        <p:grpSpPr>
          <a:xfrm rot="0">
            <a:off x="11487150" y="5261314"/>
            <a:ext cx="737235" cy="460057"/>
            <a:chOff x="0" y="0"/>
            <a:chExt cx="982980" cy="613410"/>
          </a:xfrm>
        </p:grpSpPr>
        <p:sp>
          <p:nvSpPr>
            <p:cNvPr name="Freeform 13" id="13"/>
            <p:cNvSpPr/>
            <p:nvPr/>
          </p:nvSpPr>
          <p:spPr>
            <a:xfrm flipH="false" flipV="false" rot="0">
              <a:off x="34621" y="54754"/>
              <a:ext cx="907892" cy="563763"/>
            </a:xfrm>
            <a:custGeom>
              <a:avLst/>
              <a:gdLst/>
              <a:ahLst/>
              <a:cxnLst/>
              <a:rect r="r" b="b" t="t" l="l"/>
              <a:pathLst>
                <a:path h="563763" w="907892">
                  <a:moveTo>
                    <a:pt x="16179" y="46846"/>
                  </a:moveTo>
                  <a:cubicBezTo>
                    <a:pt x="808659" y="-1414"/>
                    <a:pt x="873429" y="-16654"/>
                    <a:pt x="896289" y="21446"/>
                  </a:cubicBezTo>
                  <a:cubicBezTo>
                    <a:pt x="935659" y="84946"/>
                    <a:pt x="870889" y="370696"/>
                    <a:pt x="761669" y="458326"/>
                  </a:cubicBezTo>
                  <a:cubicBezTo>
                    <a:pt x="624509" y="566276"/>
                    <a:pt x="167309" y="605646"/>
                    <a:pt x="53009" y="507856"/>
                  </a:cubicBezTo>
                  <a:cubicBezTo>
                    <a:pt x="-38431" y="429116"/>
                    <a:pt x="16179" y="46846"/>
                    <a:pt x="16179" y="46846"/>
                  </a:cubicBezTo>
                </a:path>
              </a:pathLst>
            </a:custGeom>
            <a:solidFill>
              <a:srgbClr val="F99682">
                <a:alpha val="24706"/>
              </a:srgbClr>
            </a:solidFill>
            <a:ln cap="sq">
              <a:noFill/>
              <a:prstDash val="solid"/>
              <a:miter/>
            </a:ln>
          </p:spPr>
        </p:sp>
      </p:grpSp>
      <p:grpSp>
        <p:nvGrpSpPr>
          <p:cNvPr name="Group 14" id="14"/>
          <p:cNvGrpSpPr/>
          <p:nvPr/>
        </p:nvGrpSpPr>
        <p:grpSpPr>
          <a:xfrm rot="0">
            <a:off x="12415838" y="5247979"/>
            <a:ext cx="1590675" cy="459105"/>
            <a:chOff x="0" y="0"/>
            <a:chExt cx="2120900" cy="612140"/>
          </a:xfrm>
        </p:grpSpPr>
        <p:sp>
          <p:nvSpPr>
            <p:cNvPr name="Freeform 15" id="15"/>
            <p:cNvSpPr/>
            <p:nvPr/>
          </p:nvSpPr>
          <p:spPr>
            <a:xfrm flipH="false" flipV="false" rot="0">
              <a:off x="45054" y="50800"/>
              <a:ext cx="2041741" cy="514751"/>
            </a:xfrm>
            <a:custGeom>
              <a:avLst/>
              <a:gdLst/>
              <a:ahLst/>
              <a:cxnLst/>
              <a:rect r="r" b="b" t="t" l="l"/>
              <a:pathLst>
                <a:path h="514751" w="2041741">
                  <a:moveTo>
                    <a:pt x="131476" y="0"/>
                  </a:moveTo>
                  <a:cubicBezTo>
                    <a:pt x="435006" y="62230"/>
                    <a:pt x="982376" y="52070"/>
                    <a:pt x="1260506" y="46990"/>
                  </a:cubicBezTo>
                  <a:cubicBezTo>
                    <a:pt x="1458626" y="43180"/>
                    <a:pt x="1630076" y="20320"/>
                    <a:pt x="1771046" y="24130"/>
                  </a:cubicBezTo>
                  <a:cubicBezTo>
                    <a:pt x="1870106" y="25400"/>
                    <a:pt x="1985676" y="-5080"/>
                    <a:pt x="2023776" y="45720"/>
                  </a:cubicBezTo>
                  <a:cubicBezTo>
                    <a:pt x="2074576" y="115570"/>
                    <a:pt x="2009806" y="426720"/>
                    <a:pt x="1927256" y="492760"/>
                  </a:cubicBezTo>
                  <a:cubicBezTo>
                    <a:pt x="1857406" y="547370"/>
                    <a:pt x="1711356" y="482600"/>
                    <a:pt x="1616106" y="486410"/>
                  </a:cubicBezTo>
                  <a:cubicBezTo>
                    <a:pt x="1532286" y="490220"/>
                    <a:pt x="1473866" y="506730"/>
                    <a:pt x="1381156" y="510540"/>
                  </a:cubicBezTo>
                  <a:cubicBezTo>
                    <a:pt x="1242726" y="514350"/>
                    <a:pt x="1034446" y="491490"/>
                    <a:pt x="864266" y="490220"/>
                  </a:cubicBezTo>
                  <a:cubicBezTo>
                    <a:pt x="699166" y="488950"/>
                    <a:pt x="508666" y="506730"/>
                    <a:pt x="374046" y="500380"/>
                  </a:cubicBezTo>
                  <a:cubicBezTo>
                    <a:pt x="280066" y="496570"/>
                    <a:pt x="202596" y="488950"/>
                    <a:pt x="135286" y="477520"/>
                  </a:cubicBezTo>
                  <a:cubicBezTo>
                    <a:pt x="85756" y="468630"/>
                    <a:pt x="26066" y="480060"/>
                    <a:pt x="5746" y="444500"/>
                  </a:cubicBezTo>
                  <a:cubicBezTo>
                    <a:pt x="-32354" y="379730"/>
                    <a:pt x="131476" y="0"/>
                    <a:pt x="131476" y="0"/>
                  </a:cubicBezTo>
                </a:path>
              </a:pathLst>
            </a:custGeom>
            <a:solidFill>
              <a:srgbClr val="F99682">
                <a:alpha val="24706"/>
              </a:srgbClr>
            </a:solidFill>
            <a:ln cap="sq">
              <a:noFill/>
              <a:prstDash val="solid"/>
              <a:miter/>
            </a:ln>
          </p:spPr>
        </p:sp>
      </p:grpSp>
      <p:grpSp>
        <p:nvGrpSpPr>
          <p:cNvPr name="Group 16" id="16"/>
          <p:cNvGrpSpPr/>
          <p:nvPr/>
        </p:nvGrpSpPr>
        <p:grpSpPr>
          <a:xfrm rot="0">
            <a:off x="16044862" y="5234731"/>
            <a:ext cx="1323023" cy="478155"/>
            <a:chOff x="0" y="0"/>
            <a:chExt cx="1764030" cy="637540"/>
          </a:xfrm>
        </p:grpSpPr>
        <p:sp>
          <p:nvSpPr>
            <p:cNvPr name="Freeform 17" id="17"/>
            <p:cNvSpPr/>
            <p:nvPr/>
          </p:nvSpPr>
          <p:spPr>
            <a:xfrm flipH="false" flipV="false" rot="0">
              <a:off x="19215" y="50800"/>
              <a:ext cx="1750130" cy="562460"/>
            </a:xfrm>
            <a:custGeom>
              <a:avLst/>
              <a:gdLst/>
              <a:ahLst/>
              <a:cxnLst/>
              <a:rect r="r" b="b" t="t" l="l"/>
              <a:pathLst>
                <a:path h="562460" w="1750130">
                  <a:moveTo>
                    <a:pt x="63335" y="0"/>
                  </a:moveTo>
                  <a:cubicBezTo>
                    <a:pt x="1349845" y="82550"/>
                    <a:pt x="1597495" y="-27940"/>
                    <a:pt x="1686395" y="55880"/>
                  </a:cubicBezTo>
                  <a:cubicBezTo>
                    <a:pt x="1767675" y="133350"/>
                    <a:pt x="1772755" y="429260"/>
                    <a:pt x="1692745" y="513080"/>
                  </a:cubicBezTo>
                  <a:cubicBezTo>
                    <a:pt x="1603845" y="607060"/>
                    <a:pt x="1338415" y="538480"/>
                    <a:pt x="1116165" y="535940"/>
                  </a:cubicBezTo>
                  <a:cubicBezTo>
                    <a:pt x="811365" y="530860"/>
                    <a:pt x="163665" y="613410"/>
                    <a:pt x="31585" y="461010"/>
                  </a:cubicBezTo>
                  <a:cubicBezTo>
                    <a:pt x="-54775" y="360680"/>
                    <a:pt x="63335" y="0"/>
                    <a:pt x="63335" y="0"/>
                  </a:cubicBezTo>
                </a:path>
              </a:pathLst>
            </a:custGeom>
            <a:solidFill>
              <a:srgbClr val="F99682">
                <a:alpha val="24706"/>
              </a:srgbClr>
            </a:solidFill>
            <a:ln cap="sq">
              <a:noFill/>
              <a:prstDash val="solid"/>
              <a:miter/>
            </a:ln>
          </p:spPr>
        </p:sp>
      </p:grpSp>
      <p:grpSp>
        <p:nvGrpSpPr>
          <p:cNvPr name="Group 18" id="18"/>
          <p:cNvGrpSpPr/>
          <p:nvPr/>
        </p:nvGrpSpPr>
        <p:grpSpPr>
          <a:xfrm rot="0">
            <a:off x="15873858" y="5234731"/>
            <a:ext cx="1665031" cy="513224"/>
            <a:chOff x="0" y="0"/>
            <a:chExt cx="342599" cy="105602"/>
          </a:xfrm>
        </p:grpSpPr>
        <p:sp>
          <p:nvSpPr>
            <p:cNvPr name="Freeform 19" id="19"/>
            <p:cNvSpPr/>
            <p:nvPr/>
          </p:nvSpPr>
          <p:spPr>
            <a:xfrm flipH="false" flipV="false" rot="0">
              <a:off x="0" y="0"/>
              <a:ext cx="342599" cy="105602"/>
            </a:xfrm>
            <a:custGeom>
              <a:avLst/>
              <a:gdLst/>
              <a:ahLst/>
              <a:cxnLst/>
              <a:rect r="r" b="b" t="t" l="l"/>
              <a:pathLst>
                <a:path h="105602" w="342599">
                  <a:moveTo>
                    <a:pt x="52801" y="0"/>
                  </a:moveTo>
                  <a:lnTo>
                    <a:pt x="289798" y="0"/>
                  </a:lnTo>
                  <a:cubicBezTo>
                    <a:pt x="303802" y="0"/>
                    <a:pt x="317232" y="5563"/>
                    <a:pt x="327134" y="15465"/>
                  </a:cubicBezTo>
                  <a:cubicBezTo>
                    <a:pt x="337036" y="25367"/>
                    <a:pt x="342599" y="38797"/>
                    <a:pt x="342599" y="52801"/>
                  </a:cubicBezTo>
                  <a:lnTo>
                    <a:pt x="342599" y="52801"/>
                  </a:lnTo>
                  <a:cubicBezTo>
                    <a:pt x="342599" y="81962"/>
                    <a:pt x="318959" y="105602"/>
                    <a:pt x="289798" y="105602"/>
                  </a:cubicBezTo>
                  <a:lnTo>
                    <a:pt x="52801" y="105602"/>
                  </a:lnTo>
                  <a:cubicBezTo>
                    <a:pt x="23640" y="105602"/>
                    <a:pt x="0" y="81962"/>
                    <a:pt x="0" y="52801"/>
                  </a:cubicBezTo>
                  <a:lnTo>
                    <a:pt x="0" y="52801"/>
                  </a:lnTo>
                  <a:cubicBezTo>
                    <a:pt x="0" y="23640"/>
                    <a:pt x="23640" y="0"/>
                    <a:pt x="52801" y="0"/>
                  </a:cubicBezTo>
                  <a:close/>
                </a:path>
              </a:pathLst>
            </a:custGeom>
            <a:ln w="38100" cap="rnd">
              <a:solidFill>
                <a:srgbClr val="6237CF"/>
              </a:solidFill>
              <a:prstDash val="solid"/>
              <a:round/>
            </a:ln>
          </p:spPr>
        </p:sp>
        <p:sp>
          <p:nvSpPr>
            <p:cNvPr name="TextBox 20" id="20"/>
            <p:cNvSpPr txBox="true"/>
            <p:nvPr/>
          </p:nvSpPr>
          <p:spPr>
            <a:xfrm>
              <a:off x="0" y="-38100"/>
              <a:ext cx="342599" cy="143702"/>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1023743" y="1397121"/>
            <a:ext cx="9769720" cy="5180122"/>
          </a:xfrm>
          <a:custGeom>
            <a:avLst/>
            <a:gdLst/>
            <a:ahLst/>
            <a:cxnLst/>
            <a:rect r="r" b="b" t="t" l="l"/>
            <a:pathLst>
              <a:path h="5180122" w="9769720">
                <a:moveTo>
                  <a:pt x="0" y="0"/>
                </a:moveTo>
                <a:lnTo>
                  <a:pt x="9769721" y="0"/>
                </a:lnTo>
                <a:lnTo>
                  <a:pt x="9769721" y="5180122"/>
                </a:lnTo>
                <a:lnTo>
                  <a:pt x="0" y="5180122"/>
                </a:lnTo>
                <a:lnTo>
                  <a:pt x="0" y="0"/>
                </a:lnTo>
                <a:close/>
              </a:path>
            </a:pathLst>
          </a:custGeom>
          <a:blipFill>
            <a:blip r:embed="rId3"/>
            <a:stretch>
              <a:fillRect l="0" t="0" r="0" b="-9388"/>
            </a:stretch>
          </a:blipFill>
          <a:ln w="9525" cap="sq">
            <a:solidFill>
              <a:srgbClr val="000000"/>
            </a:solidFill>
            <a:prstDash val="solid"/>
            <a:miter/>
          </a:ln>
        </p:spPr>
      </p:sp>
      <p:sp>
        <p:nvSpPr>
          <p:cNvPr name="TextBox 22" id="22"/>
          <p:cNvSpPr txBox="true"/>
          <p:nvPr/>
        </p:nvSpPr>
        <p:spPr>
          <a:xfrm rot="0">
            <a:off x="11075594" y="1352005"/>
            <a:ext cx="6472945" cy="1461752"/>
          </a:xfrm>
          <a:prstGeom prst="rect">
            <a:avLst/>
          </a:prstGeom>
        </p:spPr>
        <p:txBody>
          <a:bodyPr anchor="t" rtlCol="false" tIns="0" lIns="0" bIns="0" rIns="0">
            <a:spAutoFit/>
          </a:bodyPr>
          <a:lstStyle/>
          <a:p>
            <a:pPr algn="r">
              <a:lnSpc>
                <a:spcPts val="3955"/>
              </a:lnSpc>
            </a:pPr>
            <a:r>
              <a:rPr lang="en-US" sz="2825" b="true">
                <a:solidFill>
                  <a:srgbClr val="1F0560"/>
                </a:solidFill>
                <a:latin typeface="TT Hoves Bold"/>
                <a:ea typeface="TT Hoves Bold"/>
                <a:cs typeface="TT Hoves Bold"/>
                <a:sym typeface="TT Hoves Bold"/>
              </a:rPr>
              <a:t>Keterkaitan antara Reveneu, Network Cost dan Profit Perusahaan</a:t>
            </a:r>
            <a:r>
              <a:rPr lang="en-US" b="true" sz="2825">
                <a:solidFill>
                  <a:srgbClr val="FEAC3D"/>
                </a:solidFill>
                <a:latin typeface="TT Hoves Bold"/>
                <a:ea typeface="TT Hoves Bold"/>
                <a:cs typeface="TT Hoves Bold"/>
                <a:sym typeface="TT Hoves Bold"/>
              </a:rPr>
              <a:t> Berdasarkan Tahun transaksi</a:t>
            </a:r>
          </a:p>
        </p:txBody>
      </p:sp>
      <p:sp>
        <p:nvSpPr>
          <p:cNvPr name="TextBox 23" id="23"/>
          <p:cNvSpPr txBox="true"/>
          <p:nvPr/>
        </p:nvSpPr>
        <p:spPr>
          <a:xfrm rot="0">
            <a:off x="15580185" y="3191977"/>
            <a:ext cx="1961907" cy="370615"/>
          </a:xfrm>
          <a:prstGeom prst="rect">
            <a:avLst/>
          </a:prstGeom>
        </p:spPr>
        <p:txBody>
          <a:bodyPr anchor="t" rtlCol="false" tIns="0" lIns="0" bIns="0" rIns="0">
            <a:spAutoFit/>
          </a:bodyPr>
          <a:lstStyle/>
          <a:p>
            <a:pPr algn="r">
              <a:lnSpc>
                <a:spcPts val="3013"/>
              </a:lnSpc>
            </a:pPr>
            <a:r>
              <a:rPr lang="en-US" sz="2152">
                <a:solidFill>
                  <a:srgbClr val="1F0560"/>
                </a:solidFill>
                <a:latin typeface="Montserrat"/>
                <a:ea typeface="Montserrat"/>
                <a:cs typeface="Montserrat"/>
                <a:sym typeface="Montserrat"/>
              </a:rPr>
              <a:t>2023 - 2025</a:t>
            </a:r>
          </a:p>
        </p:txBody>
      </p:sp>
      <p:sp>
        <p:nvSpPr>
          <p:cNvPr name="TextBox 24" id="24"/>
          <p:cNvSpPr txBox="true"/>
          <p:nvPr/>
        </p:nvSpPr>
        <p:spPr>
          <a:xfrm rot="0">
            <a:off x="5908603" y="7965083"/>
            <a:ext cx="11350697" cy="1073150"/>
          </a:xfrm>
          <a:prstGeom prst="rect">
            <a:avLst/>
          </a:prstGeom>
        </p:spPr>
        <p:txBody>
          <a:bodyPr anchor="t" rtlCol="false" tIns="0" lIns="0" bIns="0" rIns="0">
            <a:spAutoFit/>
          </a:bodyPr>
          <a:lstStyle/>
          <a:p>
            <a:pPr algn="just">
              <a:lnSpc>
                <a:spcPts val="2800"/>
              </a:lnSpc>
            </a:pPr>
            <a:r>
              <a:rPr lang="en-US" sz="2000" b="true">
                <a:solidFill>
                  <a:srgbClr val="FF3131"/>
                </a:solidFill>
                <a:latin typeface="Poppins Bold"/>
                <a:ea typeface="Poppins Bold"/>
                <a:cs typeface="Poppins Bold"/>
                <a:sym typeface="Poppins Bold"/>
              </a:rPr>
              <a:t>Revenue </a:t>
            </a:r>
            <a:r>
              <a:rPr lang="en-US" sz="2000">
                <a:solidFill>
                  <a:srgbClr val="1F0560"/>
                </a:solidFill>
                <a:latin typeface="Poppins"/>
                <a:ea typeface="Poppins"/>
                <a:cs typeface="Poppins"/>
                <a:sym typeface="Poppins"/>
              </a:rPr>
              <a:t>2024 </a:t>
            </a:r>
            <a:r>
              <a:rPr lang="en-US" sz="2000" b="true">
                <a:solidFill>
                  <a:srgbClr val="1F0560"/>
                </a:solidFill>
                <a:latin typeface="Poppins Bold"/>
                <a:ea typeface="Poppins Bold"/>
                <a:cs typeface="Poppins Bold"/>
                <a:sym typeface="Poppins Bold"/>
              </a:rPr>
              <a:t>meningkat </a:t>
            </a:r>
            <a:r>
              <a:rPr lang="en-US" sz="2000">
                <a:solidFill>
                  <a:srgbClr val="FF3131"/>
                </a:solidFill>
                <a:latin typeface="Poppins"/>
                <a:ea typeface="Poppins"/>
                <a:cs typeface="Poppins"/>
                <a:sym typeface="Poppins"/>
              </a:rPr>
              <a:t>-+ 4x lipat</a:t>
            </a:r>
            <a:r>
              <a:rPr lang="en-US" sz="2000">
                <a:solidFill>
                  <a:srgbClr val="1F0560"/>
                </a:solidFill>
                <a:latin typeface="Poppins"/>
                <a:ea typeface="Poppins"/>
                <a:cs typeface="Poppins"/>
                <a:sym typeface="Poppins"/>
              </a:rPr>
              <a:t> dari periode pertama. Namun, </a:t>
            </a:r>
            <a:r>
              <a:rPr lang="en-US" sz="2000" b="true">
                <a:solidFill>
                  <a:srgbClr val="FF3131"/>
                </a:solidFill>
                <a:latin typeface="Poppins Bold"/>
                <a:ea typeface="Poppins Bold"/>
                <a:cs typeface="Poppins Bold"/>
                <a:sym typeface="Poppins Bold"/>
              </a:rPr>
              <a:t>profit turun</a:t>
            </a:r>
            <a:r>
              <a:rPr lang="en-US" sz="2000">
                <a:solidFill>
                  <a:srgbClr val="FF3131"/>
                </a:solidFill>
                <a:latin typeface="Poppins"/>
                <a:ea typeface="Poppins"/>
                <a:cs typeface="Poppins"/>
                <a:sym typeface="Poppins"/>
              </a:rPr>
              <a:t> </a:t>
            </a:r>
            <a:r>
              <a:rPr lang="en-US" sz="2000">
                <a:solidFill>
                  <a:srgbClr val="1F0560"/>
                </a:solidFill>
                <a:latin typeface="Poppins"/>
                <a:ea typeface="Poppins"/>
                <a:cs typeface="Poppins"/>
                <a:sym typeface="Poppins"/>
              </a:rPr>
              <a:t>sebesar </a:t>
            </a:r>
            <a:r>
              <a:rPr lang="en-US" sz="2000">
                <a:solidFill>
                  <a:srgbClr val="FF3131"/>
                </a:solidFill>
                <a:latin typeface="Poppins"/>
                <a:ea typeface="Poppins"/>
                <a:cs typeface="Poppins"/>
                <a:sym typeface="Poppins"/>
              </a:rPr>
              <a:t>Rp4,07 juta</a:t>
            </a:r>
            <a:r>
              <a:rPr lang="en-US" sz="2000">
                <a:solidFill>
                  <a:srgbClr val="1F0560"/>
                </a:solidFill>
                <a:latin typeface="Poppins"/>
                <a:ea typeface="Poppins"/>
                <a:cs typeface="Poppins"/>
                <a:sym typeface="Poppins"/>
              </a:rPr>
              <a:t>, dari laba Rp3,05 juta perusahaan </a:t>
            </a:r>
            <a:r>
              <a:rPr lang="en-US" sz="2000" b="true">
                <a:solidFill>
                  <a:srgbClr val="FF3131"/>
                </a:solidFill>
                <a:latin typeface="Poppins Bold"/>
                <a:ea typeface="Poppins Bold"/>
                <a:cs typeface="Poppins Bold"/>
                <a:sym typeface="Poppins Bold"/>
              </a:rPr>
              <a:t>rugi</a:t>
            </a:r>
            <a:r>
              <a:rPr lang="en-US" sz="2000" b="true">
                <a:solidFill>
                  <a:srgbClr val="1F0560"/>
                </a:solidFill>
                <a:latin typeface="Poppins Bold"/>
                <a:ea typeface="Poppins Bold"/>
                <a:cs typeface="Poppins Bold"/>
                <a:sym typeface="Poppins Bold"/>
              </a:rPr>
              <a:t> </a:t>
            </a:r>
            <a:r>
              <a:rPr lang="en-US" sz="2000">
                <a:solidFill>
                  <a:srgbClr val="FF3131"/>
                </a:solidFill>
                <a:latin typeface="Poppins"/>
                <a:ea typeface="Poppins"/>
                <a:cs typeface="Poppins"/>
                <a:sym typeface="Poppins"/>
              </a:rPr>
              <a:t>Rp1,02 juta</a:t>
            </a:r>
            <a:r>
              <a:rPr lang="en-US" sz="2000">
                <a:solidFill>
                  <a:srgbClr val="1F0560"/>
                </a:solidFill>
                <a:latin typeface="Poppins"/>
                <a:ea typeface="Poppins"/>
                <a:cs typeface="Poppins"/>
                <a:sym typeface="Poppins"/>
              </a:rPr>
              <a:t>. </a:t>
            </a:r>
            <a:r>
              <a:rPr lang="en-US" sz="2000" b="true">
                <a:solidFill>
                  <a:srgbClr val="1F0560"/>
                </a:solidFill>
                <a:latin typeface="Poppins Bold"/>
                <a:ea typeface="Poppins Bold"/>
                <a:cs typeface="Poppins Bold"/>
                <a:sym typeface="Poppins Bold"/>
              </a:rPr>
              <a:t>penyebabnya </a:t>
            </a:r>
            <a:r>
              <a:rPr lang="en-US" sz="2000">
                <a:solidFill>
                  <a:srgbClr val="1F0560"/>
                </a:solidFill>
                <a:latin typeface="Poppins"/>
                <a:ea typeface="Poppins"/>
                <a:cs typeface="Poppins"/>
                <a:sym typeface="Poppins"/>
              </a:rPr>
              <a:t>karena biaya pengeluaran jaringan melonjak lebih tinggi pada tahun tersebut</a:t>
            </a:r>
          </a:p>
        </p:txBody>
      </p:sp>
      <p:sp>
        <p:nvSpPr>
          <p:cNvPr name="TextBox 25" id="25"/>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Freeform 26" id="26"/>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45577"/>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9298406" y="731482"/>
            <a:ext cx="7960894" cy="5970671"/>
          </a:xfrm>
          <a:custGeom>
            <a:avLst/>
            <a:gdLst/>
            <a:ahLst/>
            <a:cxnLst/>
            <a:rect r="r" b="b" t="t" l="l"/>
            <a:pathLst>
              <a:path h="5970671" w="7960894">
                <a:moveTo>
                  <a:pt x="0" y="0"/>
                </a:moveTo>
                <a:lnTo>
                  <a:pt x="7960894" y="0"/>
                </a:lnTo>
                <a:lnTo>
                  <a:pt x="7960894" y="5970671"/>
                </a:lnTo>
                <a:lnTo>
                  <a:pt x="0" y="5970671"/>
                </a:lnTo>
                <a:lnTo>
                  <a:pt x="0" y="0"/>
                </a:lnTo>
                <a:close/>
              </a:path>
            </a:pathLst>
          </a:custGeom>
          <a:blipFill>
            <a:blip r:embed="rId2"/>
            <a:stretch>
              <a:fillRect l="0" t="0" r="0" b="0"/>
            </a:stretch>
          </a:blipFill>
          <a:ln w="9525" cap="sq">
            <a:solidFill>
              <a:srgbClr val="000000"/>
            </a:solidFill>
            <a:prstDash val="solid"/>
            <a:miter/>
          </a:ln>
        </p:spPr>
      </p:sp>
      <p:sp>
        <p:nvSpPr>
          <p:cNvPr name="TextBox 12" id="12"/>
          <p:cNvSpPr txBox="true"/>
          <p:nvPr/>
        </p:nvSpPr>
        <p:spPr>
          <a:xfrm rot="0">
            <a:off x="5908603" y="7955558"/>
            <a:ext cx="11350697" cy="1073150"/>
          </a:xfrm>
          <a:prstGeom prst="rect">
            <a:avLst/>
          </a:prstGeom>
        </p:spPr>
        <p:txBody>
          <a:bodyPr anchor="t" rtlCol="false" tIns="0" lIns="0" bIns="0" rIns="0">
            <a:spAutoFit/>
          </a:bodyPr>
          <a:lstStyle/>
          <a:p>
            <a:pPr algn="just">
              <a:lnSpc>
                <a:spcPts val="2800"/>
              </a:lnSpc>
            </a:pPr>
            <a:r>
              <a:rPr lang="en-US" sz="2000">
                <a:solidFill>
                  <a:srgbClr val="1F0560"/>
                </a:solidFill>
                <a:latin typeface="Poppins"/>
                <a:ea typeface="Poppins"/>
                <a:cs typeface="Poppins"/>
                <a:sym typeface="Poppins"/>
              </a:rPr>
              <a:t>Tingginya biaya jaringan yang dibayar perusahaan pada 2024 dipengaruhi oleh faktor eksternal dan internal salah satunya </a:t>
            </a:r>
            <a:r>
              <a:rPr lang="en-US" sz="2000" b="true">
                <a:solidFill>
                  <a:srgbClr val="FF3131"/>
                </a:solidFill>
                <a:latin typeface="Poppins Bold"/>
                <a:ea typeface="Poppins Bold"/>
                <a:cs typeface="Poppins Bold"/>
                <a:sym typeface="Poppins Bold"/>
              </a:rPr>
              <a:t>jumlah pengguna aktif internet</a:t>
            </a:r>
            <a:r>
              <a:rPr lang="en-US" sz="2000" b="true">
                <a:solidFill>
                  <a:srgbClr val="1F0560"/>
                </a:solidFill>
                <a:latin typeface="Poppins Bold"/>
                <a:ea typeface="Poppins Bold"/>
                <a:cs typeface="Poppins Bold"/>
                <a:sym typeface="Poppins Bold"/>
              </a:rPr>
              <a:t> </a:t>
            </a:r>
            <a:r>
              <a:rPr lang="en-US" sz="2000">
                <a:solidFill>
                  <a:srgbClr val="1F0560"/>
                </a:solidFill>
                <a:latin typeface="Poppins"/>
                <a:ea typeface="Poppins"/>
                <a:cs typeface="Poppins"/>
                <a:sym typeface="Poppins"/>
              </a:rPr>
              <a:t>di daerah Jakarta jauh lebih tinggi mencapai </a:t>
            </a:r>
            <a:r>
              <a:rPr lang="en-US" sz="2000">
                <a:solidFill>
                  <a:srgbClr val="FF3131"/>
                </a:solidFill>
                <a:latin typeface="Poppins"/>
                <a:ea typeface="Poppins"/>
                <a:cs typeface="Poppins"/>
                <a:sym typeface="Poppins"/>
              </a:rPr>
              <a:t>1.151 </a:t>
            </a:r>
            <a:r>
              <a:rPr lang="en-US" sz="2000">
                <a:solidFill>
                  <a:srgbClr val="1F0560"/>
                </a:solidFill>
                <a:latin typeface="Poppins"/>
                <a:ea typeface="Poppins"/>
                <a:cs typeface="Poppins"/>
                <a:sym typeface="Poppins"/>
              </a:rPr>
              <a:t>dibanding Surabaya, Bandung, dan Yogyakarta</a:t>
            </a:r>
          </a:p>
        </p:txBody>
      </p:sp>
      <p:sp>
        <p:nvSpPr>
          <p:cNvPr name="TextBox 13" id="13"/>
          <p:cNvSpPr txBox="true"/>
          <p:nvPr/>
        </p:nvSpPr>
        <p:spPr>
          <a:xfrm rot="0">
            <a:off x="5908603" y="740117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TextBox 14" id="14"/>
          <p:cNvSpPr txBox="true"/>
          <p:nvPr/>
        </p:nvSpPr>
        <p:spPr>
          <a:xfrm rot="0">
            <a:off x="2496776" y="2940286"/>
            <a:ext cx="5290064" cy="1660885"/>
          </a:xfrm>
          <a:prstGeom prst="rect">
            <a:avLst/>
          </a:prstGeom>
        </p:spPr>
        <p:txBody>
          <a:bodyPr anchor="t" rtlCol="false" tIns="0" lIns="0" bIns="0" rIns="0">
            <a:spAutoFit/>
          </a:bodyPr>
          <a:lstStyle/>
          <a:p>
            <a:pPr algn="ctr">
              <a:lnSpc>
                <a:spcPts val="6630"/>
              </a:lnSpc>
            </a:pPr>
            <a:r>
              <a:rPr lang="en-US" sz="4735" b="true">
                <a:solidFill>
                  <a:srgbClr val="FEAC3D"/>
                </a:solidFill>
                <a:latin typeface="Neue Machina Ultra-Bold"/>
                <a:ea typeface="Neue Machina Ultra-Bold"/>
                <a:cs typeface="Neue Machina Ultra-Bold"/>
                <a:sym typeface="Neue Machina Ultra-Bold"/>
              </a:rPr>
              <a:t>Nerwork Cost </a:t>
            </a:r>
            <a:r>
              <a:rPr lang="en-US" sz="4735" b="true">
                <a:solidFill>
                  <a:srgbClr val="1F0560"/>
                </a:solidFill>
                <a:latin typeface="Neue Machina Ultra-Bold"/>
                <a:ea typeface="Neue Machina Ultra-Bold"/>
                <a:cs typeface="Neue Machina Ultra-Bold"/>
                <a:sym typeface="Neue Machina Ultra-Bold"/>
              </a:rPr>
              <a:t>2023 - 2025</a:t>
            </a:r>
          </a:p>
        </p:txBody>
      </p:sp>
      <p:sp>
        <p:nvSpPr>
          <p:cNvPr name="Freeform 15" id="15"/>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78520"/>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32337" y="1734224"/>
            <a:ext cx="7322265" cy="935419"/>
            <a:chOff x="0" y="0"/>
            <a:chExt cx="9763020" cy="1247226"/>
          </a:xfrm>
        </p:grpSpPr>
        <p:sp>
          <p:nvSpPr>
            <p:cNvPr name="Freeform 12" id="12"/>
            <p:cNvSpPr/>
            <p:nvPr/>
          </p:nvSpPr>
          <p:spPr>
            <a:xfrm flipH="false" flipV="false" rot="0">
              <a:off x="0" y="0"/>
              <a:ext cx="9763020" cy="1247226"/>
            </a:xfrm>
            <a:custGeom>
              <a:avLst/>
              <a:gdLst/>
              <a:ahLst/>
              <a:cxnLst/>
              <a:rect r="r" b="b" t="t" l="l"/>
              <a:pathLst>
                <a:path h="1247226" w="9763020">
                  <a:moveTo>
                    <a:pt x="0" y="0"/>
                  </a:moveTo>
                  <a:lnTo>
                    <a:pt x="9763020" y="0"/>
                  </a:lnTo>
                  <a:lnTo>
                    <a:pt x="9763020" y="1247226"/>
                  </a:lnTo>
                  <a:lnTo>
                    <a:pt x="0" y="1247226"/>
                  </a:lnTo>
                  <a:lnTo>
                    <a:pt x="0" y="0"/>
                  </a:lnTo>
                  <a:close/>
                </a:path>
              </a:pathLst>
            </a:custGeom>
            <a:blipFill>
              <a:blip r:embed="rId2"/>
              <a:stretch>
                <a:fillRect l="0" t="0" r="0" b="-49867"/>
              </a:stretch>
            </a:blipFill>
            <a:ln w="9525" cap="sq">
              <a:solidFill>
                <a:srgbClr val="000000"/>
              </a:solidFill>
              <a:prstDash val="solid"/>
              <a:miter/>
            </a:ln>
          </p:spPr>
        </p:sp>
        <p:grpSp>
          <p:nvGrpSpPr>
            <p:cNvPr name="Group 13" id="13"/>
            <p:cNvGrpSpPr/>
            <p:nvPr/>
          </p:nvGrpSpPr>
          <p:grpSpPr>
            <a:xfrm rot="0">
              <a:off x="2778675" y="555076"/>
              <a:ext cx="1004570" cy="692150"/>
              <a:chOff x="0" y="0"/>
              <a:chExt cx="1004570" cy="692150"/>
            </a:xfrm>
          </p:grpSpPr>
          <p:sp>
            <p:nvSpPr>
              <p:cNvPr name="Freeform 14" id="14"/>
              <p:cNvSpPr/>
              <p:nvPr/>
            </p:nvSpPr>
            <p:spPr>
              <a:xfrm flipH="false" flipV="false" rot="0">
                <a:off x="33318" y="28219"/>
                <a:ext cx="976571" cy="638602"/>
              </a:xfrm>
              <a:custGeom>
                <a:avLst/>
                <a:gdLst/>
                <a:ahLst/>
                <a:cxnLst/>
                <a:rect r="r" b="b" t="t" l="l"/>
                <a:pathLst>
                  <a:path h="638602" w="976571">
                    <a:moveTo>
                      <a:pt x="17482" y="152121"/>
                    </a:moveTo>
                    <a:cubicBezTo>
                      <a:pt x="408642" y="117831"/>
                      <a:pt x="817582" y="-62509"/>
                      <a:pt x="919182" y="22581"/>
                    </a:cubicBezTo>
                    <a:cubicBezTo>
                      <a:pt x="1001732" y="92431"/>
                      <a:pt x="989032" y="394691"/>
                      <a:pt x="920452" y="479781"/>
                    </a:cubicBezTo>
                    <a:cubicBezTo>
                      <a:pt x="858222" y="555981"/>
                      <a:pt x="700742" y="530581"/>
                      <a:pt x="572472" y="550901"/>
                    </a:cubicBezTo>
                    <a:cubicBezTo>
                      <a:pt x="416262" y="576301"/>
                      <a:pt x="136862" y="688061"/>
                      <a:pt x="46692" y="613131"/>
                    </a:cubicBezTo>
                    <a:cubicBezTo>
                      <a:pt x="-37128" y="542011"/>
                      <a:pt x="17482" y="152121"/>
                      <a:pt x="17482" y="152121"/>
                    </a:cubicBezTo>
                  </a:path>
                </a:pathLst>
              </a:custGeom>
              <a:solidFill>
                <a:srgbClr val="F99682">
                  <a:alpha val="24706"/>
                </a:srgbClr>
              </a:solidFill>
              <a:ln cap="sq">
                <a:noFill/>
                <a:prstDash val="solid"/>
                <a:miter/>
              </a:ln>
            </p:spPr>
          </p:sp>
        </p:grpSp>
      </p:grpSp>
      <p:sp>
        <p:nvSpPr>
          <p:cNvPr name="Freeform 15" id="15"/>
          <p:cNvSpPr/>
          <p:nvPr/>
        </p:nvSpPr>
        <p:spPr>
          <a:xfrm flipH="false" flipV="false" rot="0">
            <a:off x="9278371" y="3074867"/>
            <a:ext cx="8443704" cy="2891969"/>
          </a:xfrm>
          <a:custGeom>
            <a:avLst/>
            <a:gdLst/>
            <a:ahLst/>
            <a:cxnLst/>
            <a:rect r="r" b="b" t="t" l="l"/>
            <a:pathLst>
              <a:path h="2891969" w="8443704">
                <a:moveTo>
                  <a:pt x="0" y="0"/>
                </a:moveTo>
                <a:lnTo>
                  <a:pt x="8443704" y="0"/>
                </a:lnTo>
                <a:lnTo>
                  <a:pt x="8443704" y="2891968"/>
                </a:lnTo>
                <a:lnTo>
                  <a:pt x="0" y="2891968"/>
                </a:lnTo>
                <a:lnTo>
                  <a:pt x="0" y="0"/>
                </a:lnTo>
                <a:close/>
              </a:path>
            </a:pathLst>
          </a:custGeom>
          <a:blipFill>
            <a:blip r:embed="rId3"/>
            <a:stretch>
              <a:fillRect l="0" t="0" r="0" b="0"/>
            </a:stretch>
          </a:blipFill>
          <a:ln w="19050" cap="sq">
            <a:solidFill>
              <a:srgbClr val="000000"/>
            </a:solidFill>
            <a:prstDash val="solid"/>
            <a:miter/>
          </a:ln>
        </p:spPr>
      </p:sp>
      <p:sp>
        <p:nvSpPr>
          <p:cNvPr name="Freeform 16" id="16"/>
          <p:cNvSpPr/>
          <p:nvPr/>
        </p:nvSpPr>
        <p:spPr>
          <a:xfrm flipH="false" flipV="false" rot="0">
            <a:off x="930729" y="3163544"/>
            <a:ext cx="8125482" cy="2803291"/>
          </a:xfrm>
          <a:custGeom>
            <a:avLst/>
            <a:gdLst/>
            <a:ahLst/>
            <a:cxnLst/>
            <a:rect r="r" b="b" t="t" l="l"/>
            <a:pathLst>
              <a:path h="2803291" w="8125482">
                <a:moveTo>
                  <a:pt x="0" y="0"/>
                </a:moveTo>
                <a:lnTo>
                  <a:pt x="8125481" y="0"/>
                </a:lnTo>
                <a:lnTo>
                  <a:pt x="8125481" y="2803291"/>
                </a:lnTo>
                <a:lnTo>
                  <a:pt x="0" y="2803291"/>
                </a:lnTo>
                <a:lnTo>
                  <a:pt x="0" y="0"/>
                </a:lnTo>
                <a:close/>
              </a:path>
            </a:pathLst>
          </a:custGeom>
          <a:blipFill>
            <a:blip r:embed="rId4"/>
            <a:stretch>
              <a:fillRect l="0" t="0" r="0" b="0"/>
            </a:stretch>
          </a:blipFill>
          <a:ln w="9525" cap="sq">
            <a:solidFill>
              <a:srgbClr val="000000"/>
            </a:solidFill>
            <a:prstDash val="solid"/>
            <a:miter/>
          </a:ln>
        </p:spPr>
      </p:sp>
      <p:sp>
        <p:nvSpPr>
          <p:cNvPr name="TextBox 17" id="17"/>
          <p:cNvSpPr txBox="true"/>
          <p:nvPr/>
        </p:nvSpPr>
        <p:spPr>
          <a:xfrm rot="0">
            <a:off x="9683686" y="1571080"/>
            <a:ext cx="8038389" cy="1216239"/>
          </a:xfrm>
          <a:prstGeom prst="rect">
            <a:avLst/>
          </a:prstGeom>
        </p:spPr>
        <p:txBody>
          <a:bodyPr anchor="t" rtlCol="false" tIns="0" lIns="0" bIns="0" rIns="0">
            <a:spAutoFit/>
          </a:bodyPr>
          <a:lstStyle/>
          <a:p>
            <a:pPr algn="r">
              <a:lnSpc>
                <a:spcPts val="4888"/>
              </a:lnSpc>
            </a:pPr>
            <a:r>
              <a:rPr lang="en-US" sz="3491" b="true">
                <a:solidFill>
                  <a:srgbClr val="1F0560"/>
                </a:solidFill>
                <a:latin typeface="TT Hoves Bold"/>
                <a:ea typeface="TT Hoves Bold"/>
                <a:cs typeface="TT Hoves Bold"/>
                <a:sym typeface="TT Hoves Bold"/>
              </a:rPr>
              <a:t>Strategi Perusahaan meningkatkan </a:t>
            </a:r>
            <a:r>
              <a:rPr lang="en-US" sz="3491" b="true">
                <a:solidFill>
                  <a:srgbClr val="FEAC3D"/>
                </a:solidFill>
                <a:latin typeface="TT Hoves Bold"/>
                <a:ea typeface="TT Hoves Bold"/>
                <a:cs typeface="TT Hoves Bold"/>
                <a:sym typeface="TT Hoves Bold"/>
              </a:rPr>
              <a:t>Customer Tahun 2024</a:t>
            </a:r>
          </a:p>
        </p:txBody>
      </p:sp>
      <p:sp>
        <p:nvSpPr>
          <p:cNvPr name="TextBox 18" id="18"/>
          <p:cNvSpPr txBox="true"/>
          <p:nvPr/>
        </p:nvSpPr>
        <p:spPr>
          <a:xfrm rot="0">
            <a:off x="5908603" y="7965083"/>
            <a:ext cx="11350697" cy="1073150"/>
          </a:xfrm>
          <a:prstGeom prst="rect">
            <a:avLst/>
          </a:prstGeom>
        </p:spPr>
        <p:txBody>
          <a:bodyPr anchor="t" rtlCol="false" tIns="0" lIns="0" bIns="0" rIns="0">
            <a:spAutoFit/>
          </a:bodyPr>
          <a:lstStyle/>
          <a:p>
            <a:pPr algn="just">
              <a:lnSpc>
                <a:spcPts val="2800"/>
              </a:lnSpc>
            </a:pPr>
            <a:r>
              <a:rPr lang="en-US" sz="2000">
                <a:solidFill>
                  <a:srgbClr val="1F0560"/>
                </a:solidFill>
                <a:latin typeface="Poppins"/>
                <a:ea typeface="Poppins"/>
                <a:cs typeface="Poppins"/>
                <a:sym typeface="Poppins"/>
              </a:rPr>
              <a:t>Tahun 2023 menjadi tantangan bagi perusahaan untuk meningkatkan pengguna baru dan mempertahankan pengguna aktif. Strategi yang dipilih adalah </a:t>
            </a:r>
            <a:r>
              <a:rPr lang="en-US" sz="2000" b="true">
                <a:solidFill>
                  <a:srgbClr val="FF3131"/>
                </a:solidFill>
                <a:latin typeface="Poppins Bold"/>
                <a:ea typeface="Poppins Bold"/>
                <a:cs typeface="Poppins Bold"/>
                <a:sym typeface="Poppins Bold"/>
              </a:rPr>
              <a:t>pemberian diskon berdasarkan histori data</a:t>
            </a:r>
            <a:r>
              <a:rPr lang="en-US" sz="2000" b="true">
                <a:solidFill>
                  <a:srgbClr val="1F0560"/>
                </a:solidFill>
                <a:latin typeface="Poppins Bold"/>
                <a:ea typeface="Poppins Bold"/>
                <a:cs typeface="Poppins Bold"/>
                <a:sym typeface="Poppins Bold"/>
              </a:rPr>
              <a:t> </a:t>
            </a:r>
            <a:r>
              <a:rPr lang="en-US" sz="2000">
                <a:solidFill>
                  <a:srgbClr val="1F0560"/>
                </a:solidFill>
                <a:latin typeface="Poppins"/>
                <a:ea typeface="Poppins"/>
                <a:cs typeface="Poppins"/>
                <a:sym typeface="Poppins"/>
              </a:rPr>
              <a:t>agar calon pengguna tertarik. </a:t>
            </a:r>
          </a:p>
        </p:txBody>
      </p:sp>
      <p:sp>
        <p:nvSpPr>
          <p:cNvPr name="TextBox 19" id="19"/>
          <p:cNvSpPr txBox="true"/>
          <p:nvPr/>
        </p:nvSpPr>
        <p:spPr>
          <a:xfrm rot="0">
            <a:off x="5908603" y="7398616"/>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Freeform 20" id="20"/>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70879"/>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0205305" y="4815052"/>
            <a:ext cx="7322265" cy="1401889"/>
          </a:xfrm>
          <a:custGeom>
            <a:avLst/>
            <a:gdLst/>
            <a:ahLst/>
            <a:cxnLst/>
            <a:rect r="r" b="b" t="t" l="l"/>
            <a:pathLst>
              <a:path h="1401889" w="7322265">
                <a:moveTo>
                  <a:pt x="0" y="0"/>
                </a:moveTo>
                <a:lnTo>
                  <a:pt x="7322265" y="0"/>
                </a:lnTo>
                <a:lnTo>
                  <a:pt x="7322265" y="1401890"/>
                </a:lnTo>
                <a:lnTo>
                  <a:pt x="0" y="1401890"/>
                </a:lnTo>
                <a:lnTo>
                  <a:pt x="0" y="0"/>
                </a:lnTo>
                <a:close/>
              </a:path>
            </a:pathLst>
          </a:custGeom>
          <a:blipFill>
            <a:blip r:embed="rId2"/>
            <a:stretch>
              <a:fillRect l="0" t="0" r="0" b="0"/>
            </a:stretch>
          </a:blipFill>
          <a:ln w="9525" cap="sq">
            <a:solidFill>
              <a:srgbClr val="000000"/>
            </a:solidFill>
            <a:prstDash val="solid"/>
            <a:miter/>
          </a:ln>
        </p:spPr>
      </p:sp>
      <p:grpSp>
        <p:nvGrpSpPr>
          <p:cNvPr name="Group 12" id="12"/>
          <p:cNvGrpSpPr/>
          <p:nvPr/>
        </p:nvGrpSpPr>
        <p:grpSpPr>
          <a:xfrm rot="0">
            <a:off x="12291060" y="5667375"/>
            <a:ext cx="753428" cy="519112"/>
            <a:chOff x="0" y="0"/>
            <a:chExt cx="1004570" cy="692150"/>
          </a:xfrm>
        </p:grpSpPr>
        <p:sp>
          <p:nvSpPr>
            <p:cNvPr name="Freeform 13" id="13"/>
            <p:cNvSpPr/>
            <p:nvPr/>
          </p:nvSpPr>
          <p:spPr>
            <a:xfrm flipH="false" flipV="false" rot="0">
              <a:off x="33318" y="28219"/>
              <a:ext cx="976571" cy="638602"/>
            </a:xfrm>
            <a:custGeom>
              <a:avLst/>
              <a:gdLst/>
              <a:ahLst/>
              <a:cxnLst/>
              <a:rect r="r" b="b" t="t" l="l"/>
              <a:pathLst>
                <a:path h="638602" w="976571">
                  <a:moveTo>
                    <a:pt x="17482" y="152121"/>
                  </a:moveTo>
                  <a:cubicBezTo>
                    <a:pt x="408642" y="117831"/>
                    <a:pt x="817582" y="-62509"/>
                    <a:pt x="919182" y="22581"/>
                  </a:cubicBezTo>
                  <a:cubicBezTo>
                    <a:pt x="1001732" y="92431"/>
                    <a:pt x="989032" y="394691"/>
                    <a:pt x="920452" y="479781"/>
                  </a:cubicBezTo>
                  <a:cubicBezTo>
                    <a:pt x="858222" y="555981"/>
                    <a:pt x="700742" y="530581"/>
                    <a:pt x="572472" y="550901"/>
                  </a:cubicBezTo>
                  <a:cubicBezTo>
                    <a:pt x="416262" y="576301"/>
                    <a:pt x="136862" y="688061"/>
                    <a:pt x="46692" y="613131"/>
                  </a:cubicBezTo>
                  <a:cubicBezTo>
                    <a:pt x="-37128" y="542011"/>
                    <a:pt x="17482" y="152121"/>
                    <a:pt x="17482" y="152121"/>
                  </a:cubicBezTo>
                </a:path>
              </a:pathLst>
            </a:custGeom>
            <a:solidFill>
              <a:srgbClr val="F99682">
                <a:alpha val="24706"/>
              </a:srgbClr>
            </a:solidFill>
            <a:ln cap="sq">
              <a:noFill/>
              <a:prstDash val="solid"/>
              <a:miter/>
            </a:ln>
          </p:spPr>
        </p:sp>
      </p:grpSp>
      <p:grpSp>
        <p:nvGrpSpPr>
          <p:cNvPr name="Group 14" id="14"/>
          <p:cNvGrpSpPr/>
          <p:nvPr/>
        </p:nvGrpSpPr>
        <p:grpSpPr>
          <a:xfrm rot="0">
            <a:off x="10687185" y="5667375"/>
            <a:ext cx="753428" cy="519112"/>
            <a:chOff x="0" y="0"/>
            <a:chExt cx="1004570" cy="692150"/>
          </a:xfrm>
        </p:grpSpPr>
        <p:sp>
          <p:nvSpPr>
            <p:cNvPr name="Freeform 15" id="15"/>
            <p:cNvSpPr/>
            <p:nvPr/>
          </p:nvSpPr>
          <p:spPr>
            <a:xfrm flipH="false" flipV="false" rot="0">
              <a:off x="33318" y="28219"/>
              <a:ext cx="976571" cy="638602"/>
            </a:xfrm>
            <a:custGeom>
              <a:avLst/>
              <a:gdLst/>
              <a:ahLst/>
              <a:cxnLst/>
              <a:rect r="r" b="b" t="t" l="l"/>
              <a:pathLst>
                <a:path h="638602" w="976571">
                  <a:moveTo>
                    <a:pt x="17482" y="152121"/>
                  </a:moveTo>
                  <a:cubicBezTo>
                    <a:pt x="408642" y="117831"/>
                    <a:pt x="817582" y="-62509"/>
                    <a:pt x="919182" y="22581"/>
                  </a:cubicBezTo>
                  <a:cubicBezTo>
                    <a:pt x="1001732" y="92431"/>
                    <a:pt x="989032" y="394691"/>
                    <a:pt x="920452" y="479781"/>
                  </a:cubicBezTo>
                  <a:cubicBezTo>
                    <a:pt x="858222" y="555981"/>
                    <a:pt x="700742" y="530581"/>
                    <a:pt x="572472" y="550901"/>
                  </a:cubicBezTo>
                  <a:cubicBezTo>
                    <a:pt x="416262" y="576301"/>
                    <a:pt x="136862" y="688061"/>
                    <a:pt x="46692" y="613131"/>
                  </a:cubicBezTo>
                  <a:cubicBezTo>
                    <a:pt x="-37128" y="542011"/>
                    <a:pt x="17482" y="152121"/>
                    <a:pt x="17482" y="152121"/>
                  </a:cubicBezTo>
                </a:path>
              </a:pathLst>
            </a:custGeom>
            <a:solidFill>
              <a:srgbClr val="6237CF">
                <a:alpha val="24706"/>
              </a:srgbClr>
            </a:solidFill>
            <a:ln cap="sq">
              <a:noFill/>
              <a:prstDash val="solid"/>
              <a:miter/>
            </a:ln>
          </p:spPr>
        </p:sp>
      </p:grpSp>
      <p:grpSp>
        <p:nvGrpSpPr>
          <p:cNvPr name="Group 16" id="16"/>
          <p:cNvGrpSpPr/>
          <p:nvPr/>
        </p:nvGrpSpPr>
        <p:grpSpPr>
          <a:xfrm rot="0">
            <a:off x="16882586" y="5697829"/>
            <a:ext cx="753428" cy="519112"/>
            <a:chOff x="0" y="0"/>
            <a:chExt cx="1004570" cy="692150"/>
          </a:xfrm>
        </p:grpSpPr>
        <p:sp>
          <p:nvSpPr>
            <p:cNvPr name="Freeform 17" id="17"/>
            <p:cNvSpPr/>
            <p:nvPr/>
          </p:nvSpPr>
          <p:spPr>
            <a:xfrm flipH="false" flipV="false" rot="0">
              <a:off x="33318" y="28219"/>
              <a:ext cx="976571" cy="638602"/>
            </a:xfrm>
            <a:custGeom>
              <a:avLst/>
              <a:gdLst/>
              <a:ahLst/>
              <a:cxnLst/>
              <a:rect r="r" b="b" t="t" l="l"/>
              <a:pathLst>
                <a:path h="638602" w="976571">
                  <a:moveTo>
                    <a:pt x="17482" y="152121"/>
                  </a:moveTo>
                  <a:cubicBezTo>
                    <a:pt x="408642" y="117831"/>
                    <a:pt x="817582" y="-62509"/>
                    <a:pt x="919182" y="22581"/>
                  </a:cubicBezTo>
                  <a:cubicBezTo>
                    <a:pt x="1001732" y="92431"/>
                    <a:pt x="989032" y="394691"/>
                    <a:pt x="920452" y="479781"/>
                  </a:cubicBezTo>
                  <a:cubicBezTo>
                    <a:pt x="858222" y="555981"/>
                    <a:pt x="700742" y="530581"/>
                    <a:pt x="572472" y="550901"/>
                  </a:cubicBezTo>
                  <a:cubicBezTo>
                    <a:pt x="416262" y="576301"/>
                    <a:pt x="136862" y="688061"/>
                    <a:pt x="46692" y="613131"/>
                  </a:cubicBezTo>
                  <a:cubicBezTo>
                    <a:pt x="-37128" y="542011"/>
                    <a:pt x="17482" y="152121"/>
                    <a:pt x="17482" y="152121"/>
                  </a:cubicBezTo>
                </a:path>
              </a:pathLst>
            </a:custGeom>
            <a:solidFill>
              <a:srgbClr val="F99682">
                <a:alpha val="24706"/>
              </a:srgbClr>
            </a:solidFill>
            <a:ln cap="sq">
              <a:noFill/>
              <a:prstDash val="solid"/>
              <a:miter/>
            </a:ln>
          </p:spPr>
        </p:sp>
      </p:grpSp>
      <p:grpSp>
        <p:nvGrpSpPr>
          <p:cNvPr name="Group 18" id="18"/>
          <p:cNvGrpSpPr/>
          <p:nvPr/>
        </p:nvGrpSpPr>
        <p:grpSpPr>
          <a:xfrm rot="0">
            <a:off x="15778614" y="5667375"/>
            <a:ext cx="753428" cy="519112"/>
            <a:chOff x="0" y="0"/>
            <a:chExt cx="1004570" cy="692150"/>
          </a:xfrm>
        </p:grpSpPr>
        <p:sp>
          <p:nvSpPr>
            <p:cNvPr name="Freeform 19" id="19"/>
            <p:cNvSpPr/>
            <p:nvPr/>
          </p:nvSpPr>
          <p:spPr>
            <a:xfrm flipH="false" flipV="false" rot="0">
              <a:off x="33318" y="28219"/>
              <a:ext cx="976571" cy="638602"/>
            </a:xfrm>
            <a:custGeom>
              <a:avLst/>
              <a:gdLst/>
              <a:ahLst/>
              <a:cxnLst/>
              <a:rect r="r" b="b" t="t" l="l"/>
              <a:pathLst>
                <a:path h="638602" w="976571">
                  <a:moveTo>
                    <a:pt x="17482" y="152121"/>
                  </a:moveTo>
                  <a:cubicBezTo>
                    <a:pt x="408642" y="117831"/>
                    <a:pt x="817582" y="-62509"/>
                    <a:pt x="919182" y="22581"/>
                  </a:cubicBezTo>
                  <a:cubicBezTo>
                    <a:pt x="1001732" y="92431"/>
                    <a:pt x="989032" y="394691"/>
                    <a:pt x="920452" y="479781"/>
                  </a:cubicBezTo>
                  <a:cubicBezTo>
                    <a:pt x="858222" y="555981"/>
                    <a:pt x="700742" y="530581"/>
                    <a:pt x="572472" y="550901"/>
                  </a:cubicBezTo>
                  <a:cubicBezTo>
                    <a:pt x="416262" y="576301"/>
                    <a:pt x="136862" y="688061"/>
                    <a:pt x="46692" y="613131"/>
                  </a:cubicBezTo>
                  <a:cubicBezTo>
                    <a:pt x="-37128" y="542011"/>
                    <a:pt x="17482" y="152121"/>
                    <a:pt x="17482" y="152121"/>
                  </a:cubicBezTo>
                </a:path>
              </a:pathLst>
            </a:custGeom>
            <a:solidFill>
              <a:srgbClr val="F99682">
                <a:alpha val="24706"/>
              </a:srgbClr>
            </a:solidFill>
            <a:ln cap="sq">
              <a:noFill/>
              <a:prstDash val="solid"/>
              <a:miter/>
            </a:ln>
          </p:spPr>
        </p:sp>
      </p:grpSp>
      <p:grpSp>
        <p:nvGrpSpPr>
          <p:cNvPr name="Group 20" id="20"/>
          <p:cNvGrpSpPr/>
          <p:nvPr/>
        </p:nvGrpSpPr>
        <p:grpSpPr>
          <a:xfrm rot="0">
            <a:off x="14034587" y="5667375"/>
            <a:ext cx="753428" cy="519112"/>
            <a:chOff x="0" y="0"/>
            <a:chExt cx="1004570" cy="692150"/>
          </a:xfrm>
        </p:grpSpPr>
        <p:sp>
          <p:nvSpPr>
            <p:cNvPr name="Freeform 21" id="21"/>
            <p:cNvSpPr/>
            <p:nvPr/>
          </p:nvSpPr>
          <p:spPr>
            <a:xfrm flipH="false" flipV="false" rot="0">
              <a:off x="33318" y="28219"/>
              <a:ext cx="976571" cy="638602"/>
            </a:xfrm>
            <a:custGeom>
              <a:avLst/>
              <a:gdLst/>
              <a:ahLst/>
              <a:cxnLst/>
              <a:rect r="r" b="b" t="t" l="l"/>
              <a:pathLst>
                <a:path h="638602" w="976571">
                  <a:moveTo>
                    <a:pt x="17482" y="152121"/>
                  </a:moveTo>
                  <a:cubicBezTo>
                    <a:pt x="408642" y="117831"/>
                    <a:pt x="817582" y="-62509"/>
                    <a:pt x="919182" y="22581"/>
                  </a:cubicBezTo>
                  <a:cubicBezTo>
                    <a:pt x="1001732" y="92431"/>
                    <a:pt x="989032" y="394691"/>
                    <a:pt x="920452" y="479781"/>
                  </a:cubicBezTo>
                  <a:cubicBezTo>
                    <a:pt x="858222" y="555981"/>
                    <a:pt x="700742" y="530581"/>
                    <a:pt x="572472" y="550901"/>
                  </a:cubicBezTo>
                  <a:cubicBezTo>
                    <a:pt x="416262" y="576301"/>
                    <a:pt x="136862" y="688061"/>
                    <a:pt x="46692" y="613131"/>
                  </a:cubicBezTo>
                  <a:cubicBezTo>
                    <a:pt x="-37128" y="542011"/>
                    <a:pt x="17482" y="152121"/>
                    <a:pt x="17482" y="152121"/>
                  </a:cubicBezTo>
                </a:path>
              </a:pathLst>
            </a:custGeom>
            <a:solidFill>
              <a:srgbClr val="F99682">
                <a:alpha val="24706"/>
              </a:srgbClr>
            </a:solidFill>
            <a:ln cap="sq">
              <a:noFill/>
              <a:prstDash val="solid"/>
              <a:miter/>
            </a:ln>
          </p:spPr>
        </p:sp>
      </p:grpSp>
      <p:sp>
        <p:nvSpPr>
          <p:cNvPr name="Freeform 22" id="22"/>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917464" y="1594995"/>
            <a:ext cx="9106865" cy="4591492"/>
          </a:xfrm>
          <a:custGeom>
            <a:avLst/>
            <a:gdLst/>
            <a:ahLst/>
            <a:cxnLst/>
            <a:rect r="r" b="b" t="t" l="l"/>
            <a:pathLst>
              <a:path h="4591492" w="9106865">
                <a:moveTo>
                  <a:pt x="0" y="0"/>
                </a:moveTo>
                <a:lnTo>
                  <a:pt x="9106866" y="0"/>
                </a:lnTo>
                <a:lnTo>
                  <a:pt x="9106866" y="4591492"/>
                </a:lnTo>
                <a:lnTo>
                  <a:pt x="0" y="4591492"/>
                </a:lnTo>
                <a:lnTo>
                  <a:pt x="0" y="0"/>
                </a:lnTo>
                <a:close/>
              </a:path>
            </a:pathLst>
          </a:custGeom>
          <a:blipFill>
            <a:blip r:embed="rId5"/>
            <a:stretch>
              <a:fillRect l="0" t="0" r="0" b="-15038"/>
            </a:stretch>
          </a:blipFill>
          <a:ln w="9525" cap="sq">
            <a:solidFill>
              <a:srgbClr val="000000"/>
            </a:solidFill>
            <a:prstDash val="solid"/>
            <a:miter/>
          </a:ln>
        </p:spPr>
      </p:sp>
      <p:sp>
        <p:nvSpPr>
          <p:cNvPr name="TextBox 24" id="24"/>
          <p:cNvSpPr txBox="true"/>
          <p:nvPr/>
        </p:nvSpPr>
        <p:spPr>
          <a:xfrm rot="0">
            <a:off x="10927952" y="1723670"/>
            <a:ext cx="6599617" cy="1835364"/>
          </a:xfrm>
          <a:prstGeom prst="rect">
            <a:avLst/>
          </a:prstGeom>
        </p:spPr>
        <p:txBody>
          <a:bodyPr anchor="t" rtlCol="false" tIns="0" lIns="0" bIns="0" rIns="0">
            <a:spAutoFit/>
          </a:bodyPr>
          <a:lstStyle/>
          <a:p>
            <a:pPr algn="r">
              <a:lnSpc>
                <a:spcPts val="4888"/>
              </a:lnSpc>
            </a:pPr>
            <a:r>
              <a:rPr lang="en-US" sz="3491" b="true">
                <a:solidFill>
                  <a:srgbClr val="1F0560"/>
                </a:solidFill>
                <a:latin typeface="TT Hoves Bold"/>
                <a:ea typeface="TT Hoves Bold"/>
                <a:cs typeface="TT Hoves Bold"/>
                <a:sym typeface="TT Hoves Bold"/>
              </a:rPr>
              <a:t>Korelasi antara Churn Customer dan Churn Rate</a:t>
            </a:r>
            <a:r>
              <a:rPr lang="en-US" b="true" sz="3491">
                <a:solidFill>
                  <a:srgbClr val="1F0560"/>
                </a:solidFill>
                <a:latin typeface="TT Hoves Bold"/>
                <a:ea typeface="TT Hoves Bold"/>
                <a:cs typeface="TT Hoves Bold"/>
                <a:sym typeface="TT Hoves Bold"/>
              </a:rPr>
              <a:t> </a:t>
            </a:r>
            <a:r>
              <a:rPr lang="en-US" sz="3491" b="true">
                <a:solidFill>
                  <a:srgbClr val="FEAC3D"/>
                </a:solidFill>
                <a:latin typeface="TT Hoves Bold"/>
                <a:ea typeface="TT Hoves Bold"/>
                <a:cs typeface="TT Hoves Bold"/>
                <a:sym typeface="TT Hoves Bold"/>
              </a:rPr>
              <a:t>berdasarkan Tahun transaksi</a:t>
            </a:r>
          </a:p>
        </p:txBody>
      </p:sp>
      <p:sp>
        <p:nvSpPr>
          <p:cNvPr name="TextBox 25" id="25"/>
          <p:cNvSpPr txBox="true"/>
          <p:nvPr/>
        </p:nvSpPr>
        <p:spPr>
          <a:xfrm rot="0">
            <a:off x="15565663" y="3915351"/>
            <a:ext cx="1961907" cy="370615"/>
          </a:xfrm>
          <a:prstGeom prst="rect">
            <a:avLst/>
          </a:prstGeom>
        </p:spPr>
        <p:txBody>
          <a:bodyPr anchor="t" rtlCol="false" tIns="0" lIns="0" bIns="0" rIns="0">
            <a:spAutoFit/>
          </a:bodyPr>
          <a:lstStyle/>
          <a:p>
            <a:pPr algn="r">
              <a:lnSpc>
                <a:spcPts val="3013"/>
              </a:lnSpc>
            </a:pPr>
            <a:r>
              <a:rPr lang="en-US" sz="2152">
                <a:solidFill>
                  <a:srgbClr val="1F0560"/>
                </a:solidFill>
                <a:latin typeface="Montserrat"/>
                <a:ea typeface="Montserrat"/>
                <a:cs typeface="Montserrat"/>
                <a:sym typeface="Montserrat"/>
              </a:rPr>
              <a:t>2023 - 2024</a:t>
            </a:r>
          </a:p>
        </p:txBody>
      </p:sp>
      <p:sp>
        <p:nvSpPr>
          <p:cNvPr name="TextBox 26" id="26"/>
          <p:cNvSpPr txBox="true"/>
          <p:nvPr/>
        </p:nvSpPr>
        <p:spPr>
          <a:xfrm rot="0">
            <a:off x="5908603" y="7971952"/>
            <a:ext cx="11350697" cy="1778000"/>
          </a:xfrm>
          <a:prstGeom prst="rect">
            <a:avLst/>
          </a:prstGeom>
        </p:spPr>
        <p:txBody>
          <a:bodyPr anchor="t" rtlCol="false" tIns="0" lIns="0" bIns="0" rIns="0">
            <a:spAutoFit/>
          </a:bodyPr>
          <a:lstStyle/>
          <a:p>
            <a:pPr algn="just">
              <a:lnSpc>
                <a:spcPts val="2800"/>
              </a:lnSpc>
            </a:pPr>
            <a:r>
              <a:rPr lang="en-US" sz="2000">
                <a:solidFill>
                  <a:srgbClr val="1F0560"/>
                </a:solidFill>
                <a:latin typeface="Poppins"/>
                <a:ea typeface="Poppins"/>
                <a:cs typeface="Poppins"/>
                <a:sym typeface="Poppins"/>
              </a:rPr>
              <a:t>Pertumbuhan revenue tahun 2024 diikuti dengan </a:t>
            </a:r>
            <a:r>
              <a:rPr lang="en-US" sz="2000" b="true">
                <a:solidFill>
                  <a:srgbClr val="FF3131"/>
                </a:solidFill>
                <a:latin typeface="Poppins Bold"/>
                <a:ea typeface="Poppins Bold"/>
                <a:cs typeface="Poppins Bold"/>
                <a:sym typeface="Poppins Bold"/>
              </a:rPr>
              <a:t>meningkatnya</a:t>
            </a:r>
            <a:r>
              <a:rPr lang="en-US" sz="2000" b="true">
                <a:solidFill>
                  <a:srgbClr val="1F0560"/>
                </a:solidFill>
                <a:latin typeface="Poppins Bold"/>
                <a:ea typeface="Poppins Bold"/>
                <a:cs typeface="Poppins Bold"/>
                <a:sym typeface="Poppins Bold"/>
              </a:rPr>
              <a:t> </a:t>
            </a:r>
            <a:r>
              <a:rPr lang="en-US" sz="2000">
                <a:solidFill>
                  <a:srgbClr val="1F0560"/>
                </a:solidFill>
                <a:latin typeface="Poppins"/>
                <a:ea typeface="Poppins"/>
                <a:cs typeface="Poppins"/>
                <a:sym typeface="Poppins"/>
              </a:rPr>
              <a:t>customer </a:t>
            </a:r>
            <a:r>
              <a:rPr lang="en-US" sz="2000" b="true">
                <a:solidFill>
                  <a:srgbClr val="FF3131"/>
                </a:solidFill>
                <a:latin typeface="Poppins Bold"/>
                <a:ea typeface="Poppins Bold"/>
                <a:cs typeface="Poppins Bold"/>
                <a:sym typeface="Poppins Bold"/>
              </a:rPr>
              <a:t>retain</a:t>
            </a:r>
            <a:r>
              <a:rPr lang="en-US" sz="2000">
                <a:solidFill>
                  <a:srgbClr val="FF3131"/>
                </a:solidFill>
                <a:latin typeface="Poppins"/>
                <a:ea typeface="Poppins"/>
                <a:cs typeface="Poppins"/>
                <a:sym typeface="Poppins"/>
              </a:rPr>
              <a:t> </a:t>
            </a:r>
            <a:r>
              <a:rPr lang="en-US" sz="2000">
                <a:solidFill>
                  <a:srgbClr val="1F0560"/>
                </a:solidFill>
                <a:latin typeface="Poppins"/>
                <a:ea typeface="Poppins"/>
                <a:cs typeface="Poppins"/>
                <a:sym typeface="Poppins"/>
              </a:rPr>
              <a:t>hingga </a:t>
            </a:r>
            <a:r>
              <a:rPr lang="en-US" sz="2000">
                <a:solidFill>
                  <a:srgbClr val="FF3131"/>
                </a:solidFill>
                <a:latin typeface="Poppins"/>
                <a:ea typeface="Poppins"/>
                <a:cs typeface="Poppins"/>
                <a:sym typeface="Poppins"/>
              </a:rPr>
              <a:t>70.44% </a:t>
            </a:r>
            <a:r>
              <a:rPr lang="en-US" sz="2000">
                <a:solidFill>
                  <a:srgbClr val="1F0560"/>
                </a:solidFill>
                <a:latin typeface="Poppins"/>
                <a:ea typeface="Poppins"/>
                <a:cs typeface="Poppins"/>
                <a:sym typeface="Poppins"/>
              </a:rPr>
              <a:t>dan menurunnya tingkat churn secara signifikan. Meskipun churn rate turun , jumlah pelanggan yang berhenti berlangganan justru meningkat 46,4% (dari 453 menjadi 663 pelanggan). Hal ini menunjukkan bahwa pertumbuhan basis pelanggan belum sepenuhnya diikuti oleh kemampuan perusahaan mempertahankan pelanggan</a:t>
            </a:r>
            <a:r>
              <a:rPr lang="en-US" sz="2000">
                <a:solidFill>
                  <a:srgbClr val="000000"/>
                </a:solidFill>
                <a:latin typeface="Poppins"/>
                <a:ea typeface="Poppins"/>
                <a:cs typeface="Poppins"/>
                <a:sym typeface="Poppins"/>
              </a:rPr>
              <a:t>.</a:t>
            </a:r>
          </a:p>
        </p:txBody>
      </p:sp>
      <p:sp>
        <p:nvSpPr>
          <p:cNvPr name="TextBox 27" id="27"/>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67430"/>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0560832" y="4767845"/>
            <a:ext cx="6920833" cy="1666126"/>
          </a:xfrm>
          <a:custGeom>
            <a:avLst/>
            <a:gdLst/>
            <a:ahLst/>
            <a:cxnLst/>
            <a:rect r="r" b="b" t="t" l="l"/>
            <a:pathLst>
              <a:path h="1666126" w="6920833">
                <a:moveTo>
                  <a:pt x="0" y="0"/>
                </a:moveTo>
                <a:lnTo>
                  <a:pt x="6920833" y="0"/>
                </a:lnTo>
                <a:lnTo>
                  <a:pt x="6920833" y="1666127"/>
                </a:lnTo>
                <a:lnTo>
                  <a:pt x="0" y="1666127"/>
                </a:lnTo>
                <a:lnTo>
                  <a:pt x="0" y="0"/>
                </a:lnTo>
                <a:close/>
              </a:path>
            </a:pathLst>
          </a:custGeom>
          <a:blipFill>
            <a:blip r:embed="rId2"/>
            <a:stretch>
              <a:fillRect l="0" t="0" r="0" b="0"/>
            </a:stretch>
          </a:blipFill>
          <a:ln w="9525" cap="sq">
            <a:solidFill>
              <a:srgbClr val="000000"/>
            </a:solidFill>
            <a:prstDash val="solid"/>
            <a:miter/>
          </a:ln>
        </p:spPr>
      </p:sp>
      <p:grpSp>
        <p:nvGrpSpPr>
          <p:cNvPr name="Group 12" id="12"/>
          <p:cNvGrpSpPr/>
          <p:nvPr/>
        </p:nvGrpSpPr>
        <p:grpSpPr>
          <a:xfrm rot="0">
            <a:off x="13307377" y="5869305"/>
            <a:ext cx="842962" cy="429578"/>
            <a:chOff x="0" y="0"/>
            <a:chExt cx="1123950" cy="572770"/>
          </a:xfrm>
        </p:grpSpPr>
        <p:sp>
          <p:nvSpPr>
            <p:cNvPr name="Freeform 13" id="13"/>
            <p:cNvSpPr/>
            <p:nvPr/>
          </p:nvSpPr>
          <p:spPr>
            <a:xfrm flipH="false" flipV="false" rot="0">
              <a:off x="14676" y="21021"/>
              <a:ext cx="1104872" cy="536688"/>
            </a:xfrm>
            <a:custGeom>
              <a:avLst/>
              <a:gdLst/>
              <a:ahLst/>
              <a:cxnLst/>
              <a:rect r="r" b="b" t="t" l="l"/>
              <a:pathLst>
                <a:path h="536688" w="1104872">
                  <a:moveTo>
                    <a:pt x="36124" y="29779"/>
                  </a:moveTo>
                  <a:cubicBezTo>
                    <a:pt x="772724" y="41209"/>
                    <a:pt x="983544" y="-42611"/>
                    <a:pt x="1057204" y="29779"/>
                  </a:cubicBezTo>
                  <a:cubicBezTo>
                    <a:pt x="1133404" y="103439"/>
                    <a:pt x="1106734" y="447609"/>
                    <a:pt x="1057204" y="486979"/>
                  </a:cubicBezTo>
                  <a:cubicBezTo>
                    <a:pt x="1033074" y="506029"/>
                    <a:pt x="992434" y="462849"/>
                    <a:pt x="945444" y="460309"/>
                  </a:cubicBezTo>
                  <a:cubicBezTo>
                    <a:pt x="864164" y="455229"/>
                    <a:pt x="740974" y="493329"/>
                    <a:pt x="615244" y="499679"/>
                  </a:cubicBezTo>
                  <a:cubicBezTo>
                    <a:pt x="450144" y="508569"/>
                    <a:pt x="126294" y="583499"/>
                    <a:pt x="36124" y="490789"/>
                  </a:cubicBezTo>
                  <a:cubicBezTo>
                    <a:pt x="-45156" y="408239"/>
                    <a:pt x="36124" y="29779"/>
                    <a:pt x="36124" y="29779"/>
                  </a:cubicBezTo>
                </a:path>
              </a:pathLst>
            </a:custGeom>
            <a:solidFill>
              <a:srgbClr val="F99682">
                <a:alpha val="24706"/>
              </a:srgbClr>
            </a:solidFill>
            <a:ln cap="sq">
              <a:noFill/>
              <a:prstDash val="solid"/>
              <a:miter/>
            </a:ln>
          </p:spPr>
        </p:sp>
      </p:grpSp>
      <p:grpSp>
        <p:nvGrpSpPr>
          <p:cNvPr name="Group 14" id="14"/>
          <p:cNvGrpSpPr/>
          <p:nvPr/>
        </p:nvGrpSpPr>
        <p:grpSpPr>
          <a:xfrm rot="0">
            <a:off x="14879002" y="5826442"/>
            <a:ext cx="658178" cy="462915"/>
            <a:chOff x="0" y="0"/>
            <a:chExt cx="877570" cy="617220"/>
          </a:xfrm>
        </p:grpSpPr>
        <p:sp>
          <p:nvSpPr>
            <p:cNvPr name="Freeform 15" id="15"/>
            <p:cNvSpPr/>
            <p:nvPr/>
          </p:nvSpPr>
          <p:spPr>
            <a:xfrm flipH="false" flipV="false" rot="0">
              <a:off x="33151" y="50800"/>
              <a:ext cx="846484" cy="542856"/>
            </a:xfrm>
            <a:custGeom>
              <a:avLst/>
              <a:gdLst/>
              <a:ahLst/>
              <a:cxnLst/>
              <a:rect r="r" b="b" t="t" l="l"/>
              <a:pathLst>
                <a:path h="542856" w="846484">
                  <a:moveTo>
                    <a:pt x="82419" y="0"/>
                  </a:moveTo>
                  <a:cubicBezTo>
                    <a:pt x="576449" y="64770"/>
                    <a:pt x="733929" y="-2540"/>
                    <a:pt x="793619" y="57150"/>
                  </a:cubicBezTo>
                  <a:cubicBezTo>
                    <a:pt x="863469" y="127000"/>
                    <a:pt x="864739" y="443230"/>
                    <a:pt x="793619" y="514350"/>
                  </a:cubicBezTo>
                  <a:cubicBezTo>
                    <a:pt x="731389" y="575310"/>
                    <a:pt x="567559" y="520700"/>
                    <a:pt x="445639" y="513080"/>
                  </a:cubicBezTo>
                  <a:cubicBezTo>
                    <a:pt x="309749" y="502920"/>
                    <a:pt x="79879" y="538480"/>
                    <a:pt x="17649" y="457200"/>
                  </a:cubicBezTo>
                  <a:cubicBezTo>
                    <a:pt x="-45851" y="372110"/>
                    <a:pt x="82419" y="0"/>
                    <a:pt x="82419" y="0"/>
                  </a:cubicBezTo>
                </a:path>
              </a:pathLst>
            </a:custGeom>
            <a:solidFill>
              <a:srgbClr val="F99682">
                <a:alpha val="24706"/>
              </a:srgbClr>
            </a:solidFill>
            <a:ln cap="sq">
              <a:noFill/>
              <a:prstDash val="solid"/>
              <a:miter/>
            </a:ln>
          </p:spPr>
        </p:sp>
      </p:grpSp>
      <p:sp>
        <p:nvSpPr>
          <p:cNvPr name="TextBox 16" id="16"/>
          <p:cNvSpPr txBox="true"/>
          <p:nvPr/>
        </p:nvSpPr>
        <p:spPr>
          <a:xfrm rot="0">
            <a:off x="10882047" y="1715082"/>
            <a:ext cx="6599617" cy="1552789"/>
          </a:xfrm>
          <a:prstGeom prst="rect">
            <a:avLst/>
          </a:prstGeom>
        </p:spPr>
        <p:txBody>
          <a:bodyPr anchor="t" rtlCol="false" tIns="0" lIns="0" bIns="0" rIns="0">
            <a:spAutoFit/>
          </a:bodyPr>
          <a:lstStyle/>
          <a:p>
            <a:pPr algn="r">
              <a:lnSpc>
                <a:spcPts val="4188"/>
              </a:lnSpc>
            </a:pPr>
            <a:r>
              <a:rPr lang="en-US" sz="2991" b="true">
                <a:solidFill>
                  <a:srgbClr val="1F0560"/>
                </a:solidFill>
                <a:latin typeface="TT Hoves Bold"/>
                <a:ea typeface="TT Hoves Bold"/>
                <a:cs typeface="TT Hoves Bold"/>
                <a:sym typeface="TT Hoves Bold"/>
              </a:rPr>
              <a:t>Perbandingan antara rata -rata Harga Produk, Masa Berlangganan </a:t>
            </a:r>
            <a:r>
              <a:rPr lang="en-US" sz="2991" b="true">
                <a:solidFill>
                  <a:srgbClr val="FEAC3D"/>
                </a:solidFill>
                <a:latin typeface="TT Hoves Bold"/>
                <a:ea typeface="TT Hoves Bold"/>
                <a:cs typeface="TT Hoves Bold"/>
                <a:sym typeface="TT Hoves Bold"/>
              </a:rPr>
              <a:t>dengan jumlah Customer</a:t>
            </a:r>
          </a:p>
        </p:txBody>
      </p:sp>
      <p:sp>
        <p:nvSpPr>
          <p:cNvPr name="TextBox 17" id="17"/>
          <p:cNvSpPr txBox="true"/>
          <p:nvPr/>
        </p:nvSpPr>
        <p:spPr>
          <a:xfrm rot="0">
            <a:off x="15519758" y="3897238"/>
            <a:ext cx="1961907" cy="370615"/>
          </a:xfrm>
          <a:prstGeom prst="rect">
            <a:avLst/>
          </a:prstGeom>
        </p:spPr>
        <p:txBody>
          <a:bodyPr anchor="t" rtlCol="false" tIns="0" lIns="0" bIns="0" rIns="0">
            <a:spAutoFit/>
          </a:bodyPr>
          <a:lstStyle/>
          <a:p>
            <a:pPr algn="r">
              <a:lnSpc>
                <a:spcPts val="3013"/>
              </a:lnSpc>
            </a:pPr>
            <a:r>
              <a:rPr lang="en-US" sz="2152">
                <a:solidFill>
                  <a:srgbClr val="1F0560"/>
                </a:solidFill>
                <a:latin typeface="Montserrat"/>
                <a:ea typeface="Montserrat"/>
                <a:cs typeface="Montserrat"/>
                <a:sym typeface="Montserrat"/>
              </a:rPr>
              <a:t>2023 - 2024</a:t>
            </a:r>
          </a:p>
        </p:txBody>
      </p:sp>
      <p:sp>
        <p:nvSpPr>
          <p:cNvPr name="TextBox 18" id="18"/>
          <p:cNvSpPr txBox="true"/>
          <p:nvPr/>
        </p:nvSpPr>
        <p:spPr>
          <a:xfrm rot="0">
            <a:off x="5908603" y="7965083"/>
            <a:ext cx="11350697" cy="1073150"/>
          </a:xfrm>
          <a:prstGeom prst="rect">
            <a:avLst/>
          </a:prstGeom>
        </p:spPr>
        <p:txBody>
          <a:bodyPr anchor="t" rtlCol="false" tIns="0" lIns="0" bIns="0" rIns="0">
            <a:spAutoFit/>
          </a:bodyPr>
          <a:lstStyle/>
          <a:p>
            <a:pPr algn="just">
              <a:lnSpc>
                <a:spcPts val="2800"/>
              </a:lnSpc>
            </a:pPr>
            <a:r>
              <a:rPr lang="en-US" sz="2000">
                <a:solidFill>
                  <a:srgbClr val="1F0560"/>
                </a:solidFill>
                <a:latin typeface="Poppins"/>
                <a:ea typeface="Poppins"/>
                <a:cs typeface="Poppins"/>
                <a:sym typeface="Poppins"/>
              </a:rPr>
              <a:t>Selain itu, data pendukung pertumbuhan revenue 2024 yakni, perusahaan mengambil keputusan untuk</a:t>
            </a:r>
            <a:r>
              <a:rPr lang="en-US" sz="2000">
                <a:solidFill>
                  <a:srgbClr val="E998BB"/>
                </a:solidFill>
                <a:latin typeface="Poppins"/>
                <a:ea typeface="Poppins"/>
                <a:cs typeface="Poppins"/>
                <a:sym typeface="Poppins"/>
              </a:rPr>
              <a:t> </a:t>
            </a:r>
            <a:r>
              <a:rPr lang="en-US" sz="2000" b="true">
                <a:solidFill>
                  <a:srgbClr val="FF3131"/>
                </a:solidFill>
                <a:latin typeface="Poppins Bold"/>
                <a:ea typeface="Poppins Bold"/>
                <a:cs typeface="Poppins Bold"/>
                <a:sym typeface="Poppins Bold"/>
              </a:rPr>
              <a:t>meningkatkan harga jual dan masa berlangganan</a:t>
            </a:r>
            <a:r>
              <a:rPr lang="en-US" sz="2000">
                <a:solidFill>
                  <a:srgbClr val="FF3131"/>
                </a:solidFill>
                <a:latin typeface="Poppins"/>
                <a:ea typeface="Poppins"/>
                <a:cs typeface="Poppins"/>
                <a:sym typeface="Poppins"/>
              </a:rPr>
              <a:t>,</a:t>
            </a:r>
            <a:r>
              <a:rPr lang="en-US" sz="2000">
                <a:solidFill>
                  <a:srgbClr val="1F0560"/>
                </a:solidFill>
                <a:latin typeface="Poppins"/>
                <a:ea typeface="Poppins"/>
                <a:cs typeface="Poppins"/>
                <a:sym typeface="Poppins"/>
              </a:rPr>
              <a:t> karena terjadi pertambahan jumlah customer dari periode 2023</a:t>
            </a:r>
          </a:p>
        </p:txBody>
      </p:sp>
      <p:sp>
        <p:nvSpPr>
          <p:cNvPr name="TextBox 19" id="19"/>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Freeform 20" id="20"/>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660498" y="1583808"/>
            <a:ext cx="9769720" cy="4850164"/>
          </a:xfrm>
          <a:custGeom>
            <a:avLst/>
            <a:gdLst/>
            <a:ahLst/>
            <a:cxnLst/>
            <a:rect r="r" b="b" t="t" l="l"/>
            <a:pathLst>
              <a:path h="4850164" w="9769720">
                <a:moveTo>
                  <a:pt x="0" y="0"/>
                </a:moveTo>
                <a:lnTo>
                  <a:pt x="9769720" y="0"/>
                </a:lnTo>
                <a:lnTo>
                  <a:pt x="9769720" y="4850164"/>
                </a:lnTo>
                <a:lnTo>
                  <a:pt x="0" y="4850164"/>
                </a:lnTo>
                <a:lnTo>
                  <a:pt x="0" y="0"/>
                </a:lnTo>
                <a:close/>
              </a:path>
            </a:pathLst>
          </a:custGeom>
          <a:blipFill>
            <a:blip r:embed="rId5"/>
            <a:stretch>
              <a:fillRect l="0" t="0" r="0" b="-16829"/>
            </a:stretch>
          </a:blipFill>
          <a:ln w="9525" cap="sq">
            <a:solidFill>
              <a:srgbClr val="000000"/>
            </a:solidFill>
            <a:prstDash val="solid"/>
            <a:miter/>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01630" y="1637755"/>
            <a:ext cx="7867478" cy="4598864"/>
          </a:xfrm>
          <a:custGeom>
            <a:avLst/>
            <a:gdLst/>
            <a:ahLst/>
            <a:cxnLst/>
            <a:rect r="r" b="b" t="t" l="l"/>
            <a:pathLst>
              <a:path h="4598864" w="7867478">
                <a:moveTo>
                  <a:pt x="0" y="0"/>
                </a:moveTo>
                <a:lnTo>
                  <a:pt x="7867478" y="0"/>
                </a:lnTo>
                <a:lnTo>
                  <a:pt x="7867478" y="4598864"/>
                </a:lnTo>
                <a:lnTo>
                  <a:pt x="0" y="4598864"/>
                </a:lnTo>
                <a:lnTo>
                  <a:pt x="0" y="0"/>
                </a:lnTo>
                <a:close/>
              </a:path>
            </a:pathLst>
          </a:custGeom>
          <a:blipFill>
            <a:blip r:embed="rId2"/>
            <a:stretch>
              <a:fillRect l="0" t="0" r="0" b="0"/>
            </a:stretch>
          </a:blipFill>
          <a:ln w="9525" cap="sq">
            <a:solidFill>
              <a:srgbClr val="000000"/>
            </a:solidFill>
            <a:prstDash val="solid"/>
            <a:miter/>
          </a:ln>
        </p:spPr>
      </p:sp>
      <p:sp>
        <p:nvSpPr>
          <p:cNvPr name="TextBox 12" id="12"/>
          <p:cNvSpPr txBox="true"/>
          <p:nvPr/>
        </p:nvSpPr>
        <p:spPr>
          <a:xfrm rot="0">
            <a:off x="10040136" y="3206968"/>
            <a:ext cx="6786840" cy="1384237"/>
          </a:xfrm>
          <a:prstGeom prst="rect">
            <a:avLst/>
          </a:prstGeom>
        </p:spPr>
        <p:txBody>
          <a:bodyPr anchor="t" rtlCol="false" tIns="0" lIns="0" bIns="0" rIns="0">
            <a:spAutoFit/>
          </a:bodyPr>
          <a:lstStyle/>
          <a:p>
            <a:pPr algn="ctr">
              <a:lnSpc>
                <a:spcPts val="5603"/>
              </a:lnSpc>
            </a:pPr>
            <a:r>
              <a:rPr lang="en-US" sz="4002" b="true">
                <a:solidFill>
                  <a:srgbClr val="1F0560"/>
                </a:solidFill>
                <a:latin typeface="TT Hoves Bold"/>
                <a:ea typeface="TT Hoves Bold"/>
                <a:cs typeface="TT Hoves Bold"/>
                <a:sym typeface="TT Hoves Bold"/>
              </a:rPr>
              <a:t>Priority Customer</a:t>
            </a:r>
          </a:p>
          <a:p>
            <a:pPr algn="ctr">
              <a:lnSpc>
                <a:spcPts val="5603"/>
              </a:lnSpc>
            </a:pPr>
            <a:r>
              <a:rPr lang="en-US" sz="4002" b="true">
                <a:solidFill>
                  <a:srgbClr val="FEAC3D"/>
                </a:solidFill>
                <a:latin typeface="TT Hoves Bold"/>
                <a:ea typeface="TT Hoves Bold"/>
                <a:cs typeface="TT Hoves Bold"/>
                <a:sym typeface="TT Hoves Bold"/>
              </a:rPr>
              <a:t>By Segment</a:t>
            </a:r>
          </a:p>
        </p:txBody>
      </p:sp>
      <p:sp>
        <p:nvSpPr>
          <p:cNvPr name="TextBox 13" id="13"/>
          <p:cNvSpPr txBox="true"/>
          <p:nvPr/>
        </p:nvSpPr>
        <p:spPr>
          <a:xfrm rot="0">
            <a:off x="5908603" y="7965083"/>
            <a:ext cx="11350697" cy="1425575"/>
          </a:xfrm>
          <a:prstGeom prst="rect">
            <a:avLst/>
          </a:prstGeom>
        </p:spPr>
        <p:txBody>
          <a:bodyPr anchor="t" rtlCol="false" tIns="0" lIns="0" bIns="0" rIns="0">
            <a:spAutoFit/>
          </a:bodyPr>
          <a:lstStyle/>
          <a:p>
            <a:pPr algn="just">
              <a:lnSpc>
                <a:spcPts val="2800"/>
              </a:lnSpc>
            </a:pPr>
            <a:r>
              <a:rPr lang="en-US" sz="2000">
                <a:solidFill>
                  <a:srgbClr val="1F0560"/>
                </a:solidFill>
                <a:latin typeface="Poppins"/>
                <a:ea typeface="Poppins"/>
                <a:cs typeface="Poppins"/>
                <a:sym typeface="Poppins"/>
              </a:rPr>
              <a:t>Tiga segement customer yang memerlukan perhatian, untuk mempertahankan customer retain. Karena bisnis masih awal, perusahaan dapat mempertimbangkan untuk </a:t>
            </a:r>
            <a:r>
              <a:rPr lang="en-US" sz="2000" b="true">
                <a:solidFill>
                  <a:srgbClr val="1F0560"/>
                </a:solidFill>
                <a:latin typeface="Poppins Bold"/>
                <a:ea typeface="Poppins Bold"/>
                <a:cs typeface="Poppins Bold"/>
                <a:sym typeface="Poppins Bold"/>
              </a:rPr>
              <a:t>memprioritaskan segment </a:t>
            </a:r>
            <a:r>
              <a:rPr lang="en-US" sz="2000" b="true">
                <a:solidFill>
                  <a:srgbClr val="FEAC3D"/>
                </a:solidFill>
                <a:latin typeface="Poppins Bold"/>
                <a:ea typeface="Poppins Bold"/>
                <a:cs typeface="Poppins Bold"/>
                <a:sym typeface="Poppins Bold"/>
              </a:rPr>
              <a:t>At risk</a:t>
            </a:r>
            <a:r>
              <a:rPr lang="en-US" sz="2000" b="true">
                <a:solidFill>
                  <a:srgbClr val="1F0560"/>
                </a:solidFill>
                <a:latin typeface="Poppins Bold"/>
                <a:ea typeface="Poppins Bold"/>
                <a:cs typeface="Poppins Bold"/>
                <a:sym typeface="Poppins Bold"/>
              </a:rPr>
              <a:t> dan </a:t>
            </a:r>
            <a:r>
              <a:rPr lang="en-US" sz="2000" b="true">
                <a:solidFill>
                  <a:srgbClr val="FEAC3D"/>
                </a:solidFill>
                <a:latin typeface="Poppins Bold"/>
                <a:ea typeface="Poppins Bold"/>
                <a:cs typeface="Poppins Bold"/>
                <a:sym typeface="Poppins Bold"/>
              </a:rPr>
              <a:t>Hibernating</a:t>
            </a:r>
            <a:r>
              <a:rPr lang="en-US" sz="2000">
                <a:solidFill>
                  <a:srgbClr val="1F0560"/>
                </a:solidFill>
                <a:latin typeface="Poppins"/>
                <a:ea typeface="Poppins"/>
                <a:cs typeface="Poppins"/>
                <a:sym typeface="Poppins"/>
              </a:rPr>
              <a:t>, berdasarkan</a:t>
            </a:r>
            <a:r>
              <a:rPr lang="en-US" sz="2000">
                <a:solidFill>
                  <a:srgbClr val="FEAC3D"/>
                </a:solidFill>
                <a:latin typeface="Poppins"/>
                <a:ea typeface="Poppins"/>
                <a:cs typeface="Poppins"/>
                <a:sym typeface="Poppins"/>
              </a:rPr>
              <a:t> </a:t>
            </a:r>
            <a:r>
              <a:rPr lang="en-US" sz="2000" b="true">
                <a:solidFill>
                  <a:srgbClr val="FEAC3D"/>
                </a:solidFill>
                <a:latin typeface="Poppins Bold"/>
                <a:ea typeface="Poppins Bold"/>
                <a:cs typeface="Poppins Bold"/>
                <a:sym typeface="Poppins Bold"/>
              </a:rPr>
              <a:t>recency, frequency dan monetary order</a:t>
            </a:r>
          </a:p>
        </p:txBody>
      </p:sp>
      <p:sp>
        <p:nvSpPr>
          <p:cNvPr name="TextBox 14" id="14"/>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Freeform 15" id="15"/>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5254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128254" y="1714976"/>
            <a:ext cx="6509439" cy="4909686"/>
          </a:xfrm>
          <a:custGeom>
            <a:avLst/>
            <a:gdLst/>
            <a:ahLst/>
            <a:cxnLst/>
            <a:rect r="r" b="b" t="t" l="l"/>
            <a:pathLst>
              <a:path h="4909686" w="6509439">
                <a:moveTo>
                  <a:pt x="0" y="0"/>
                </a:moveTo>
                <a:lnTo>
                  <a:pt x="6509439" y="0"/>
                </a:lnTo>
                <a:lnTo>
                  <a:pt x="6509439" y="4909686"/>
                </a:lnTo>
                <a:lnTo>
                  <a:pt x="0" y="4909686"/>
                </a:lnTo>
                <a:lnTo>
                  <a:pt x="0" y="0"/>
                </a:lnTo>
                <a:close/>
              </a:path>
            </a:pathLst>
          </a:custGeom>
          <a:blipFill>
            <a:blip r:embed="rId2"/>
            <a:stretch>
              <a:fillRect l="0" t="0" r="0" b="-14021"/>
            </a:stretch>
          </a:blipFill>
          <a:ln w="9525" cap="sq">
            <a:solidFill>
              <a:srgbClr val="000000"/>
            </a:solidFill>
            <a:prstDash val="solid"/>
            <a:miter/>
          </a:ln>
        </p:spPr>
      </p:sp>
      <p:sp>
        <p:nvSpPr>
          <p:cNvPr name="Freeform 12" id="12"/>
          <p:cNvSpPr/>
          <p:nvPr/>
        </p:nvSpPr>
        <p:spPr>
          <a:xfrm flipH="false" flipV="false" rot="0">
            <a:off x="9323206" y="1714976"/>
            <a:ext cx="7260028" cy="4916926"/>
          </a:xfrm>
          <a:custGeom>
            <a:avLst/>
            <a:gdLst/>
            <a:ahLst/>
            <a:cxnLst/>
            <a:rect r="r" b="b" t="t" l="l"/>
            <a:pathLst>
              <a:path h="4916926" w="7260028">
                <a:moveTo>
                  <a:pt x="0" y="0"/>
                </a:moveTo>
                <a:lnTo>
                  <a:pt x="7260028" y="0"/>
                </a:lnTo>
                <a:lnTo>
                  <a:pt x="7260028" y="4916926"/>
                </a:lnTo>
                <a:lnTo>
                  <a:pt x="0" y="4916926"/>
                </a:lnTo>
                <a:lnTo>
                  <a:pt x="0" y="0"/>
                </a:lnTo>
                <a:close/>
              </a:path>
            </a:pathLst>
          </a:custGeom>
          <a:blipFill>
            <a:blip r:embed="rId3"/>
            <a:stretch>
              <a:fillRect l="0" t="-1957" r="0" b="-9705"/>
            </a:stretch>
          </a:blipFill>
          <a:ln w="9525" cap="sq">
            <a:solidFill>
              <a:srgbClr val="000000"/>
            </a:solidFill>
            <a:prstDash val="solid"/>
            <a:miter/>
          </a:ln>
        </p:spPr>
      </p:sp>
      <p:sp>
        <p:nvSpPr>
          <p:cNvPr name="TextBox 13" id="13"/>
          <p:cNvSpPr txBox="true"/>
          <p:nvPr/>
        </p:nvSpPr>
        <p:spPr>
          <a:xfrm rot="0">
            <a:off x="3448108" y="696806"/>
            <a:ext cx="11708302" cy="597114"/>
          </a:xfrm>
          <a:prstGeom prst="rect">
            <a:avLst/>
          </a:prstGeom>
        </p:spPr>
        <p:txBody>
          <a:bodyPr anchor="t" rtlCol="false" tIns="0" lIns="0" bIns="0" rIns="0">
            <a:spAutoFit/>
          </a:bodyPr>
          <a:lstStyle/>
          <a:p>
            <a:pPr algn="just">
              <a:lnSpc>
                <a:spcPts val="4888"/>
              </a:lnSpc>
            </a:pPr>
            <a:r>
              <a:rPr lang="en-US" sz="3491" b="true">
                <a:solidFill>
                  <a:srgbClr val="1F0560"/>
                </a:solidFill>
                <a:latin typeface="TT Hoves Bold"/>
                <a:ea typeface="TT Hoves Bold"/>
                <a:cs typeface="TT Hoves Bold"/>
                <a:sym typeface="TT Hoves Bold"/>
              </a:rPr>
              <a:t>Segmentasi Customer </a:t>
            </a:r>
            <a:r>
              <a:rPr lang="en-US" sz="3491" b="true">
                <a:solidFill>
                  <a:srgbClr val="FEAC3D"/>
                </a:solidFill>
                <a:latin typeface="TT Hoves Bold"/>
                <a:ea typeface="TT Hoves Bold"/>
                <a:cs typeface="TT Hoves Bold"/>
                <a:sym typeface="TT Hoves Bold"/>
              </a:rPr>
              <a:t>Berdasarkan Filter RFM Score</a:t>
            </a:r>
          </a:p>
        </p:txBody>
      </p:sp>
      <p:sp>
        <p:nvSpPr>
          <p:cNvPr name="TextBox 14" id="14"/>
          <p:cNvSpPr txBox="true"/>
          <p:nvPr/>
        </p:nvSpPr>
        <p:spPr>
          <a:xfrm rot="0">
            <a:off x="5908603" y="7965083"/>
            <a:ext cx="11350697" cy="1425575"/>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Berdasarkan metrik rfm, perusahaan mendefinisikan pelanggan ya</a:t>
            </a:r>
            <a:r>
              <a:rPr lang="en-US" sz="2000">
                <a:solidFill>
                  <a:srgbClr val="1F0560"/>
                </a:solidFill>
                <a:latin typeface="Poppins"/>
                <a:ea typeface="Poppins"/>
                <a:cs typeface="Poppins"/>
                <a:sym typeface="Poppins"/>
              </a:rPr>
              <a:t>ng </a:t>
            </a:r>
            <a:r>
              <a:rPr lang="en-US" sz="2000" b="true">
                <a:solidFill>
                  <a:srgbClr val="1F0560"/>
                </a:solidFill>
                <a:latin typeface="Poppins Bold"/>
                <a:ea typeface="Poppins Bold"/>
                <a:cs typeface="Poppins Bold"/>
                <a:sym typeface="Poppins Bold"/>
              </a:rPr>
              <a:t>sebelumnya aktif</a:t>
            </a:r>
            <a:r>
              <a:rPr lang="en-US" sz="2000">
                <a:solidFill>
                  <a:srgbClr val="1F0560"/>
                </a:solidFill>
                <a:latin typeface="Poppins"/>
                <a:ea typeface="Poppins"/>
                <a:cs typeface="Poppins"/>
                <a:sym typeface="Poppins"/>
              </a:rPr>
              <a:t> bertransaksi namun </a:t>
            </a:r>
            <a:r>
              <a:rPr lang="en-US" sz="2000" b="true">
                <a:solidFill>
                  <a:srgbClr val="1F0560"/>
                </a:solidFill>
                <a:latin typeface="Poppins Bold"/>
                <a:ea typeface="Poppins Bold"/>
                <a:cs typeface="Poppins Bold"/>
                <a:sym typeface="Poppins Bold"/>
              </a:rPr>
              <a:t>sudah lama tidak</a:t>
            </a:r>
            <a:r>
              <a:rPr lang="en-US" sz="2000">
                <a:solidFill>
                  <a:srgbClr val="1F0560"/>
                </a:solidFill>
                <a:latin typeface="Poppins"/>
                <a:ea typeface="Poppins"/>
                <a:cs typeface="Poppins"/>
                <a:sym typeface="Poppins"/>
              </a:rPr>
              <a:t> m</a:t>
            </a:r>
            <a:r>
              <a:rPr lang="en-US" sz="2000">
                <a:solidFill>
                  <a:srgbClr val="1F0560"/>
                </a:solidFill>
                <a:latin typeface="Poppins"/>
                <a:ea typeface="Poppins"/>
                <a:cs typeface="Poppins"/>
                <a:sym typeface="Poppins"/>
              </a:rPr>
              <a:t>e</a:t>
            </a:r>
            <a:r>
              <a:rPr lang="en-US" sz="2000">
                <a:solidFill>
                  <a:srgbClr val="1F0560"/>
                </a:solidFill>
                <a:latin typeface="Poppins"/>
                <a:ea typeface="Poppins"/>
                <a:cs typeface="Poppins"/>
                <a:sym typeface="Poppins"/>
              </a:rPr>
              <a:t>lakukan</a:t>
            </a:r>
            <a:r>
              <a:rPr lang="en-US" sz="2000">
                <a:solidFill>
                  <a:srgbClr val="1F0560"/>
                </a:solidFill>
                <a:latin typeface="Poppins"/>
                <a:ea typeface="Poppins"/>
                <a:cs typeface="Poppins"/>
                <a:sym typeface="Poppins"/>
              </a:rPr>
              <a:t> </a:t>
            </a:r>
            <a:r>
              <a:rPr lang="en-US" sz="2000">
                <a:solidFill>
                  <a:srgbClr val="1F0560"/>
                </a:solidFill>
                <a:latin typeface="Poppins"/>
                <a:ea typeface="Poppins"/>
                <a:cs typeface="Poppins"/>
                <a:sym typeface="Poppins"/>
              </a:rPr>
              <a:t>p</a:t>
            </a:r>
            <a:r>
              <a:rPr lang="en-US" sz="2000">
                <a:solidFill>
                  <a:srgbClr val="1F0560"/>
                </a:solidFill>
                <a:latin typeface="Poppins"/>
                <a:ea typeface="Poppins"/>
                <a:cs typeface="Poppins"/>
                <a:sym typeface="Poppins"/>
              </a:rPr>
              <a:t>e</a:t>
            </a:r>
            <a:r>
              <a:rPr lang="en-US" sz="2000">
                <a:solidFill>
                  <a:srgbClr val="1F0560"/>
                </a:solidFill>
                <a:latin typeface="Poppins"/>
                <a:ea typeface="Poppins"/>
                <a:cs typeface="Poppins"/>
                <a:sym typeface="Poppins"/>
              </a:rPr>
              <a:t>mb</a:t>
            </a:r>
            <a:r>
              <a:rPr lang="en-US" sz="2000">
                <a:solidFill>
                  <a:srgbClr val="1F0560"/>
                </a:solidFill>
                <a:latin typeface="Poppins"/>
                <a:ea typeface="Poppins"/>
                <a:cs typeface="Poppins"/>
                <a:sym typeface="Poppins"/>
              </a:rPr>
              <a:t>e</a:t>
            </a:r>
            <a:r>
              <a:rPr lang="en-US" sz="2000">
                <a:solidFill>
                  <a:srgbClr val="1F0560"/>
                </a:solidFill>
                <a:latin typeface="Poppins"/>
                <a:ea typeface="Poppins"/>
                <a:cs typeface="Poppins"/>
                <a:sym typeface="Poppins"/>
              </a:rPr>
              <a:t>lia</a:t>
            </a:r>
            <a:r>
              <a:rPr lang="en-US" sz="2000">
                <a:solidFill>
                  <a:srgbClr val="1F0560"/>
                </a:solidFill>
                <a:latin typeface="Poppins"/>
                <a:ea typeface="Poppins"/>
                <a:cs typeface="Poppins"/>
                <a:sym typeface="Poppins"/>
              </a:rPr>
              <a:t>n </a:t>
            </a:r>
            <a:r>
              <a:rPr lang="en-US" sz="2000">
                <a:solidFill>
                  <a:srgbClr val="1F0560"/>
                </a:solidFill>
                <a:latin typeface="Poppins"/>
                <a:ea typeface="Poppins"/>
                <a:cs typeface="Poppins"/>
                <a:sym typeface="Poppins"/>
              </a:rPr>
              <a:t>k</a:t>
            </a:r>
            <a:r>
              <a:rPr lang="en-US" sz="2000">
                <a:solidFill>
                  <a:srgbClr val="1F0560"/>
                </a:solidFill>
                <a:latin typeface="Poppins"/>
                <a:ea typeface="Poppins"/>
                <a:cs typeface="Poppins"/>
                <a:sym typeface="Poppins"/>
              </a:rPr>
              <a:t>e</a:t>
            </a:r>
            <a:r>
              <a:rPr lang="en-US" sz="2000">
                <a:solidFill>
                  <a:srgbClr val="1F0560"/>
                </a:solidFill>
                <a:latin typeface="Poppins"/>
                <a:ea typeface="Poppins"/>
                <a:cs typeface="Poppins"/>
                <a:sym typeface="Poppins"/>
              </a:rPr>
              <a:t>mb</a:t>
            </a:r>
            <a:r>
              <a:rPr lang="en-US" sz="2000">
                <a:solidFill>
                  <a:srgbClr val="1F0560"/>
                </a:solidFill>
                <a:latin typeface="Poppins"/>
                <a:ea typeface="Poppins"/>
                <a:cs typeface="Poppins"/>
                <a:sym typeface="Poppins"/>
              </a:rPr>
              <a:t>a</a:t>
            </a:r>
            <a:r>
              <a:rPr lang="en-US" sz="2000">
                <a:solidFill>
                  <a:srgbClr val="1F0560"/>
                </a:solidFill>
                <a:latin typeface="Poppins"/>
                <a:ea typeface="Poppins"/>
                <a:cs typeface="Poppins"/>
                <a:sym typeface="Poppins"/>
              </a:rPr>
              <a:t>li termasuk dalam segment </a:t>
            </a:r>
            <a:r>
              <a:rPr lang="en-US" sz="2000" b="true">
                <a:solidFill>
                  <a:srgbClr val="FEAC3D"/>
                </a:solidFill>
                <a:latin typeface="Poppins Bold"/>
                <a:ea typeface="Poppins Bold"/>
                <a:cs typeface="Poppins Bold"/>
                <a:sym typeface="Poppins Bold"/>
              </a:rPr>
              <a:t>hibernation </a:t>
            </a:r>
            <a:r>
              <a:rPr lang="en-US" sz="2000">
                <a:solidFill>
                  <a:srgbClr val="1F0560"/>
                </a:solidFill>
                <a:latin typeface="Poppins"/>
                <a:ea typeface="Poppins"/>
                <a:cs typeface="Poppins"/>
                <a:sym typeface="Poppins"/>
              </a:rPr>
              <a:t>dengan total </a:t>
            </a:r>
            <a:r>
              <a:rPr lang="en-US" sz="2000" b="true">
                <a:solidFill>
                  <a:srgbClr val="FEAC3D"/>
                </a:solidFill>
                <a:latin typeface="Poppins Bold"/>
                <a:ea typeface="Poppins Bold"/>
                <a:cs typeface="Poppins Bold"/>
                <a:sym typeface="Poppins Bold"/>
              </a:rPr>
              <a:t>11 pengguna. </a:t>
            </a:r>
            <a:r>
              <a:rPr lang="en-US" sz="2000">
                <a:solidFill>
                  <a:srgbClr val="1F0560"/>
                </a:solidFill>
                <a:latin typeface="Poppins"/>
                <a:ea typeface="Poppins"/>
                <a:cs typeface="Poppins"/>
                <a:sym typeface="Poppins"/>
              </a:rPr>
              <a:t>Segmen ini memiliki risiko churn yang tinggi sehingga perlu </a:t>
            </a:r>
            <a:r>
              <a:rPr lang="en-US" sz="2000">
                <a:solidFill>
                  <a:srgbClr val="1F0560"/>
                </a:solidFill>
                <a:latin typeface="Poppins"/>
                <a:ea typeface="Poppins"/>
                <a:cs typeface="Poppins"/>
                <a:sym typeface="Poppins"/>
              </a:rPr>
              <a:t>men</a:t>
            </a:r>
            <a:r>
              <a:rPr lang="en-US" sz="2000">
                <a:solidFill>
                  <a:srgbClr val="1F0560"/>
                </a:solidFill>
                <a:latin typeface="Poppins"/>
                <a:ea typeface="Poppins"/>
                <a:cs typeface="Poppins"/>
                <a:sym typeface="Poppins"/>
              </a:rPr>
              <a:t>jad</a:t>
            </a:r>
            <a:r>
              <a:rPr lang="en-US" sz="2000">
                <a:solidFill>
                  <a:srgbClr val="1F0560"/>
                </a:solidFill>
                <a:latin typeface="Poppins"/>
                <a:ea typeface="Poppins"/>
                <a:cs typeface="Poppins"/>
                <a:sym typeface="Poppins"/>
              </a:rPr>
              <a:t>i</a:t>
            </a:r>
            <a:r>
              <a:rPr lang="en-US" sz="2000">
                <a:solidFill>
                  <a:srgbClr val="1F0560"/>
                </a:solidFill>
                <a:latin typeface="Poppins"/>
                <a:ea typeface="Poppins"/>
                <a:cs typeface="Poppins"/>
                <a:sym typeface="Poppins"/>
              </a:rPr>
              <a:t> p</a:t>
            </a:r>
            <a:r>
              <a:rPr lang="en-US" sz="2000">
                <a:solidFill>
                  <a:srgbClr val="1F0560"/>
                </a:solidFill>
                <a:latin typeface="Poppins"/>
                <a:ea typeface="Poppins"/>
                <a:cs typeface="Poppins"/>
                <a:sym typeface="Poppins"/>
              </a:rPr>
              <a:t>ri</a:t>
            </a:r>
            <a:r>
              <a:rPr lang="en-US" sz="2000">
                <a:solidFill>
                  <a:srgbClr val="1F0560"/>
                </a:solidFill>
                <a:latin typeface="Poppins"/>
                <a:ea typeface="Poppins"/>
                <a:cs typeface="Poppins"/>
                <a:sym typeface="Poppins"/>
              </a:rPr>
              <a:t>orit</a:t>
            </a:r>
            <a:r>
              <a:rPr lang="en-US" sz="2000">
                <a:solidFill>
                  <a:srgbClr val="1F0560"/>
                </a:solidFill>
                <a:latin typeface="Poppins"/>
                <a:ea typeface="Poppins"/>
                <a:cs typeface="Poppins"/>
                <a:sym typeface="Poppins"/>
              </a:rPr>
              <a:t>a</a:t>
            </a:r>
            <a:r>
              <a:rPr lang="en-US" sz="2000">
                <a:solidFill>
                  <a:srgbClr val="1F0560"/>
                </a:solidFill>
                <a:latin typeface="Poppins"/>
                <a:ea typeface="Poppins"/>
                <a:cs typeface="Poppins"/>
                <a:sym typeface="Poppins"/>
              </a:rPr>
              <a:t>s</a:t>
            </a:r>
            <a:r>
              <a:rPr lang="en-US" sz="2000">
                <a:solidFill>
                  <a:srgbClr val="1F0560"/>
                </a:solidFill>
                <a:latin typeface="Poppins"/>
                <a:ea typeface="Poppins"/>
                <a:cs typeface="Poppins"/>
                <a:sym typeface="Poppins"/>
              </a:rPr>
              <a:t> p</a:t>
            </a:r>
            <a:r>
              <a:rPr lang="en-US" sz="2000">
                <a:solidFill>
                  <a:srgbClr val="1F0560"/>
                </a:solidFill>
                <a:latin typeface="Poppins"/>
                <a:ea typeface="Poppins"/>
                <a:cs typeface="Poppins"/>
                <a:sym typeface="Poppins"/>
              </a:rPr>
              <a:t>rogr</a:t>
            </a:r>
            <a:r>
              <a:rPr lang="en-US" sz="2000">
                <a:solidFill>
                  <a:srgbClr val="1F0560"/>
                </a:solidFill>
                <a:latin typeface="Poppins"/>
                <a:ea typeface="Poppins"/>
                <a:cs typeface="Poppins"/>
                <a:sym typeface="Poppins"/>
              </a:rPr>
              <a:t>a</a:t>
            </a:r>
            <a:r>
              <a:rPr lang="en-US" sz="2000">
                <a:solidFill>
                  <a:srgbClr val="1F0560"/>
                </a:solidFill>
                <a:latin typeface="Poppins"/>
                <a:ea typeface="Poppins"/>
                <a:cs typeface="Poppins"/>
                <a:sym typeface="Poppins"/>
              </a:rPr>
              <a:t>m</a:t>
            </a:r>
            <a:r>
              <a:rPr lang="en-US" sz="2000">
                <a:solidFill>
                  <a:srgbClr val="1F0560"/>
                </a:solidFill>
                <a:latin typeface="Poppins"/>
                <a:ea typeface="Poppins"/>
                <a:cs typeface="Poppins"/>
                <a:sym typeface="Poppins"/>
              </a:rPr>
              <a:t> retensi </a:t>
            </a:r>
            <a:r>
              <a:rPr lang="en-US" sz="2000">
                <a:solidFill>
                  <a:srgbClr val="1F0560"/>
                </a:solidFill>
                <a:latin typeface="Poppins"/>
                <a:ea typeface="Poppins"/>
                <a:cs typeface="Poppins"/>
                <a:sym typeface="Poppins"/>
              </a:rPr>
              <a:t>dan reaktivasi pelanggan.</a:t>
            </a:r>
          </a:p>
        </p:txBody>
      </p:sp>
      <p:sp>
        <p:nvSpPr>
          <p:cNvPr name="TextBox 15" id="15"/>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TextBox 16" id="16"/>
          <p:cNvSpPr txBox="true"/>
          <p:nvPr/>
        </p:nvSpPr>
        <p:spPr>
          <a:xfrm rot="0">
            <a:off x="7548231" y="6281224"/>
            <a:ext cx="1152767" cy="259715"/>
          </a:xfrm>
          <a:prstGeom prst="rect">
            <a:avLst/>
          </a:prstGeom>
        </p:spPr>
        <p:txBody>
          <a:bodyPr anchor="t" rtlCol="false" tIns="0" lIns="0" bIns="0" rIns="0">
            <a:spAutoFit/>
          </a:bodyPr>
          <a:lstStyle/>
          <a:p>
            <a:pPr algn="l">
              <a:lnSpc>
                <a:spcPts val="1960"/>
              </a:lnSpc>
            </a:pPr>
            <a:r>
              <a:rPr lang="en-US" sz="1400">
                <a:solidFill>
                  <a:srgbClr val="1F0560"/>
                </a:solidFill>
                <a:latin typeface="Poppins"/>
                <a:ea typeface="Poppins"/>
                <a:cs typeface="Poppins"/>
                <a:sym typeface="Poppins"/>
              </a:rPr>
              <a:t>Before Filter</a:t>
            </a:r>
          </a:p>
        </p:txBody>
      </p:sp>
      <p:sp>
        <p:nvSpPr>
          <p:cNvPr name="TextBox 17" id="17"/>
          <p:cNvSpPr txBox="true"/>
          <p:nvPr/>
        </p:nvSpPr>
        <p:spPr>
          <a:xfrm rot="0">
            <a:off x="9417553" y="6281224"/>
            <a:ext cx="1152767" cy="259715"/>
          </a:xfrm>
          <a:prstGeom prst="rect">
            <a:avLst/>
          </a:prstGeom>
        </p:spPr>
        <p:txBody>
          <a:bodyPr anchor="t" rtlCol="false" tIns="0" lIns="0" bIns="0" rIns="0">
            <a:spAutoFit/>
          </a:bodyPr>
          <a:lstStyle/>
          <a:p>
            <a:pPr algn="l">
              <a:lnSpc>
                <a:spcPts val="1960"/>
              </a:lnSpc>
            </a:pPr>
            <a:r>
              <a:rPr lang="en-US" sz="1400">
                <a:solidFill>
                  <a:srgbClr val="1F0560"/>
                </a:solidFill>
                <a:latin typeface="Poppins"/>
                <a:ea typeface="Poppins"/>
                <a:cs typeface="Poppins"/>
                <a:sym typeface="Poppins"/>
              </a:rPr>
              <a:t>After Filter</a:t>
            </a:r>
          </a:p>
        </p:txBody>
      </p:sp>
      <p:sp>
        <p:nvSpPr>
          <p:cNvPr name="Freeform 18" id="18"/>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620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043764" y="2302333"/>
            <a:ext cx="5519315" cy="3369914"/>
          </a:xfrm>
          <a:custGeom>
            <a:avLst/>
            <a:gdLst/>
            <a:ahLst/>
            <a:cxnLst/>
            <a:rect r="r" b="b" t="t" l="l"/>
            <a:pathLst>
              <a:path h="3369914" w="5519315">
                <a:moveTo>
                  <a:pt x="0" y="0"/>
                </a:moveTo>
                <a:lnTo>
                  <a:pt x="5519315" y="0"/>
                </a:lnTo>
                <a:lnTo>
                  <a:pt x="5519315" y="3369914"/>
                </a:lnTo>
                <a:lnTo>
                  <a:pt x="0" y="3369914"/>
                </a:lnTo>
                <a:lnTo>
                  <a:pt x="0" y="0"/>
                </a:lnTo>
                <a:close/>
              </a:path>
            </a:pathLst>
          </a:custGeom>
          <a:blipFill>
            <a:blip r:embed="rId2"/>
            <a:stretch>
              <a:fillRect l="0" t="0" r="0" b="0"/>
            </a:stretch>
          </a:blipFill>
          <a:ln w="9525" cap="sq">
            <a:solidFill>
              <a:srgbClr val="000000"/>
            </a:solidFill>
            <a:prstDash val="solid"/>
            <a:miter/>
          </a:ln>
        </p:spPr>
      </p:sp>
      <p:sp>
        <p:nvSpPr>
          <p:cNvPr name="Freeform 12" id="12"/>
          <p:cNvSpPr/>
          <p:nvPr/>
        </p:nvSpPr>
        <p:spPr>
          <a:xfrm flipH="false" flipV="false" rot="0">
            <a:off x="11163391" y="1794660"/>
            <a:ext cx="4444010" cy="4995271"/>
          </a:xfrm>
          <a:custGeom>
            <a:avLst/>
            <a:gdLst/>
            <a:ahLst/>
            <a:cxnLst/>
            <a:rect r="r" b="b" t="t" l="l"/>
            <a:pathLst>
              <a:path h="4995271" w="4444010">
                <a:moveTo>
                  <a:pt x="0" y="0"/>
                </a:moveTo>
                <a:lnTo>
                  <a:pt x="4444011" y="0"/>
                </a:lnTo>
                <a:lnTo>
                  <a:pt x="4444011" y="4995271"/>
                </a:lnTo>
                <a:lnTo>
                  <a:pt x="0" y="4995271"/>
                </a:lnTo>
                <a:lnTo>
                  <a:pt x="0" y="0"/>
                </a:lnTo>
                <a:close/>
              </a:path>
            </a:pathLst>
          </a:custGeom>
          <a:blipFill>
            <a:blip r:embed="rId3"/>
            <a:stretch>
              <a:fillRect l="0" t="0" r="0" b="0"/>
            </a:stretch>
          </a:blipFill>
          <a:ln w="9525" cap="sq">
            <a:solidFill>
              <a:srgbClr val="000000"/>
            </a:solidFill>
            <a:prstDash val="solid"/>
            <a:miter/>
          </a:ln>
        </p:spPr>
      </p:sp>
      <p:sp>
        <p:nvSpPr>
          <p:cNvPr name="TextBox 13" id="13"/>
          <p:cNvSpPr txBox="true"/>
          <p:nvPr/>
        </p:nvSpPr>
        <p:spPr>
          <a:xfrm rot="0">
            <a:off x="3448108" y="696806"/>
            <a:ext cx="11708302" cy="597114"/>
          </a:xfrm>
          <a:prstGeom prst="rect">
            <a:avLst/>
          </a:prstGeom>
        </p:spPr>
        <p:txBody>
          <a:bodyPr anchor="t" rtlCol="false" tIns="0" lIns="0" bIns="0" rIns="0">
            <a:spAutoFit/>
          </a:bodyPr>
          <a:lstStyle/>
          <a:p>
            <a:pPr algn="just">
              <a:lnSpc>
                <a:spcPts val="4888"/>
              </a:lnSpc>
            </a:pPr>
            <a:r>
              <a:rPr lang="en-US" sz="3491" b="true">
                <a:solidFill>
                  <a:srgbClr val="1F0560"/>
                </a:solidFill>
                <a:latin typeface="TT Hoves Bold"/>
                <a:ea typeface="TT Hoves Bold"/>
                <a:cs typeface="TT Hoves Bold"/>
                <a:sym typeface="TT Hoves Bold"/>
              </a:rPr>
              <a:t>Segmentasi Customer </a:t>
            </a:r>
            <a:r>
              <a:rPr lang="en-US" sz="3491" b="true">
                <a:solidFill>
                  <a:srgbClr val="FEAC3D"/>
                </a:solidFill>
                <a:latin typeface="TT Hoves Bold"/>
                <a:ea typeface="TT Hoves Bold"/>
                <a:cs typeface="TT Hoves Bold"/>
                <a:sym typeface="TT Hoves Bold"/>
              </a:rPr>
              <a:t>Berdasarkan Filter RFM Score</a:t>
            </a:r>
          </a:p>
        </p:txBody>
      </p:sp>
      <p:sp>
        <p:nvSpPr>
          <p:cNvPr name="TextBox 14" id="14"/>
          <p:cNvSpPr txBox="true"/>
          <p:nvPr/>
        </p:nvSpPr>
        <p:spPr>
          <a:xfrm rot="0">
            <a:off x="5908603" y="7965083"/>
            <a:ext cx="11580354" cy="1425575"/>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Perusahaan perlu mempertimbangkan penerapan kampanye promosi yang lebih tersegmentasi dan tepat sasaran. Sebagai contoh, pelanggan prioritas  dengan </a:t>
            </a:r>
            <a:r>
              <a:rPr lang="en-US" sz="2000" b="true">
                <a:solidFill>
                  <a:srgbClr val="1F0560"/>
                </a:solidFill>
                <a:latin typeface="Poppins Bold"/>
                <a:ea typeface="Poppins Bold"/>
                <a:cs typeface="Poppins Bold"/>
                <a:sym typeface="Poppins Bold"/>
              </a:rPr>
              <a:t>skor Recency, Frequency, dan Monetary yang tinggi</a:t>
            </a:r>
            <a:r>
              <a:rPr lang="en-US" sz="2000">
                <a:solidFill>
                  <a:srgbClr val="1F0560"/>
                </a:solidFill>
                <a:latin typeface="Poppins"/>
                <a:ea typeface="Poppins"/>
                <a:cs typeface="Poppins"/>
                <a:sym typeface="Poppins"/>
              </a:rPr>
              <a:t> dapat diberikan reward atau </a:t>
            </a:r>
            <a:r>
              <a:rPr lang="en-US" sz="2000" b="true">
                <a:solidFill>
                  <a:srgbClr val="FEAC3D"/>
                </a:solidFill>
                <a:latin typeface="Poppins Bold"/>
                <a:ea typeface="Poppins Bold"/>
                <a:cs typeface="Poppins Bold"/>
                <a:sym typeface="Poppins Bold"/>
              </a:rPr>
              <a:t>penawaran eksklusif</a:t>
            </a:r>
            <a:r>
              <a:rPr lang="en-US" sz="2000">
                <a:solidFill>
                  <a:srgbClr val="1F0560"/>
                </a:solidFill>
                <a:latin typeface="Poppins"/>
                <a:ea typeface="Poppins"/>
                <a:cs typeface="Poppins"/>
                <a:sym typeface="Poppins"/>
              </a:rPr>
              <a:t> untuk meningkatkan loyalitas dan mempertahankan tingkat retensi pelanggan.</a:t>
            </a:r>
          </a:p>
        </p:txBody>
      </p:sp>
      <p:sp>
        <p:nvSpPr>
          <p:cNvPr name="TextBox 15" id="15"/>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Freeform 16" id="16"/>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3349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5908603" y="7965083"/>
            <a:ext cx="11604066" cy="1425575"/>
          </a:xfrm>
          <a:prstGeom prst="rect">
            <a:avLst/>
          </a:prstGeom>
        </p:spPr>
        <p:txBody>
          <a:bodyPr anchor="t" rtlCol="false" tIns="0" lIns="0" bIns="0" rIns="0">
            <a:spAutoFit/>
          </a:bodyPr>
          <a:lstStyle/>
          <a:p>
            <a:pPr algn="l">
              <a:lnSpc>
                <a:spcPts val="2800"/>
              </a:lnSpc>
            </a:pPr>
            <a:r>
              <a:rPr lang="en-US" sz="2000" b="true">
                <a:solidFill>
                  <a:srgbClr val="FEAC3D"/>
                </a:solidFill>
                <a:latin typeface="Poppins Bold"/>
                <a:ea typeface="Poppins Bold"/>
                <a:cs typeface="Poppins Bold"/>
                <a:sym typeface="Poppins Bold"/>
              </a:rPr>
              <a:t>Dealer </a:t>
            </a:r>
            <a:r>
              <a:rPr lang="en-US" sz="2000">
                <a:solidFill>
                  <a:srgbClr val="1F0560"/>
                </a:solidFill>
                <a:latin typeface="Poppins"/>
                <a:ea typeface="Poppins"/>
                <a:cs typeface="Poppins"/>
                <a:sym typeface="Poppins"/>
              </a:rPr>
              <a:t>menjadi </a:t>
            </a:r>
            <a:r>
              <a:rPr lang="en-US" sz="2000" b="true">
                <a:solidFill>
                  <a:srgbClr val="FEAC3D"/>
                </a:solidFill>
                <a:latin typeface="Poppins Bold"/>
                <a:ea typeface="Poppins Bold"/>
                <a:cs typeface="Poppins Bold"/>
                <a:sym typeface="Poppins Bold"/>
              </a:rPr>
              <a:t>channel </a:t>
            </a:r>
            <a:r>
              <a:rPr lang="en-US" sz="2000">
                <a:solidFill>
                  <a:srgbClr val="1F0560"/>
                </a:solidFill>
                <a:latin typeface="Poppins"/>
                <a:ea typeface="Poppins"/>
                <a:cs typeface="Poppins"/>
                <a:sym typeface="Poppins"/>
              </a:rPr>
              <a:t>dengan retensi pelanggan </a:t>
            </a:r>
            <a:r>
              <a:rPr lang="en-US" sz="2000" b="true">
                <a:solidFill>
                  <a:srgbClr val="1F0560"/>
                </a:solidFill>
                <a:latin typeface="Poppins Bold"/>
                <a:ea typeface="Poppins Bold"/>
                <a:cs typeface="Poppins Bold"/>
                <a:sym typeface="Poppins Bold"/>
              </a:rPr>
              <a:t>tertinggi</a:t>
            </a:r>
            <a:r>
              <a:rPr lang="en-US" sz="2000">
                <a:solidFill>
                  <a:srgbClr val="1F0560"/>
                </a:solidFill>
                <a:latin typeface="Poppins"/>
                <a:ea typeface="Poppins"/>
                <a:cs typeface="Poppins"/>
                <a:sym typeface="Poppins"/>
              </a:rPr>
              <a:t>, sementara Online dan Retail menunjukkan potensi yang baik dalam mempertahankan pelanggan. Oleh karena itu, perusahaan perlu mempertahankan performa Dealer serta mengoptimalkan channel Online dan Retail untuk meningkatkan retensi dan memperluas jangkauan pelanggan.</a:t>
            </a:r>
          </a:p>
        </p:txBody>
      </p:sp>
      <p:sp>
        <p:nvSpPr>
          <p:cNvPr name="TextBox 12" id="12"/>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TextBox 13" id="13"/>
          <p:cNvSpPr txBox="true"/>
          <p:nvPr/>
        </p:nvSpPr>
        <p:spPr>
          <a:xfrm rot="0">
            <a:off x="1028700" y="2526944"/>
            <a:ext cx="7093754" cy="1429238"/>
          </a:xfrm>
          <a:prstGeom prst="rect">
            <a:avLst/>
          </a:prstGeom>
        </p:spPr>
        <p:txBody>
          <a:bodyPr anchor="t" rtlCol="false" tIns="0" lIns="0" bIns="0" rIns="0">
            <a:spAutoFit/>
          </a:bodyPr>
          <a:lstStyle/>
          <a:p>
            <a:pPr algn="ctr">
              <a:lnSpc>
                <a:spcPts val="5748"/>
              </a:lnSpc>
            </a:pPr>
            <a:r>
              <a:rPr lang="en-US" sz="4105" b="true">
                <a:solidFill>
                  <a:srgbClr val="FEAC3D"/>
                </a:solidFill>
                <a:latin typeface="Neue Machina Ultra-Bold"/>
                <a:ea typeface="Neue Machina Ultra-Bold"/>
                <a:cs typeface="Neue Machina Ultra-Bold"/>
                <a:sym typeface="Neue Machina Ultra-Bold"/>
              </a:rPr>
              <a:t>Customer Distribution</a:t>
            </a:r>
          </a:p>
          <a:p>
            <a:pPr algn="ctr">
              <a:lnSpc>
                <a:spcPts val="5748"/>
              </a:lnSpc>
            </a:pPr>
            <a:r>
              <a:rPr lang="en-US" sz="4105" b="true">
                <a:solidFill>
                  <a:srgbClr val="000000"/>
                </a:solidFill>
                <a:latin typeface="Neue Machina Ultra-Bold"/>
                <a:ea typeface="Neue Machina Ultra-Bold"/>
                <a:cs typeface="Neue Machina Ultra-Bold"/>
                <a:sym typeface="Neue Machina Ultra-Bold"/>
              </a:rPr>
              <a:t>by channel </a:t>
            </a:r>
          </a:p>
        </p:txBody>
      </p:sp>
      <p:sp>
        <p:nvSpPr>
          <p:cNvPr name="Freeform 14" id="14"/>
          <p:cNvSpPr/>
          <p:nvPr/>
        </p:nvSpPr>
        <p:spPr>
          <a:xfrm flipH="false" flipV="false" rot="0">
            <a:off x="9144000" y="663195"/>
            <a:ext cx="6230128" cy="6064977"/>
          </a:xfrm>
          <a:custGeom>
            <a:avLst/>
            <a:gdLst/>
            <a:ahLst/>
            <a:cxnLst/>
            <a:rect r="r" b="b" t="t" l="l"/>
            <a:pathLst>
              <a:path h="6064977" w="6230128">
                <a:moveTo>
                  <a:pt x="0" y="0"/>
                </a:moveTo>
                <a:lnTo>
                  <a:pt x="6230128" y="0"/>
                </a:lnTo>
                <a:lnTo>
                  <a:pt x="6230128" y="6064977"/>
                </a:lnTo>
                <a:lnTo>
                  <a:pt x="0" y="6064977"/>
                </a:lnTo>
                <a:lnTo>
                  <a:pt x="0" y="0"/>
                </a:lnTo>
                <a:close/>
              </a:path>
            </a:pathLst>
          </a:custGeom>
          <a:blipFill>
            <a:blip r:embed="rId2"/>
            <a:stretch>
              <a:fillRect l="-121207" t="-92582" r="-108423" b="0"/>
            </a:stretch>
          </a:blipFill>
          <a:ln w="9525" cap="sq">
            <a:solidFill>
              <a:srgbClr val="000000"/>
            </a:solidFill>
            <a:prstDash val="solid"/>
            <a:miter/>
          </a:ln>
        </p:spPr>
      </p:sp>
      <p:sp>
        <p:nvSpPr>
          <p:cNvPr name="Freeform 15" id="15"/>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5254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8224869" y="1028700"/>
            <a:ext cx="7525507" cy="5209080"/>
            <a:chOff x="0" y="0"/>
            <a:chExt cx="10034009" cy="6945439"/>
          </a:xfrm>
        </p:grpSpPr>
        <p:sp>
          <p:nvSpPr>
            <p:cNvPr name="Freeform 12" id="12"/>
            <p:cNvSpPr/>
            <p:nvPr/>
          </p:nvSpPr>
          <p:spPr>
            <a:xfrm flipH="false" flipV="false" rot="0">
              <a:off x="0" y="0"/>
              <a:ext cx="10034009" cy="6945439"/>
            </a:xfrm>
            <a:custGeom>
              <a:avLst/>
              <a:gdLst/>
              <a:ahLst/>
              <a:cxnLst/>
              <a:rect r="r" b="b" t="t" l="l"/>
              <a:pathLst>
                <a:path h="6945439" w="10034009">
                  <a:moveTo>
                    <a:pt x="0" y="0"/>
                  </a:moveTo>
                  <a:lnTo>
                    <a:pt x="10034009" y="0"/>
                  </a:lnTo>
                  <a:lnTo>
                    <a:pt x="10034009" y="6945439"/>
                  </a:lnTo>
                  <a:lnTo>
                    <a:pt x="0" y="6945439"/>
                  </a:lnTo>
                  <a:lnTo>
                    <a:pt x="0" y="0"/>
                  </a:lnTo>
                  <a:close/>
                </a:path>
              </a:pathLst>
            </a:custGeom>
            <a:blipFill>
              <a:blip r:embed="rId2"/>
              <a:stretch>
                <a:fillRect l="0" t="0" r="0" b="0"/>
              </a:stretch>
            </a:blipFill>
            <a:ln w="9525" cap="sq">
              <a:solidFill>
                <a:srgbClr val="000000"/>
              </a:solidFill>
              <a:prstDash val="solid"/>
              <a:miter/>
            </a:ln>
          </p:spPr>
        </p:sp>
        <p:grpSp>
          <p:nvGrpSpPr>
            <p:cNvPr name="Group 13" id="13"/>
            <p:cNvGrpSpPr/>
            <p:nvPr/>
          </p:nvGrpSpPr>
          <p:grpSpPr>
            <a:xfrm rot="0">
              <a:off x="2455906" y="2604780"/>
              <a:ext cx="1973669" cy="2657529"/>
              <a:chOff x="0" y="0"/>
              <a:chExt cx="389860" cy="524944"/>
            </a:xfrm>
          </p:grpSpPr>
          <p:sp>
            <p:nvSpPr>
              <p:cNvPr name="Freeform 14" id="14"/>
              <p:cNvSpPr/>
              <p:nvPr/>
            </p:nvSpPr>
            <p:spPr>
              <a:xfrm flipH="false" flipV="false" rot="0">
                <a:off x="0" y="0"/>
                <a:ext cx="389860" cy="524944"/>
              </a:xfrm>
              <a:custGeom>
                <a:avLst/>
                <a:gdLst/>
                <a:ahLst/>
                <a:cxnLst/>
                <a:rect r="r" b="b" t="t" l="l"/>
                <a:pathLst>
                  <a:path h="524944" w="389860">
                    <a:moveTo>
                      <a:pt x="0" y="0"/>
                    </a:moveTo>
                    <a:lnTo>
                      <a:pt x="389860" y="0"/>
                    </a:lnTo>
                    <a:lnTo>
                      <a:pt x="389860" y="524944"/>
                    </a:lnTo>
                    <a:lnTo>
                      <a:pt x="0" y="524944"/>
                    </a:lnTo>
                    <a:close/>
                  </a:path>
                </a:pathLst>
              </a:custGeom>
              <a:solidFill>
                <a:srgbClr val="FF3131"/>
              </a:solidFill>
              <a:ln w="9525" cap="sq">
                <a:solidFill>
                  <a:srgbClr val="000000"/>
                </a:solidFill>
                <a:prstDash val="solid"/>
                <a:miter/>
              </a:ln>
            </p:spPr>
          </p:sp>
          <p:sp>
            <p:nvSpPr>
              <p:cNvPr name="TextBox 15" id="15"/>
              <p:cNvSpPr txBox="true"/>
              <p:nvPr/>
            </p:nvSpPr>
            <p:spPr>
              <a:xfrm>
                <a:off x="0" y="-38100"/>
                <a:ext cx="389860" cy="563044"/>
              </a:xfrm>
              <a:prstGeom prst="rect">
                <a:avLst/>
              </a:prstGeom>
            </p:spPr>
            <p:txBody>
              <a:bodyPr anchor="ctr" rtlCol="false" tIns="50800" lIns="50800" bIns="50800" rIns="50800"/>
              <a:lstStyle/>
              <a:p>
                <a:pPr algn="ctr">
                  <a:lnSpc>
                    <a:spcPts val="2659"/>
                  </a:lnSpc>
                </a:pPr>
              </a:p>
            </p:txBody>
          </p:sp>
        </p:grpSp>
      </p:grpSp>
      <p:sp>
        <p:nvSpPr>
          <p:cNvPr name="TextBox 16" id="16"/>
          <p:cNvSpPr txBox="true"/>
          <p:nvPr/>
        </p:nvSpPr>
        <p:spPr>
          <a:xfrm rot="0">
            <a:off x="5908603" y="7965083"/>
            <a:ext cx="11350697" cy="1778000"/>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Paket </a:t>
            </a:r>
            <a:r>
              <a:rPr lang="en-US" sz="2000" b="true">
                <a:solidFill>
                  <a:srgbClr val="FEAC3D"/>
                </a:solidFill>
                <a:latin typeface="Poppins Bold"/>
                <a:ea typeface="Poppins Bold"/>
                <a:cs typeface="Poppins Bold"/>
                <a:sym typeface="Poppins Bold"/>
              </a:rPr>
              <a:t>Voice </a:t>
            </a:r>
            <a:r>
              <a:rPr lang="en-US" sz="2000">
                <a:solidFill>
                  <a:srgbClr val="1F0560"/>
                </a:solidFill>
                <a:latin typeface="Poppins"/>
                <a:ea typeface="Poppins"/>
                <a:cs typeface="Poppins"/>
                <a:sym typeface="Poppins"/>
              </a:rPr>
              <a:t>memiliki jumlah pelanggan </a:t>
            </a:r>
            <a:r>
              <a:rPr lang="en-US" sz="2000" b="true">
                <a:solidFill>
                  <a:srgbClr val="1F0560"/>
                </a:solidFill>
                <a:latin typeface="Poppins Bold"/>
                <a:ea typeface="Poppins Bold"/>
                <a:cs typeface="Poppins Bold"/>
                <a:sym typeface="Poppins Bold"/>
              </a:rPr>
              <a:t>tertinggi </a:t>
            </a:r>
            <a:r>
              <a:rPr lang="en-US" sz="2000">
                <a:solidFill>
                  <a:srgbClr val="1F0560"/>
                </a:solidFill>
                <a:latin typeface="Poppins"/>
                <a:ea typeface="Poppins"/>
                <a:cs typeface="Poppins"/>
                <a:sym typeface="Poppins"/>
              </a:rPr>
              <a:t>dibandingkan paket Combo dan Data, menunjukkan tingginya minat pelanggan terhadap layanan voice. Pertimbangkan untuk fokus dalam pengembangan produk baru pada kategori Voice serta lakukan evaluasi terhadap paket Data dan Combo untuk meningkatkan daya tarik dan adopsi pelanggan.</a:t>
            </a:r>
          </a:p>
          <a:p>
            <a:pPr algn="l">
              <a:lnSpc>
                <a:spcPts val="2800"/>
              </a:lnSpc>
            </a:pPr>
          </a:p>
        </p:txBody>
      </p:sp>
      <p:sp>
        <p:nvSpPr>
          <p:cNvPr name="TextBox 17" id="17"/>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
        <p:nvSpPr>
          <p:cNvPr name="TextBox 18" id="18"/>
          <p:cNvSpPr txBox="true"/>
          <p:nvPr/>
        </p:nvSpPr>
        <p:spPr>
          <a:xfrm rot="0">
            <a:off x="1028700" y="2513808"/>
            <a:ext cx="6757188" cy="2153138"/>
          </a:xfrm>
          <a:prstGeom prst="rect">
            <a:avLst/>
          </a:prstGeom>
        </p:spPr>
        <p:txBody>
          <a:bodyPr anchor="t" rtlCol="false" tIns="0" lIns="0" bIns="0" rIns="0">
            <a:spAutoFit/>
          </a:bodyPr>
          <a:lstStyle/>
          <a:p>
            <a:pPr algn="ctr">
              <a:lnSpc>
                <a:spcPts val="5748"/>
              </a:lnSpc>
            </a:pPr>
            <a:r>
              <a:rPr lang="en-US" sz="4105" b="true">
                <a:solidFill>
                  <a:srgbClr val="FEAC3D"/>
                </a:solidFill>
                <a:latin typeface="Neue Machina Ultra-Bold"/>
                <a:ea typeface="Neue Machina Ultra-Bold"/>
                <a:cs typeface="Neue Machina Ultra-Bold"/>
                <a:sym typeface="Neue Machina Ultra-Bold"/>
              </a:rPr>
              <a:t>Customer Distribution </a:t>
            </a:r>
          </a:p>
          <a:p>
            <a:pPr algn="ctr">
              <a:lnSpc>
                <a:spcPts val="5748"/>
              </a:lnSpc>
            </a:pPr>
            <a:r>
              <a:rPr lang="en-US" sz="4105" b="true">
                <a:solidFill>
                  <a:srgbClr val="000000"/>
                </a:solidFill>
                <a:latin typeface="Neue Machina Ultra-Bold"/>
                <a:ea typeface="Neue Machina Ultra-Bold"/>
                <a:cs typeface="Neue Machina Ultra-Bold"/>
                <a:sym typeface="Neue Machina Ultra-Bold"/>
              </a:rPr>
              <a:t>by channel </a:t>
            </a:r>
          </a:p>
          <a:p>
            <a:pPr algn="ctr">
              <a:lnSpc>
                <a:spcPts val="5748"/>
              </a:lnSpc>
            </a:pPr>
          </a:p>
        </p:txBody>
      </p:sp>
      <p:sp>
        <p:nvSpPr>
          <p:cNvPr name="Freeform 19" id="19"/>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5254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F9F5E7"/>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F0EAFF"/>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4034475" y="7293795"/>
            <a:ext cx="1510883" cy="1964505"/>
          </a:xfrm>
          <a:custGeom>
            <a:avLst/>
            <a:gdLst/>
            <a:ahLst/>
            <a:cxnLst/>
            <a:rect r="r" b="b" t="t" l="l"/>
            <a:pathLst>
              <a:path h="1964505" w="1510883">
                <a:moveTo>
                  <a:pt x="0" y="0"/>
                </a:moveTo>
                <a:lnTo>
                  <a:pt x="1510883" y="0"/>
                </a:lnTo>
                <a:lnTo>
                  <a:pt x="1510883" y="1964505"/>
                </a:lnTo>
                <a:lnTo>
                  <a:pt x="0" y="1964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083297" y="2342277"/>
            <a:ext cx="8165619" cy="3129259"/>
          </a:xfrm>
          <a:custGeom>
            <a:avLst/>
            <a:gdLst/>
            <a:ahLst/>
            <a:cxnLst/>
            <a:rect r="r" b="b" t="t" l="l"/>
            <a:pathLst>
              <a:path h="3129259" w="8165619">
                <a:moveTo>
                  <a:pt x="0" y="0"/>
                </a:moveTo>
                <a:lnTo>
                  <a:pt x="8165619" y="0"/>
                </a:lnTo>
                <a:lnTo>
                  <a:pt x="8165619" y="3129258"/>
                </a:lnTo>
                <a:lnTo>
                  <a:pt x="0" y="3129258"/>
                </a:lnTo>
                <a:lnTo>
                  <a:pt x="0" y="0"/>
                </a:lnTo>
                <a:close/>
              </a:path>
            </a:pathLst>
          </a:custGeom>
          <a:blipFill>
            <a:blip r:embed="rId4"/>
            <a:stretch>
              <a:fillRect l="0" t="0" r="0" b="0"/>
            </a:stretch>
          </a:blipFill>
          <a:ln w="9525" cap="sq">
            <a:solidFill>
              <a:srgbClr val="000000"/>
            </a:solidFill>
            <a:prstDash val="solid"/>
            <a:miter/>
          </a:ln>
        </p:spPr>
      </p:sp>
      <p:sp>
        <p:nvSpPr>
          <p:cNvPr name="Freeform 13" id="13"/>
          <p:cNvSpPr/>
          <p:nvPr/>
        </p:nvSpPr>
        <p:spPr>
          <a:xfrm flipH="false" flipV="false" rot="0">
            <a:off x="1642100" y="701343"/>
            <a:ext cx="6730764" cy="5969150"/>
          </a:xfrm>
          <a:custGeom>
            <a:avLst/>
            <a:gdLst/>
            <a:ahLst/>
            <a:cxnLst/>
            <a:rect r="r" b="b" t="t" l="l"/>
            <a:pathLst>
              <a:path h="5969150" w="6730764">
                <a:moveTo>
                  <a:pt x="0" y="0"/>
                </a:moveTo>
                <a:lnTo>
                  <a:pt x="6730765" y="0"/>
                </a:lnTo>
                <a:lnTo>
                  <a:pt x="6730765" y="5969150"/>
                </a:lnTo>
                <a:lnTo>
                  <a:pt x="0" y="5969150"/>
                </a:lnTo>
                <a:lnTo>
                  <a:pt x="0" y="0"/>
                </a:lnTo>
                <a:close/>
              </a:path>
            </a:pathLst>
          </a:custGeom>
          <a:blipFill>
            <a:blip r:embed="rId5"/>
            <a:stretch>
              <a:fillRect l="0" t="0" r="0" b="0"/>
            </a:stretch>
          </a:blipFill>
          <a:ln w="9525" cap="sq">
            <a:solidFill>
              <a:srgbClr val="000000"/>
            </a:solidFill>
            <a:prstDash val="solid"/>
            <a:miter/>
          </a:ln>
        </p:spPr>
      </p:sp>
      <p:sp>
        <p:nvSpPr>
          <p:cNvPr name="Freeform 14" id="14"/>
          <p:cNvSpPr/>
          <p:nvPr/>
        </p:nvSpPr>
        <p:spPr>
          <a:xfrm flipH="false" flipV="false" rot="0">
            <a:off x="9676310" y="5657199"/>
            <a:ext cx="6959737" cy="1013294"/>
          </a:xfrm>
          <a:custGeom>
            <a:avLst/>
            <a:gdLst/>
            <a:ahLst/>
            <a:cxnLst/>
            <a:rect r="r" b="b" t="t" l="l"/>
            <a:pathLst>
              <a:path h="1013294" w="6959737">
                <a:moveTo>
                  <a:pt x="0" y="0"/>
                </a:moveTo>
                <a:lnTo>
                  <a:pt x="6959737" y="0"/>
                </a:lnTo>
                <a:lnTo>
                  <a:pt x="6959737" y="1013294"/>
                </a:lnTo>
                <a:lnTo>
                  <a:pt x="0" y="1013294"/>
                </a:lnTo>
                <a:lnTo>
                  <a:pt x="0" y="0"/>
                </a:lnTo>
                <a:close/>
              </a:path>
            </a:pathLst>
          </a:custGeom>
          <a:blipFill>
            <a:blip r:embed="rId6"/>
            <a:stretch>
              <a:fillRect l="0" t="-97280" r="0" b="-97203"/>
            </a:stretch>
          </a:blipFill>
          <a:ln w="9525" cap="sq">
            <a:solidFill>
              <a:srgbClr val="000000"/>
            </a:solidFill>
            <a:prstDash val="solid"/>
            <a:miter/>
          </a:ln>
        </p:spPr>
      </p:sp>
      <p:sp>
        <p:nvSpPr>
          <p:cNvPr name="TextBox 15" id="15"/>
          <p:cNvSpPr txBox="true"/>
          <p:nvPr/>
        </p:nvSpPr>
        <p:spPr>
          <a:xfrm rot="0">
            <a:off x="8612806" y="625143"/>
            <a:ext cx="8646494" cy="1384238"/>
          </a:xfrm>
          <a:prstGeom prst="rect">
            <a:avLst/>
          </a:prstGeom>
        </p:spPr>
        <p:txBody>
          <a:bodyPr anchor="t" rtlCol="false" tIns="0" lIns="0" bIns="0" rIns="0">
            <a:spAutoFit/>
          </a:bodyPr>
          <a:lstStyle/>
          <a:p>
            <a:pPr algn="r">
              <a:lnSpc>
                <a:spcPts val="5603"/>
              </a:lnSpc>
            </a:pPr>
            <a:r>
              <a:rPr lang="en-US" sz="4002" b="true">
                <a:solidFill>
                  <a:srgbClr val="1F0560"/>
                </a:solidFill>
                <a:latin typeface="TT Hoves Bold"/>
                <a:ea typeface="TT Hoves Bold"/>
                <a:cs typeface="TT Hoves Bold"/>
                <a:sym typeface="TT Hoves Bold"/>
              </a:rPr>
              <a:t>Perbandingan</a:t>
            </a:r>
          </a:p>
          <a:p>
            <a:pPr algn="r">
              <a:lnSpc>
                <a:spcPts val="5603"/>
              </a:lnSpc>
            </a:pPr>
            <a:r>
              <a:rPr lang="en-US" sz="4002" b="true">
                <a:solidFill>
                  <a:srgbClr val="FEAC3D"/>
                </a:solidFill>
                <a:latin typeface="TT Hoves Bold"/>
                <a:ea typeface="TT Hoves Bold"/>
                <a:cs typeface="TT Hoves Bold"/>
                <a:sym typeface="TT Hoves Bold"/>
              </a:rPr>
              <a:t>Target ARPU vs Actual ARPU</a:t>
            </a:r>
          </a:p>
        </p:txBody>
      </p:sp>
      <p:sp>
        <p:nvSpPr>
          <p:cNvPr name="TextBox 16" id="16"/>
          <p:cNvSpPr txBox="true"/>
          <p:nvPr/>
        </p:nvSpPr>
        <p:spPr>
          <a:xfrm rot="0">
            <a:off x="5908603" y="7965083"/>
            <a:ext cx="11350697" cy="1425575"/>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Selama 3 tahun terakhir perusahanan berhasil </a:t>
            </a:r>
            <a:r>
              <a:rPr lang="en-US" sz="2000" b="true">
                <a:solidFill>
                  <a:srgbClr val="FEAC3D"/>
                </a:solidFill>
                <a:latin typeface="Poppins Bold"/>
                <a:ea typeface="Poppins Bold"/>
                <a:cs typeface="Poppins Bold"/>
                <a:sym typeface="Poppins Bold"/>
              </a:rPr>
              <a:t>meningkatkkan ARPU</a:t>
            </a:r>
            <a:r>
              <a:rPr lang="en-US" sz="2000">
                <a:solidFill>
                  <a:srgbClr val="1F0560"/>
                </a:solidFill>
                <a:latin typeface="Poppins"/>
                <a:ea typeface="Poppins"/>
                <a:cs typeface="Poppins"/>
                <a:sym typeface="Poppins"/>
              </a:rPr>
              <a:t> secara signifikan. meskipun 2 tahun terakhir masih belum mencapai targetnya, di tahun 2025 keberhasilan melampaui target memungkinkan pergeseran basis pelanggan ke segmen loyal dan champion serta efektivitas strategi penawaran paket hybrid voice,data/combo.</a:t>
            </a:r>
          </a:p>
        </p:txBody>
      </p:sp>
      <p:sp>
        <p:nvSpPr>
          <p:cNvPr name="TextBox 17" id="17"/>
          <p:cNvSpPr txBox="true"/>
          <p:nvPr/>
        </p:nvSpPr>
        <p:spPr>
          <a:xfrm rot="0">
            <a:off x="5908603" y="7389091"/>
            <a:ext cx="1517027" cy="509317"/>
          </a:xfrm>
          <a:prstGeom prst="rect">
            <a:avLst/>
          </a:prstGeom>
        </p:spPr>
        <p:txBody>
          <a:bodyPr anchor="t" rtlCol="false" tIns="0" lIns="0" bIns="0" rIns="0">
            <a:spAutoFit/>
          </a:bodyPr>
          <a:lstStyle/>
          <a:p>
            <a:pPr algn="l">
              <a:lnSpc>
                <a:spcPts val="4258"/>
              </a:lnSpc>
            </a:pPr>
            <a:r>
              <a:rPr lang="en-US" sz="3041" b="true">
                <a:solidFill>
                  <a:srgbClr val="1F0560"/>
                </a:solidFill>
                <a:latin typeface="Montserrat Bold"/>
                <a:ea typeface="Montserrat Bold"/>
                <a:cs typeface="Montserrat Bold"/>
                <a:sym typeface="Montserrat Bold"/>
              </a:rPr>
              <a:t>Insight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9F5E7"/>
        </a:solidFill>
      </p:bgPr>
    </p:bg>
    <p:spTree>
      <p:nvGrpSpPr>
        <p:cNvPr id="1" name=""/>
        <p:cNvGrpSpPr/>
        <p:nvPr/>
      </p:nvGrpSpPr>
      <p:grpSpPr>
        <a:xfrm>
          <a:off x="0" y="0"/>
          <a:ext cx="0" cy="0"/>
          <a:chOff x="0" y="0"/>
          <a:chExt cx="0" cy="0"/>
        </a:xfrm>
      </p:grpSpPr>
      <p:sp>
        <p:nvSpPr>
          <p:cNvPr name="Freeform 2" id="2"/>
          <p:cNvSpPr/>
          <p:nvPr/>
        </p:nvSpPr>
        <p:spPr>
          <a:xfrm flipH="true" flipV="false" rot="173729">
            <a:off x="13749952" y="1825557"/>
            <a:ext cx="3664567" cy="4601625"/>
          </a:xfrm>
          <a:custGeom>
            <a:avLst/>
            <a:gdLst/>
            <a:ahLst/>
            <a:cxnLst/>
            <a:rect r="r" b="b" t="t" l="l"/>
            <a:pathLst>
              <a:path h="4601625" w="3664567">
                <a:moveTo>
                  <a:pt x="3664567" y="0"/>
                </a:moveTo>
                <a:lnTo>
                  <a:pt x="0" y="0"/>
                </a:lnTo>
                <a:lnTo>
                  <a:pt x="0" y="4601625"/>
                </a:lnTo>
                <a:lnTo>
                  <a:pt x="3664567" y="4601625"/>
                </a:lnTo>
                <a:lnTo>
                  <a:pt x="3664567" y="0"/>
                </a:lnTo>
                <a:close/>
              </a:path>
            </a:pathLst>
          </a:custGeom>
          <a:blipFill>
            <a:blip r:embed="rId2">
              <a:extLst>
                <a:ext uri="{96DAC541-7B7A-43D3-8B79-37D633B846F1}">
                  <asvg:svgBlip xmlns:asvg="http://schemas.microsoft.com/office/drawing/2016/SVG/main" r:embed="rId3"/>
                </a:ext>
              </a:extLst>
            </a:blip>
            <a:stretch>
              <a:fillRect l="0" t="0" r="0" b="0"/>
            </a:stretch>
          </a:blipFill>
          <a:ln w="9525" cap="sq">
            <a:solidFill>
              <a:srgbClr val="000000"/>
            </a:solidFill>
            <a:prstDash val="solid"/>
            <a:miter/>
          </a:ln>
        </p:spPr>
      </p:sp>
      <p:sp>
        <p:nvSpPr>
          <p:cNvPr name="Freeform 3" id="3"/>
          <p:cNvSpPr/>
          <p:nvPr/>
        </p:nvSpPr>
        <p:spPr>
          <a:xfrm flipH="false" flipV="false" rot="-447646">
            <a:off x="1118078" y="1738615"/>
            <a:ext cx="3851527" cy="4977741"/>
          </a:xfrm>
          <a:custGeom>
            <a:avLst/>
            <a:gdLst/>
            <a:ahLst/>
            <a:cxnLst/>
            <a:rect r="r" b="b" t="t" l="l"/>
            <a:pathLst>
              <a:path h="4977741" w="3851527">
                <a:moveTo>
                  <a:pt x="0" y="0"/>
                </a:moveTo>
                <a:lnTo>
                  <a:pt x="3851528" y="0"/>
                </a:lnTo>
                <a:lnTo>
                  <a:pt x="3851528" y="4977741"/>
                </a:lnTo>
                <a:lnTo>
                  <a:pt x="0" y="49777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5705">
            <a:off x="1088300" y="4873735"/>
            <a:ext cx="2866117" cy="3921304"/>
          </a:xfrm>
          <a:custGeom>
            <a:avLst/>
            <a:gdLst/>
            <a:ahLst/>
            <a:cxnLst/>
            <a:rect r="r" b="b" t="t" l="l"/>
            <a:pathLst>
              <a:path h="3921304" w="2866117">
                <a:moveTo>
                  <a:pt x="0" y="0"/>
                </a:moveTo>
                <a:lnTo>
                  <a:pt x="2866117" y="0"/>
                </a:lnTo>
                <a:lnTo>
                  <a:pt x="2866117" y="3921304"/>
                </a:lnTo>
                <a:lnTo>
                  <a:pt x="0" y="3921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565982" y="810300"/>
            <a:ext cx="15156036" cy="8666399"/>
            <a:chOff x="0" y="0"/>
            <a:chExt cx="3991713" cy="2282509"/>
          </a:xfrm>
        </p:grpSpPr>
        <p:sp>
          <p:nvSpPr>
            <p:cNvPr name="Freeform 6" id="6"/>
            <p:cNvSpPr/>
            <p:nvPr/>
          </p:nvSpPr>
          <p:spPr>
            <a:xfrm flipH="false" flipV="false" rot="0">
              <a:off x="0" y="0"/>
              <a:ext cx="3991713" cy="2282509"/>
            </a:xfrm>
            <a:custGeom>
              <a:avLst/>
              <a:gdLst/>
              <a:ahLst/>
              <a:cxnLst/>
              <a:rect r="r" b="b" t="t" l="l"/>
              <a:pathLst>
                <a:path h="2282509" w="3991713">
                  <a:moveTo>
                    <a:pt x="20433" y="0"/>
                  </a:moveTo>
                  <a:lnTo>
                    <a:pt x="3971281" y="0"/>
                  </a:lnTo>
                  <a:cubicBezTo>
                    <a:pt x="3976700" y="0"/>
                    <a:pt x="3981897" y="2153"/>
                    <a:pt x="3985729" y="5985"/>
                  </a:cubicBezTo>
                  <a:cubicBezTo>
                    <a:pt x="3989561" y="9816"/>
                    <a:pt x="3991713" y="15014"/>
                    <a:pt x="3991713" y="20433"/>
                  </a:cubicBezTo>
                  <a:lnTo>
                    <a:pt x="3991713" y="2262076"/>
                  </a:lnTo>
                  <a:cubicBezTo>
                    <a:pt x="3991713" y="2267495"/>
                    <a:pt x="3989561" y="2272692"/>
                    <a:pt x="3985729" y="2276524"/>
                  </a:cubicBezTo>
                  <a:cubicBezTo>
                    <a:pt x="3981897" y="2280356"/>
                    <a:pt x="3976700" y="2282509"/>
                    <a:pt x="3971281" y="2282509"/>
                  </a:cubicBezTo>
                  <a:lnTo>
                    <a:pt x="20433" y="2282509"/>
                  </a:lnTo>
                  <a:cubicBezTo>
                    <a:pt x="15014" y="2282509"/>
                    <a:pt x="9816" y="2280356"/>
                    <a:pt x="5985" y="2276524"/>
                  </a:cubicBezTo>
                  <a:cubicBezTo>
                    <a:pt x="2153" y="2272692"/>
                    <a:pt x="0" y="2267495"/>
                    <a:pt x="0" y="2262076"/>
                  </a:cubicBezTo>
                  <a:lnTo>
                    <a:pt x="0" y="20433"/>
                  </a:lnTo>
                  <a:cubicBezTo>
                    <a:pt x="0" y="15014"/>
                    <a:pt x="2153" y="9816"/>
                    <a:pt x="5985" y="5985"/>
                  </a:cubicBezTo>
                  <a:cubicBezTo>
                    <a:pt x="9816" y="2153"/>
                    <a:pt x="15014" y="0"/>
                    <a:pt x="20433" y="0"/>
                  </a:cubicBezTo>
                  <a:close/>
                </a:path>
              </a:pathLst>
            </a:custGeom>
            <a:solidFill>
              <a:srgbClr val="FFFFFF"/>
            </a:solidFill>
            <a:ln w="19050" cap="rnd">
              <a:solidFill>
                <a:srgbClr val="2D2621"/>
              </a:solidFill>
              <a:prstDash val="solid"/>
              <a:round/>
            </a:ln>
          </p:spPr>
        </p:sp>
        <p:sp>
          <p:nvSpPr>
            <p:cNvPr name="TextBox 7" id="7"/>
            <p:cNvSpPr txBox="true"/>
            <p:nvPr/>
          </p:nvSpPr>
          <p:spPr>
            <a:xfrm>
              <a:off x="0" y="28575"/>
              <a:ext cx="3991713" cy="2253934"/>
            </a:xfrm>
            <a:prstGeom prst="rect">
              <a:avLst/>
            </a:prstGeom>
          </p:spPr>
          <p:txBody>
            <a:bodyPr anchor="ctr" rtlCol="false" tIns="50800" lIns="50800" bIns="50800" rIns="50800"/>
            <a:lstStyle/>
            <a:p>
              <a:pPr algn="ctr">
                <a:lnSpc>
                  <a:spcPts val="2694"/>
                </a:lnSpc>
              </a:pPr>
            </a:p>
          </p:txBody>
        </p:sp>
      </p:grpSp>
      <p:graphicFrame>
        <p:nvGraphicFramePr>
          <p:cNvPr name="Object 8" id="8"/>
          <p:cNvGraphicFramePr/>
          <p:nvPr/>
        </p:nvGraphicFramePr>
        <p:xfrm>
          <a:off x="2507516" y="2810154"/>
          <a:ext cx="11873317" cy="8229600"/>
        </p:xfrm>
        <a:graphic>
          <a:graphicData uri="http://schemas.openxmlformats.org/presentationml/2006/ole">
            <p:oleObj imgW="14249400" imgH="105918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6939431" y="1500105"/>
            <a:ext cx="4409138" cy="762000"/>
          </a:xfrm>
          <a:prstGeom prst="rect">
            <a:avLst/>
          </a:prstGeom>
        </p:spPr>
        <p:txBody>
          <a:bodyPr anchor="t" rtlCol="false" tIns="0" lIns="0" bIns="0" rIns="0">
            <a:spAutoFit/>
          </a:bodyPr>
          <a:lstStyle/>
          <a:p>
            <a:pPr algn="ctr" marL="0" indent="0" lvl="0">
              <a:lnSpc>
                <a:spcPts val="5995"/>
              </a:lnSpc>
              <a:spcBef>
                <a:spcPct val="0"/>
              </a:spcBef>
            </a:pPr>
            <a:r>
              <a:rPr lang="en-US" b="true" sz="4996">
                <a:solidFill>
                  <a:srgbClr val="1F0560"/>
                </a:solidFill>
                <a:latin typeface="Cy Grotesk Key Bold"/>
                <a:ea typeface="Cy Grotesk Key Bold"/>
                <a:cs typeface="Cy Grotesk Key Bold"/>
                <a:sym typeface="Cy Grotesk Key Bold"/>
              </a:rPr>
              <a:t>Target</a:t>
            </a:r>
            <a:r>
              <a:rPr lang="en-US" b="true" sz="4996">
                <a:solidFill>
                  <a:srgbClr val="E3613D"/>
                </a:solidFill>
                <a:latin typeface="Cy Grotesk Key Bold"/>
                <a:ea typeface="Cy Grotesk Key Bold"/>
                <a:cs typeface="Cy Grotesk Key Bold"/>
                <a:sym typeface="Cy Grotesk Key Bold"/>
              </a:rPr>
              <a:t> KPI</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849456" y="5744517"/>
            <a:ext cx="13075565" cy="5750553"/>
            <a:chOff x="0" y="0"/>
            <a:chExt cx="1654161" cy="727490"/>
          </a:xfrm>
        </p:grpSpPr>
        <p:sp>
          <p:nvSpPr>
            <p:cNvPr name="Freeform 3" id="3"/>
            <p:cNvSpPr/>
            <p:nvPr/>
          </p:nvSpPr>
          <p:spPr>
            <a:xfrm flipH="false" flipV="false" rot="0">
              <a:off x="0" y="0"/>
              <a:ext cx="1654161" cy="727490"/>
            </a:xfrm>
            <a:custGeom>
              <a:avLst/>
              <a:gdLst/>
              <a:ahLst/>
              <a:cxnLst/>
              <a:rect r="r" b="b" t="t" l="l"/>
              <a:pathLst>
                <a:path h="727490" w="1654161">
                  <a:moveTo>
                    <a:pt x="1450961" y="0"/>
                  </a:moveTo>
                  <a:lnTo>
                    <a:pt x="0" y="0"/>
                  </a:lnTo>
                  <a:lnTo>
                    <a:pt x="203200" y="727490"/>
                  </a:lnTo>
                  <a:lnTo>
                    <a:pt x="1654161" y="727490"/>
                  </a:lnTo>
                  <a:lnTo>
                    <a:pt x="1450961" y="0"/>
                  </a:lnTo>
                  <a:close/>
                </a:path>
              </a:pathLst>
            </a:custGeom>
            <a:solidFill>
              <a:srgbClr val="F0EAFF"/>
            </a:solidFill>
          </p:spPr>
        </p:sp>
        <p:sp>
          <p:nvSpPr>
            <p:cNvPr name="TextBox 4" id="4"/>
            <p:cNvSpPr txBox="true"/>
            <p:nvPr/>
          </p:nvSpPr>
          <p:spPr>
            <a:xfrm>
              <a:off x="101600" y="-57150"/>
              <a:ext cx="1450961" cy="78464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586593" y="2431201"/>
            <a:ext cx="17668830" cy="5750553"/>
            <a:chOff x="0" y="0"/>
            <a:chExt cx="2235245" cy="727490"/>
          </a:xfrm>
        </p:grpSpPr>
        <p:sp>
          <p:nvSpPr>
            <p:cNvPr name="Freeform 6" id="6"/>
            <p:cNvSpPr/>
            <p:nvPr/>
          </p:nvSpPr>
          <p:spPr>
            <a:xfrm flipH="false" flipV="false" rot="0">
              <a:off x="0" y="0"/>
              <a:ext cx="2235245" cy="727490"/>
            </a:xfrm>
            <a:custGeom>
              <a:avLst/>
              <a:gdLst/>
              <a:ahLst/>
              <a:cxnLst/>
              <a:rect r="r" b="b" t="t" l="l"/>
              <a:pathLst>
                <a:path h="727490" w="2235245">
                  <a:moveTo>
                    <a:pt x="2032045" y="0"/>
                  </a:moveTo>
                  <a:lnTo>
                    <a:pt x="0" y="0"/>
                  </a:lnTo>
                  <a:lnTo>
                    <a:pt x="203200" y="727490"/>
                  </a:lnTo>
                  <a:lnTo>
                    <a:pt x="2235245" y="727490"/>
                  </a:lnTo>
                  <a:lnTo>
                    <a:pt x="2032045" y="0"/>
                  </a:lnTo>
                  <a:close/>
                </a:path>
              </a:pathLst>
            </a:custGeom>
            <a:solidFill>
              <a:srgbClr val="FFF3D9"/>
            </a:solidFill>
          </p:spPr>
        </p:sp>
        <p:sp>
          <p:nvSpPr>
            <p:cNvPr name="TextBox 7" id="7"/>
            <p:cNvSpPr txBox="true"/>
            <p:nvPr/>
          </p:nvSpPr>
          <p:spPr>
            <a:xfrm>
              <a:off x="101600" y="-57150"/>
              <a:ext cx="2032045" cy="78464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514280" y="1287555"/>
            <a:ext cx="9259440" cy="962670"/>
          </a:xfrm>
          <a:prstGeom prst="rect">
            <a:avLst/>
          </a:prstGeom>
        </p:spPr>
        <p:txBody>
          <a:bodyPr anchor="t" rtlCol="false" tIns="0" lIns="0" bIns="0" rIns="0">
            <a:spAutoFit/>
          </a:bodyPr>
          <a:lstStyle/>
          <a:p>
            <a:pPr algn="ctr">
              <a:lnSpc>
                <a:spcPts val="7839"/>
              </a:lnSpc>
            </a:pPr>
            <a:r>
              <a:rPr lang="en-US" sz="5599" b="true">
                <a:solidFill>
                  <a:srgbClr val="1F0560"/>
                </a:solidFill>
                <a:latin typeface="Neue Machina Ultra-Bold"/>
                <a:ea typeface="Neue Machina Ultra-Bold"/>
                <a:cs typeface="Neue Machina Ultra-Bold"/>
                <a:sym typeface="Neue Machina Ultra-Bold"/>
              </a:rPr>
              <a:t>Recommendation</a:t>
            </a:r>
          </a:p>
        </p:txBody>
      </p:sp>
      <p:grpSp>
        <p:nvGrpSpPr>
          <p:cNvPr name="Group 9" id="9"/>
          <p:cNvGrpSpPr/>
          <p:nvPr/>
        </p:nvGrpSpPr>
        <p:grpSpPr>
          <a:xfrm rot="5400000">
            <a:off x="3197295" y="5391474"/>
            <a:ext cx="1554752" cy="463544"/>
            <a:chOff x="0" y="0"/>
            <a:chExt cx="361780" cy="107864"/>
          </a:xfrm>
        </p:grpSpPr>
        <p:sp>
          <p:nvSpPr>
            <p:cNvPr name="Freeform 10" id="10"/>
            <p:cNvSpPr/>
            <p:nvPr/>
          </p:nvSpPr>
          <p:spPr>
            <a:xfrm flipH="false" flipV="false" rot="0">
              <a:off x="28860" y="10975"/>
              <a:ext cx="304061" cy="96888"/>
            </a:xfrm>
            <a:custGeom>
              <a:avLst/>
              <a:gdLst/>
              <a:ahLst/>
              <a:cxnLst/>
              <a:rect r="r" b="b" t="t" l="l"/>
              <a:pathLst>
                <a:path h="96888" w="304061">
                  <a:moveTo>
                    <a:pt x="186245" y="9427"/>
                  </a:moveTo>
                  <a:lnTo>
                    <a:pt x="298705" y="76486"/>
                  </a:lnTo>
                  <a:cubicBezTo>
                    <a:pt x="302947" y="79016"/>
                    <a:pt x="304977" y="84067"/>
                    <a:pt x="303665" y="88828"/>
                  </a:cubicBezTo>
                  <a:cubicBezTo>
                    <a:pt x="302354" y="93590"/>
                    <a:pt x="298023" y="96889"/>
                    <a:pt x="293084" y="96889"/>
                  </a:cubicBezTo>
                  <a:lnTo>
                    <a:pt x="10976" y="96889"/>
                  </a:lnTo>
                  <a:cubicBezTo>
                    <a:pt x="6037" y="96889"/>
                    <a:pt x="1707" y="93590"/>
                    <a:pt x="395" y="88828"/>
                  </a:cubicBezTo>
                  <a:cubicBezTo>
                    <a:pt x="-917" y="84067"/>
                    <a:pt x="1113" y="79016"/>
                    <a:pt x="5355" y="76486"/>
                  </a:cubicBezTo>
                  <a:lnTo>
                    <a:pt x="117815" y="9427"/>
                  </a:lnTo>
                  <a:cubicBezTo>
                    <a:pt x="138894" y="-3142"/>
                    <a:pt x="165167" y="-3142"/>
                    <a:pt x="186245" y="9427"/>
                  </a:cubicBezTo>
                  <a:close/>
                </a:path>
              </a:pathLst>
            </a:custGeom>
            <a:solidFill>
              <a:srgbClr val="6237CF"/>
            </a:solidFill>
          </p:spPr>
        </p:sp>
        <p:sp>
          <p:nvSpPr>
            <p:cNvPr name="TextBox 11" id="11"/>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12" id="12"/>
          <p:cNvGrpSpPr/>
          <p:nvPr/>
        </p:nvGrpSpPr>
        <p:grpSpPr>
          <a:xfrm rot="0">
            <a:off x="1028700" y="3451347"/>
            <a:ext cx="2708692" cy="5168447"/>
            <a:chOff x="0" y="0"/>
            <a:chExt cx="736265" cy="1404865"/>
          </a:xfrm>
        </p:grpSpPr>
        <p:sp>
          <p:nvSpPr>
            <p:cNvPr name="Freeform 13" id="13"/>
            <p:cNvSpPr/>
            <p:nvPr/>
          </p:nvSpPr>
          <p:spPr>
            <a:xfrm flipH="false" flipV="false" rot="0">
              <a:off x="0" y="0"/>
              <a:ext cx="736265" cy="1404865"/>
            </a:xfrm>
            <a:custGeom>
              <a:avLst/>
              <a:gdLst/>
              <a:ahLst/>
              <a:cxnLst/>
              <a:rect r="r" b="b" t="t" l="l"/>
              <a:pathLst>
                <a:path h="1404865" w="736265">
                  <a:moveTo>
                    <a:pt x="102894" y="0"/>
                  </a:moveTo>
                  <a:lnTo>
                    <a:pt x="633370" y="0"/>
                  </a:lnTo>
                  <a:cubicBezTo>
                    <a:pt x="660660" y="0"/>
                    <a:pt x="686831" y="10841"/>
                    <a:pt x="706128" y="30137"/>
                  </a:cubicBezTo>
                  <a:cubicBezTo>
                    <a:pt x="725424" y="49433"/>
                    <a:pt x="736265" y="75605"/>
                    <a:pt x="736265" y="102894"/>
                  </a:cubicBezTo>
                  <a:lnTo>
                    <a:pt x="736265" y="1301970"/>
                  </a:lnTo>
                  <a:cubicBezTo>
                    <a:pt x="736265" y="1329260"/>
                    <a:pt x="725424" y="1355431"/>
                    <a:pt x="706128" y="1374728"/>
                  </a:cubicBezTo>
                  <a:cubicBezTo>
                    <a:pt x="686831" y="1394024"/>
                    <a:pt x="660660" y="1404865"/>
                    <a:pt x="633370" y="1404865"/>
                  </a:cubicBezTo>
                  <a:lnTo>
                    <a:pt x="102894" y="1404865"/>
                  </a:lnTo>
                  <a:cubicBezTo>
                    <a:pt x="75605" y="1404865"/>
                    <a:pt x="49433" y="1394024"/>
                    <a:pt x="30137" y="1374728"/>
                  </a:cubicBezTo>
                  <a:cubicBezTo>
                    <a:pt x="10841" y="1355431"/>
                    <a:pt x="0" y="1329260"/>
                    <a:pt x="0" y="1301970"/>
                  </a:cubicBezTo>
                  <a:lnTo>
                    <a:pt x="0" y="102894"/>
                  </a:lnTo>
                  <a:cubicBezTo>
                    <a:pt x="0" y="75605"/>
                    <a:pt x="10841" y="49433"/>
                    <a:pt x="30137" y="30137"/>
                  </a:cubicBezTo>
                  <a:cubicBezTo>
                    <a:pt x="49433" y="10841"/>
                    <a:pt x="75605" y="0"/>
                    <a:pt x="102894" y="0"/>
                  </a:cubicBezTo>
                  <a:close/>
                </a:path>
              </a:pathLst>
            </a:custGeom>
            <a:solidFill>
              <a:srgbClr val="FFFFFF"/>
            </a:solidFill>
            <a:ln w="9525" cap="rnd">
              <a:solidFill>
                <a:srgbClr val="000000"/>
              </a:solidFill>
              <a:prstDash val="solid"/>
              <a:round/>
            </a:ln>
          </p:spPr>
        </p:sp>
        <p:sp>
          <p:nvSpPr>
            <p:cNvPr name="TextBox 14" id="14"/>
            <p:cNvSpPr txBox="true"/>
            <p:nvPr/>
          </p:nvSpPr>
          <p:spPr>
            <a:xfrm>
              <a:off x="0" y="-38100"/>
              <a:ext cx="736265" cy="1442965"/>
            </a:xfrm>
            <a:prstGeom prst="rect">
              <a:avLst/>
            </a:prstGeom>
          </p:spPr>
          <p:txBody>
            <a:bodyPr anchor="ctr" rtlCol="false" tIns="71438" lIns="71438" bIns="71438" rIns="71438"/>
            <a:lstStyle/>
            <a:p>
              <a:pPr algn="ctr">
                <a:lnSpc>
                  <a:spcPts val="2756"/>
                </a:lnSpc>
              </a:pPr>
            </a:p>
          </p:txBody>
        </p:sp>
      </p:grpSp>
      <p:grpSp>
        <p:nvGrpSpPr>
          <p:cNvPr name="Group 15" id="15"/>
          <p:cNvGrpSpPr/>
          <p:nvPr/>
        </p:nvGrpSpPr>
        <p:grpSpPr>
          <a:xfrm rot="0">
            <a:off x="1673853" y="2708173"/>
            <a:ext cx="1418387" cy="141838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AC3D"/>
            </a:solidFill>
          </p:spPr>
        </p:sp>
        <p:sp>
          <p:nvSpPr>
            <p:cNvPr name="TextBox 17" id="1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8" id="18"/>
          <p:cNvSpPr txBox="true"/>
          <p:nvPr/>
        </p:nvSpPr>
        <p:spPr>
          <a:xfrm rot="0">
            <a:off x="1039016" y="5304393"/>
            <a:ext cx="2604595" cy="1790790"/>
          </a:xfrm>
          <a:prstGeom prst="rect">
            <a:avLst/>
          </a:prstGeom>
        </p:spPr>
        <p:txBody>
          <a:bodyPr anchor="t" rtlCol="false" tIns="0" lIns="0" bIns="0" rIns="0">
            <a:spAutoFit/>
          </a:bodyPr>
          <a:lstStyle/>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Evaluasi area dan produk  dengan kontribusi network cost tertinggi untuk mengidentifikasi sumber pembengkakan biaya.</a:t>
            </a:r>
          </a:p>
        </p:txBody>
      </p:sp>
      <p:grpSp>
        <p:nvGrpSpPr>
          <p:cNvPr name="Group 19" id="19"/>
          <p:cNvGrpSpPr/>
          <p:nvPr/>
        </p:nvGrpSpPr>
        <p:grpSpPr>
          <a:xfrm rot="5400000">
            <a:off x="6569834" y="5391474"/>
            <a:ext cx="1554752" cy="463544"/>
            <a:chOff x="0" y="0"/>
            <a:chExt cx="361780" cy="107864"/>
          </a:xfrm>
        </p:grpSpPr>
        <p:sp>
          <p:nvSpPr>
            <p:cNvPr name="Freeform 20" id="20"/>
            <p:cNvSpPr/>
            <p:nvPr/>
          </p:nvSpPr>
          <p:spPr>
            <a:xfrm flipH="false" flipV="false" rot="0">
              <a:off x="28860" y="10975"/>
              <a:ext cx="304061" cy="96888"/>
            </a:xfrm>
            <a:custGeom>
              <a:avLst/>
              <a:gdLst/>
              <a:ahLst/>
              <a:cxnLst/>
              <a:rect r="r" b="b" t="t" l="l"/>
              <a:pathLst>
                <a:path h="96888" w="304061">
                  <a:moveTo>
                    <a:pt x="186245" y="9427"/>
                  </a:moveTo>
                  <a:lnTo>
                    <a:pt x="298705" y="76486"/>
                  </a:lnTo>
                  <a:cubicBezTo>
                    <a:pt x="302947" y="79016"/>
                    <a:pt x="304977" y="84067"/>
                    <a:pt x="303665" y="88828"/>
                  </a:cubicBezTo>
                  <a:cubicBezTo>
                    <a:pt x="302354" y="93590"/>
                    <a:pt x="298023" y="96889"/>
                    <a:pt x="293084" y="96889"/>
                  </a:cubicBezTo>
                  <a:lnTo>
                    <a:pt x="10976" y="96889"/>
                  </a:lnTo>
                  <a:cubicBezTo>
                    <a:pt x="6037" y="96889"/>
                    <a:pt x="1707" y="93590"/>
                    <a:pt x="395" y="88828"/>
                  </a:cubicBezTo>
                  <a:cubicBezTo>
                    <a:pt x="-917" y="84067"/>
                    <a:pt x="1113" y="79016"/>
                    <a:pt x="5355" y="76486"/>
                  </a:cubicBezTo>
                  <a:lnTo>
                    <a:pt x="117815" y="9427"/>
                  </a:lnTo>
                  <a:cubicBezTo>
                    <a:pt x="138894" y="-3142"/>
                    <a:pt x="165167" y="-3142"/>
                    <a:pt x="186245" y="9427"/>
                  </a:cubicBezTo>
                  <a:close/>
                </a:path>
              </a:pathLst>
            </a:custGeom>
            <a:solidFill>
              <a:srgbClr val="FEAC3D"/>
            </a:solidFill>
          </p:spPr>
        </p:sp>
        <p:sp>
          <p:nvSpPr>
            <p:cNvPr name="TextBox 21" id="21"/>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22" id="22"/>
          <p:cNvGrpSpPr/>
          <p:nvPr/>
        </p:nvGrpSpPr>
        <p:grpSpPr>
          <a:xfrm rot="0">
            <a:off x="4422242" y="3451347"/>
            <a:ext cx="2708692" cy="5168447"/>
            <a:chOff x="0" y="0"/>
            <a:chExt cx="736265" cy="1404865"/>
          </a:xfrm>
        </p:grpSpPr>
        <p:sp>
          <p:nvSpPr>
            <p:cNvPr name="Freeform 23" id="23"/>
            <p:cNvSpPr/>
            <p:nvPr/>
          </p:nvSpPr>
          <p:spPr>
            <a:xfrm flipH="false" flipV="false" rot="0">
              <a:off x="0" y="0"/>
              <a:ext cx="736265" cy="1404865"/>
            </a:xfrm>
            <a:custGeom>
              <a:avLst/>
              <a:gdLst/>
              <a:ahLst/>
              <a:cxnLst/>
              <a:rect r="r" b="b" t="t" l="l"/>
              <a:pathLst>
                <a:path h="1404865" w="736265">
                  <a:moveTo>
                    <a:pt x="102894" y="0"/>
                  </a:moveTo>
                  <a:lnTo>
                    <a:pt x="633370" y="0"/>
                  </a:lnTo>
                  <a:cubicBezTo>
                    <a:pt x="660660" y="0"/>
                    <a:pt x="686831" y="10841"/>
                    <a:pt x="706128" y="30137"/>
                  </a:cubicBezTo>
                  <a:cubicBezTo>
                    <a:pt x="725424" y="49433"/>
                    <a:pt x="736265" y="75605"/>
                    <a:pt x="736265" y="102894"/>
                  </a:cubicBezTo>
                  <a:lnTo>
                    <a:pt x="736265" y="1301970"/>
                  </a:lnTo>
                  <a:cubicBezTo>
                    <a:pt x="736265" y="1329260"/>
                    <a:pt x="725424" y="1355431"/>
                    <a:pt x="706128" y="1374728"/>
                  </a:cubicBezTo>
                  <a:cubicBezTo>
                    <a:pt x="686831" y="1394024"/>
                    <a:pt x="660660" y="1404865"/>
                    <a:pt x="633370" y="1404865"/>
                  </a:cubicBezTo>
                  <a:lnTo>
                    <a:pt x="102894" y="1404865"/>
                  </a:lnTo>
                  <a:cubicBezTo>
                    <a:pt x="75605" y="1404865"/>
                    <a:pt x="49433" y="1394024"/>
                    <a:pt x="30137" y="1374728"/>
                  </a:cubicBezTo>
                  <a:cubicBezTo>
                    <a:pt x="10841" y="1355431"/>
                    <a:pt x="0" y="1329260"/>
                    <a:pt x="0" y="1301970"/>
                  </a:cubicBezTo>
                  <a:lnTo>
                    <a:pt x="0" y="102894"/>
                  </a:lnTo>
                  <a:cubicBezTo>
                    <a:pt x="0" y="75605"/>
                    <a:pt x="10841" y="49433"/>
                    <a:pt x="30137" y="30137"/>
                  </a:cubicBezTo>
                  <a:cubicBezTo>
                    <a:pt x="49433" y="10841"/>
                    <a:pt x="75605" y="0"/>
                    <a:pt x="102894" y="0"/>
                  </a:cubicBezTo>
                  <a:close/>
                </a:path>
              </a:pathLst>
            </a:custGeom>
            <a:solidFill>
              <a:srgbClr val="FFFFFF"/>
            </a:solidFill>
            <a:ln w="9525" cap="rnd">
              <a:solidFill>
                <a:srgbClr val="000000"/>
              </a:solidFill>
              <a:prstDash val="solid"/>
              <a:round/>
            </a:ln>
          </p:spPr>
        </p:sp>
        <p:sp>
          <p:nvSpPr>
            <p:cNvPr name="TextBox 24" id="24"/>
            <p:cNvSpPr txBox="true"/>
            <p:nvPr/>
          </p:nvSpPr>
          <p:spPr>
            <a:xfrm>
              <a:off x="0" y="-38100"/>
              <a:ext cx="736265" cy="1442965"/>
            </a:xfrm>
            <a:prstGeom prst="rect">
              <a:avLst/>
            </a:prstGeom>
          </p:spPr>
          <p:txBody>
            <a:bodyPr anchor="ctr" rtlCol="false" tIns="71438" lIns="71438" bIns="71438" rIns="71438"/>
            <a:lstStyle/>
            <a:p>
              <a:pPr algn="ctr">
                <a:lnSpc>
                  <a:spcPts val="2756"/>
                </a:lnSpc>
              </a:pPr>
            </a:p>
          </p:txBody>
        </p:sp>
      </p:grpSp>
      <p:grpSp>
        <p:nvGrpSpPr>
          <p:cNvPr name="Group 25" id="25"/>
          <p:cNvGrpSpPr/>
          <p:nvPr/>
        </p:nvGrpSpPr>
        <p:grpSpPr>
          <a:xfrm rot="0">
            <a:off x="5067395" y="2708173"/>
            <a:ext cx="1418387" cy="141838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37CF"/>
            </a:solidFill>
          </p:spPr>
        </p:sp>
        <p:sp>
          <p:nvSpPr>
            <p:cNvPr name="TextBox 27" id="2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8" id="28"/>
          <p:cNvSpPr txBox="true"/>
          <p:nvPr/>
        </p:nvSpPr>
        <p:spPr>
          <a:xfrm rot="0">
            <a:off x="4431706" y="5171195"/>
            <a:ext cx="2683732" cy="2304825"/>
          </a:xfrm>
          <a:prstGeom prst="rect">
            <a:avLst/>
          </a:prstGeom>
        </p:spPr>
        <p:txBody>
          <a:bodyPr anchor="t" rtlCol="false" tIns="0" lIns="0" bIns="0" rIns="0">
            <a:spAutoFit/>
          </a:bodyPr>
          <a:lstStyle/>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P</a:t>
            </a:r>
            <a:r>
              <a:rPr lang="en-US" sz="1452" strike="noStrike" u="none">
                <a:solidFill>
                  <a:srgbClr val="1C1C1A"/>
                </a:solidFill>
                <a:latin typeface="Montserrat"/>
                <a:ea typeface="Montserrat"/>
                <a:cs typeface="Montserrat"/>
                <a:sym typeface="Montserrat"/>
              </a:rPr>
              <a:t>ert</a:t>
            </a:r>
            <a:r>
              <a:rPr lang="en-US" sz="1452" strike="noStrike" u="none">
                <a:solidFill>
                  <a:srgbClr val="1C1C1A"/>
                </a:solidFill>
                <a:latin typeface="Montserrat"/>
                <a:ea typeface="Montserrat"/>
                <a:cs typeface="Montserrat"/>
                <a:sym typeface="Montserrat"/>
              </a:rPr>
              <a:t>ahankan</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pel</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ngga</a:t>
            </a:r>
            <a:r>
              <a:rPr lang="en-US" sz="1452" strike="noStrike" u="none">
                <a:solidFill>
                  <a:srgbClr val="1C1C1A"/>
                </a:solidFill>
                <a:latin typeface="Montserrat"/>
                <a:ea typeface="Montserrat"/>
                <a:cs typeface="Montserrat"/>
                <a:sym typeface="Montserrat"/>
              </a:rPr>
              <a:t>n </a:t>
            </a:r>
            <a:r>
              <a:rPr lang="en-US" sz="1452" strike="noStrike" u="none">
                <a:solidFill>
                  <a:srgbClr val="1C1C1A"/>
                </a:solidFill>
                <a:latin typeface="Montserrat"/>
                <a:ea typeface="Montserrat"/>
                <a:cs typeface="Montserrat"/>
                <a:sym typeface="Montserrat"/>
              </a:rPr>
              <a:t>Ch</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m</a:t>
            </a:r>
            <a:r>
              <a:rPr lang="en-US" sz="1452" strike="noStrike" u="none">
                <a:solidFill>
                  <a:srgbClr val="1C1C1A"/>
                </a:solidFill>
                <a:latin typeface="Montserrat"/>
                <a:ea typeface="Montserrat"/>
                <a:cs typeface="Montserrat"/>
                <a:sym typeface="Montserrat"/>
              </a:rPr>
              <a:t>pi</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n d</a:t>
            </a:r>
            <a:r>
              <a:rPr lang="en-US" sz="1452" strike="noStrike" u="none">
                <a:solidFill>
                  <a:srgbClr val="1C1C1A"/>
                </a:solidFill>
                <a:latin typeface="Montserrat"/>
                <a:ea typeface="Montserrat"/>
                <a:cs typeface="Montserrat"/>
                <a:sym typeface="Montserrat"/>
              </a:rPr>
              <a:t>an</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L</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yal</a:t>
            </a:r>
            <a:r>
              <a:rPr lang="en-US" sz="1452" strike="noStrike" u="none">
                <a:solidFill>
                  <a:srgbClr val="1C1C1A"/>
                </a:solidFill>
                <a:latin typeface="Montserrat"/>
                <a:ea typeface="Montserrat"/>
                <a:cs typeface="Montserrat"/>
                <a:sym typeface="Montserrat"/>
              </a:rPr>
              <a:t> den</a:t>
            </a:r>
            <a:r>
              <a:rPr lang="en-US" sz="1452" strike="noStrike" u="none">
                <a:solidFill>
                  <a:srgbClr val="1C1C1A"/>
                </a:solidFill>
                <a:latin typeface="Montserrat"/>
                <a:ea typeface="Montserrat"/>
                <a:cs typeface="Montserrat"/>
                <a:sym typeface="Montserrat"/>
              </a:rPr>
              <a:t>ga</a:t>
            </a:r>
            <a:r>
              <a:rPr lang="en-US" sz="1452" strike="noStrike" u="none">
                <a:solidFill>
                  <a:srgbClr val="1C1C1A"/>
                </a:solidFill>
                <a:latin typeface="Montserrat"/>
                <a:ea typeface="Montserrat"/>
                <a:cs typeface="Montserrat"/>
                <a:sym typeface="Montserrat"/>
              </a:rPr>
              <a:t>n re</a:t>
            </a:r>
            <a:r>
              <a:rPr lang="en-US" sz="1452" strike="noStrike" u="none">
                <a:solidFill>
                  <a:srgbClr val="1C1C1A"/>
                </a:solidFill>
                <a:latin typeface="Montserrat"/>
                <a:ea typeface="Montserrat"/>
                <a:cs typeface="Montserrat"/>
                <a:sym typeface="Montserrat"/>
              </a:rPr>
              <a:t>wa</a:t>
            </a:r>
            <a:r>
              <a:rPr lang="en-US" sz="1452" strike="noStrike" u="none">
                <a:solidFill>
                  <a:srgbClr val="1C1C1A"/>
                </a:solidFill>
                <a:latin typeface="Montserrat"/>
                <a:ea typeface="Montserrat"/>
                <a:cs typeface="Montserrat"/>
                <a:sym typeface="Montserrat"/>
              </a:rPr>
              <a:t>r</a:t>
            </a:r>
            <a:r>
              <a:rPr lang="en-US" sz="1452" strike="noStrike" u="none">
                <a:solidFill>
                  <a:srgbClr val="1C1C1A"/>
                </a:solidFill>
                <a:latin typeface="Montserrat"/>
                <a:ea typeface="Montserrat"/>
                <a:cs typeface="Montserrat"/>
                <a:sym typeface="Montserrat"/>
              </a:rPr>
              <a:t>d</a:t>
            </a:r>
            <a:r>
              <a:rPr lang="en-US" sz="1452" strike="noStrike" u="none">
                <a:solidFill>
                  <a:srgbClr val="1C1C1A"/>
                </a:solidFill>
                <a:latin typeface="Montserrat"/>
                <a:ea typeface="Montserrat"/>
                <a:cs typeface="Montserrat"/>
                <a:sym typeface="Montserrat"/>
              </a:rPr>
              <a:t> a</a:t>
            </a:r>
            <a:r>
              <a:rPr lang="en-US" sz="1452" strike="noStrike" u="none">
                <a:solidFill>
                  <a:srgbClr val="1C1C1A"/>
                </a:solidFill>
                <a:latin typeface="Montserrat"/>
                <a:ea typeface="Montserrat"/>
                <a:cs typeface="Montserrat"/>
                <a:sym typeface="Montserrat"/>
              </a:rPr>
              <a:t>t</a:t>
            </a:r>
            <a:r>
              <a:rPr lang="en-US" sz="1452" strike="noStrike" u="none">
                <a:solidFill>
                  <a:srgbClr val="1C1C1A"/>
                </a:solidFill>
                <a:latin typeface="Montserrat"/>
                <a:ea typeface="Montserrat"/>
                <a:cs typeface="Montserrat"/>
                <a:sym typeface="Montserrat"/>
              </a:rPr>
              <a:t>au </a:t>
            </a:r>
            <a:r>
              <a:rPr lang="en-US" sz="1452" strike="noStrike" u="none">
                <a:solidFill>
                  <a:srgbClr val="1C1C1A"/>
                </a:solidFill>
                <a:latin typeface="Montserrat"/>
                <a:ea typeface="Montserrat"/>
                <a:cs typeface="Montserrat"/>
                <a:sym typeface="Montserrat"/>
              </a:rPr>
              <a:t>b</a:t>
            </a:r>
            <a:r>
              <a:rPr lang="en-US" sz="1452" strike="noStrike" u="none">
                <a:solidFill>
                  <a:srgbClr val="1C1C1A"/>
                </a:solidFill>
                <a:latin typeface="Montserrat"/>
                <a:ea typeface="Montserrat"/>
                <a:cs typeface="Montserrat"/>
                <a:sym typeface="Montserrat"/>
              </a:rPr>
              <a:t>en</a:t>
            </a:r>
            <a:r>
              <a:rPr lang="en-US" sz="1452" strike="noStrike" u="none">
                <a:solidFill>
                  <a:srgbClr val="1C1C1A"/>
                </a:solidFill>
                <a:latin typeface="Montserrat"/>
                <a:ea typeface="Montserrat"/>
                <a:cs typeface="Montserrat"/>
                <a:sym typeface="Montserrat"/>
              </a:rPr>
              <a:t>ef</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t</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eksklus</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f</a:t>
            </a:r>
            <a:r>
              <a:rPr lang="en-US" sz="1452" strike="noStrike" u="none">
                <a:solidFill>
                  <a:srgbClr val="1C1C1A"/>
                </a:solidFill>
                <a:latin typeface="Montserrat"/>
                <a:ea typeface="Montserrat"/>
                <a:cs typeface="Montserrat"/>
                <a:sym typeface="Montserrat"/>
              </a:rPr>
              <a:t>.</a:t>
            </a:r>
          </a:p>
          <a:p>
            <a:pPr algn="l" marL="313693" indent="-156847" lvl="1">
              <a:lnSpc>
                <a:spcPts val="2034"/>
              </a:lnSpc>
              <a:buFont typeface="Arial"/>
              <a:buChar char="•"/>
            </a:pPr>
            <a:r>
              <a:rPr lang="en-US" sz="1452" strike="noStrike" u="none">
                <a:solidFill>
                  <a:srgbClr val="1C1C1A"/>
                </a:solidFill>
                <a:latin typeface="Montserrat"/>
                <a:ea typeface="Montserrat"/>
                <a:cs typeface="Montserrat"/>
                <a:sym typeface="Montserrat"/>
              </a:rPr>
              <a:t>Program reaktivasi pada segment hibernating melalui penawaran personal melihat pola perilaku konsumen</a:t>
            </a:r>
          </a:p>
        </p:txBody>
      </p:sp>
      <p:grpSp>
        <p:nvGrpSpPr>
          <p:cNvPr name="Group 29" id="29"/>
          <p:cNvGrpSpPr/>
          <p:nvPr/>
        </p:nvGrpSpPr>
        <p:grpSpPr>
          <a:xfrm rot="5400000">
            <a:off x="9937625" y="5391474"/>
            <a:ext cx="1554752" cy="463544"/>
            <a:chOff x="0" y="0"/>
            <a:chExt cx="361780" cy="107864"/>
          </a:xfrm>
        </p:grpSpPr>
        <p:sp>
          <p:nvSpPr>
            <p:cNvPr name="Freeform 30" id="30"/>
            <p:cNvSpPr/>
            <p:nvPr/>
          </p:nvSpPr>
          <p:spPr>
            <a:xfrm flipH="false" flipV="false" rot="0">
              <a:off x="28860" y="10975"/>
              <a:ext cx="304061" cy="96888"/>
            </a:xfrm>
            <a:custGeom>
              <a:avLst/>
              <a:gdLst/>
              <a:ahLst/>
              <a:cxnLst/>
              <a:rect r="r" b="b" t="t" l="l"/>
              <a:pathLst>
                <a:path h="96888" w="304061">
                  <a:moveTo>
                    <a:pt x="186245" y="9427"/>
                  </a:moveTo>
                  <a:lnTo>
                    <a:pt x="298705" y="76486"/>
                  </a:lnTo>
                  <a:cubicBezTo>
                    <a:pt x="302947" y="79016"/>
                    <a:pt x="304977" y="84067"/>
                    <a:pt x="303665" y="88828"/>
                  </a:cubicBezTo>
                  <a:cubicBezTo>
                    <a:pt x="302354" y="93590"/>
                    <a:pt x="298023" y="96889"/>
                    <a:pt x="293084" y="96889"/>
                  </a:cubicBezTo>
                  <a:lnTo>
                    <a:pt x="10976" y="96889"/>
                  </a:lnTo>
                  <a:cubicBezTo>
                    <a:pt x="6037" y="96889"/>
                    <a:pt x="1707" y="93590"/>
                    <a:pt x="395" y="88828"/>
                  </a:cubicBezTo>
                  <a:cubicBezTo>
                    <a:pt x="-917" y="84067"/>
                    <a:pt x="1113" y="79016"/>
                    <a:pt x="5355" y="76486"/>
                  </a:cubicBezTo>
                  <a:lnTo>
                    <a:pt x="117815" y="9427"/>
                  </a:lnTo>
                  <a:cubicBezTo>
                    <a:pt x="138894" y="-3142"/>
                    <a:pt x="165167" y="-3142"/>
                    <a:pt x="186245" y="9427"/>
                  </a:cubicBezTo>
                  <a:close/>
                </a:path>
              </a:pathLst>
            </a:custGeom>
            <a:solidFill>
              <a:srgbClr val="6237CF"/>
            </a:solidFill>
          </p:spPr>
        </p:sp>
        <p:sp>
          <p:nvSpPr>
            <p:cNvPr name="TextBox 31" id="31"/>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32" id="32"/>
          <p:cNvGrpSpPr/>
          <p:nvPr/>
        </p:nvGrpSpPr>
        <p:grpSpPr>
          <a:xfrm rot="0">
            <a:off x="7794781" y="3451347"/>
            <a:ext cx="2708692" cy="5168447"/>
            <a:chOff x="0" y="0"/>
            <a:chExt cx="736265" cy="1404865"/>
          </a:xfrm>
        </p:grpSpPr>
        <p:sp>
          <p:nvSpPr>
            <p:cNvPr name="Freeform 33" id="33"/>
            <p:cNvSpPr/>
            <p:nvPr/>
          </p:nvSpPr>
          <p:spPr>
            <a:xfrm flipH="false" flipV="false" rot="0">
              <a:off x="0" y="0"/>
              <a:ext cx="736265" cy="1404865"/>
            </a:xfrm>
            <a:custGeom>
              <a:avLst/>
              <a:gdLst/>
              <a:ahLst/>
              <a:cxnLst/>
              <a:rect r="r" b="b" t="t" l="l"/>
              <a:pathLst>
                <a:path h="1404865" w="736265">
                  <a:moveTo>
                    <a:pt x="102894" y="0"/>
                  </a:moveTo>
                  <a:lnTo>
                    <a:pt x="633370" y="0"/>
                  </a:lnTo>
                  <a:cubicBezTo>
                    <a:pt x="660660" y="0"/>
                    <a:pt x="686831" y="10841"/>
                    <a:pt x="706128" y="30137"/>
                  </a:cubicBezTo>
                  <a:cubicBezTo>
                    <a:pt x="725424" y="49433"/>
                    <a:pt x="736265" y="75605"/>
                    <a:pt x="736265" y="102894"/>
                  </a:cubicBezTo>
                  <a:lnTo>
                    <a:pt x="736265" y="1301970"/>
                  </a:lnTo>
                  <a:cubicBezTo>
                    <a:pt x="736265" y="1329260"/>
                    <a:pt x="725424" y="1355431"/>
                    <a:pt x="706128" y="1374728"/>
                  </a:cubicBezTo>
                  <a:cubicBezTo>
                    <a:pt x="686831" y="1394024"/>
                    <a:pt x="660660" y="1404865"/>
                    <a:pt x="633370" y="1404865"/>
                  </a:cubicBezTo>
                  <a:lnTo>
                    <a:pt x="102894" y="1404865"/>
                  </a:lnTo>
                  <a:cubicBezTo>
                    <a:pt x="75605" y="1404865"/>
                    <a:pt x="49433" y="1394024"/>
                    <a:pt x="30137" y="1374728"/>
                  </a:cubicBezTo>
                  <a:cubicBezTo>
                    <a:pt x="10841" y="1355431"/>
                    <a:pt x="0" y="1329260"/>
                    <a:pt x="0" y="1301970"/>
                  </a:cubicBezTo>
                  <a:lnTo>
                    <a:pt x="0" y="102894"/>
                  </a:lnTo>
                  <a:cubicBezTo>
                    <a:pt x="0" y="75605"/>
                    <a:pt x="10841" y="49433"/>
                    <a:pt x="30137" y="30137"/>
                  </a:cubicBezTo>
                  <a:cubicBezTo>
                    <a:pt x="49433" y="10841"/>
                    <a:pt x="75605" y="0"/>
                    <a:pt x="102894" y="0"/>
                  </a:cubicBezTo>
                  <a:close/>
                </a:path>
              </a:pathLst>
            </a:custGeom>
            <a:solidFill>
              <a:srgbClr val="FFFFFF"/>
            </a:solidFill>
            <a:ln w="9525" cap="rnd">
              <a:solidFill>
                <a:srgbClr val="000000"/>
              </a:solidFill>
              <a:prstDash val="solid"/>
              <a:round/>
            </a:ln>
          </p:spPr>
        </p:sp>
        <p:sp>
          <p:nvSpPr>
            <p:cNvPr name="TextBox 34" id="34"/>
            <p:cNvSpPr txBox="true"/>
            <p:nvPr/>
          </p:nvSpPr>
          <p:spPr>
            <a:xfrm>
              <a:off x="0" y="-38100"/>
              <a:ext cx="736265" cy="1442965"/>
            </a:xfrm>
            <a:prstGeom prst="rect">
              <a:avLst/>
            </a:prstGeom>
          </p:spPr>
          <p:txBody>
            <a:bodyPr anchor="ctr" rtlCol="false" tIns="71438" lIns="71438" bIns="71438" rIns="71438"/>
            <a:lstStyle/>
            <a:p>
              <a:pPr algn="ctr">
                <a:lnSpc>
                  <a:spcPts val="2756"/>
                </a:lnSpc>
              </a:pPr>
            </a:p>
          </p:txBody>
        </p:sp>
      </p:grpSp>
      <p:grpSp>
        <p:nvGrpSpPr>
          <p:cNvPr name="Group 35" id="35"/>
          <p:cNvGrpSpPr/>
          <p:nvPr/>
        </p:nvGrpSpPr>
        <p:grpSpPr>
          <a:xfrm rot="0">
            <a:off x="8439934" y="2708173"/>
            <a:ext cx="1418387" cy="1418387"/>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AC3D"/>
            </a:solidFill>
          </p:spPr>
        </p:sp>
        <p:sp>
          <p:nvSpPr>
            <p:cNvPr name="TextBox 37" id="3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8" id="38"/>
          <p:cNvSpPr txBox="true"/>
          <p:nvPr/>
        </p:nvSpPr>
        <p:spPr>
          <a:xfrm rot="0">
            <a:off x="7798057" y="5171195"/>
            <a:ext cx="2656598" cy="2561842"/>
          </a:xfrm>
          <a:prstGeom prst="rect">
            <a:avLst/>
          </a:prstGeom>
        </p:spPr>
        <p:txBody>
          <a:bodyPr anchor="t" rtlCol="false" tIns="0" lIns="0" bIns="0" rIns="0">
            <a:spAutoFit/>
          </a:bodyPr>
          <a:lstStyle/>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F</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kus pada</a:t>
            </a:r>
            <a:r>
              <a:rPr lang="en-US" sz="1452" strike="noStrike" u="none">
                <a:solidFill>
                  <a:srgbClr val="1C1C1A"/>
                </a:solidFill>
                <a:latin typeface="Montserrat"/>
                <a:ea typeface="Montserrat"/>
                <a:cs typeface="Montserrat"/>
                <a:sym typeface="Montserrat"/>
              </a:rPr>
              <a:t> p</a:t>
            </a:r>
            <a:r>
              <a:rPr lang="en-US" sz="1452" strike="noStrike" u="none">
                <a:solidFill>
                  <a:srgbClr val="1C1C1A"/>
                </a:solidFill>
                <a:latin typeface="Montserrat"/>
                <a:ea typeface="Montserrat"/>
                <a:cs typeface="Montserrat"/>
                <a:sym typeface="Montserrat"/>
              </a:rPr>
              <a:t>enge</a:t>
            </a:r>
            <a:r>
              <a:rPr lang="en-US" sz="1452" strike="noStrike" u="none">
                <a:solidFill>
                  <a:srgbClr val="1C1C1A"/>
                </a:solidFill>
                <a:latin typeface="Montserrat"/>
                <a:ea typeface="Montserrat"/>
                <a:cs typeface="Montserrat"/>
                <a:sym typeface="Montserrat"/>
              </a:rPr>
              <a:t>m</a:t>
            </a:r>
            <a:r>
              <a:rPr lang="en-US" sz="1452" strike="noStrike" u="none">
                <a:solidFill>
                  <a:srgbClr val="1C1C1A"/>
                </a:solidFill>
                <a:latin typeface="Montserrat"/>
                <a:ea typeface="Montserrat"/>
                <a:cs typeface="Montserrat"/>
                <a:sym typeface="Montserrat"/>
              </a:rPr>
              <a:t>bangan</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va</a:t>
            </a:r>
            <a:r>
              <a:rPr lang="en-US" sz="1452" strike="noStrike" u="none">
                <a:solidFill>
                  <a:srgbClr val="1C1C1A"/>
                </a:solidFill>
                <a:latin typeface="Montserrat"/>
                <a:ea typeface="Montserrat"/>
                <a:cs typeface="Montserrat"/>
                <a:sym typeface="Montserrat"/>
              </a:rPr>
              <a:t>r</a:t>
            </a:r>
            <a:r>
              <a:rPr lang="en-US" sz="1452" strike="noStrike" u="none">
                <a:solidFill>
                  <a:srgbClr val="1C1C1A"/>
                </a:solidFill>
                <a:latin typeface="Montserrat"/>
                <a:ea typeface="Montserrat"/>
                <a:cs typeface="Montserrat"/>
                <a:sym typeface="Montserrat"/>
              </a:rPr>
              <a:t>ia</a:t>
            </a:r>
            <a:r>
              <a:rPr lang="en-US" sz="1452" strike="noStrike" u="none">
                <a:solidFill>
                  <a:srgbClr val="1C1C1A"/>
                </a:solidFill>
                <a:latin typeface="Montserrat"/>
                <a:ea typeface="Montserrat"/>
                <a:cs typeface="Montserrat"/>
                <a:sym typeface="Montserrat"/>
              </a:rPr>
              <a:t>si </a:t>
            </a:r>
            <a:r>
              <a:rPr lang="en-US" sz="1452" strike="noStrike" u="none">
                <a:solidFill>
                  <a:srgbClr val="1C1C1A"/>
                </a:solidFill>
                <a:latin typeface="Montserrat"/>
                <a:ea typeface="Montserrat"/>
                <a:cs typeface="Montserrat"/>
                <a:sym typeface="Montserrat"/>
              </a:rPr>
              <a:t>p</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ckag</a:t>
            </a:r>
            <a:r>
              <a:rPr lang="en-US" sz="1452" strike="noStrike" u="none">
                <a:solidFill>
                  <a:srgbClr val="1C1C1A"/>
                </a:solidFill>
                <a:latin typeface="Montserrat"/>
                <a:ea typeface="Montserrat"/>
                <a:cs typeface="Montserrat"/>
                <a:sym typeface="Montserrat"/>
              </a:rPr>
              <a:t>e </a:t>
            </a:r>
            <a:r>
              <a:rPr lang="en-US" sz="1452" strike="noStrike" u="none">
                <a:solidFill>
                  <a:srgbClr val="1C1C1A"/>
                </a:solidFill>
                <a:latin typeface="Montserrat"/>
                <a:ea typeface="Montserrat"/>
                <a:cs typeface="Montserrat"/>
                <a:sym typeface="Montserrat"/>
              </a:rPr>
              <a:t>V</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ce </a:t>
            </a:r>
            <a:r>
              <a:rPr lang="en-US" sz="1452" strike="noStrike" u="none">
                <a:solidFill>
                  <a:srgbClr val="1C1C1A"/>
                </a:solidFill>
                <a:latin typeface="Montserrat"/>
                <a:ea typeface="Montserrat"/>
                <a:cs typeface="Montserrat"/>
                <a:sym typeface="Montserrat"/>
              </a:rPr>
              <a:t>y</a:t>
            </a:r>
            <a:r>
              <a:rPr lang="en-US" sz="1452" strike="noStrike" u="none">
                <a:solidFill>
                  <a:srgbClr val="1C1C1A"/>
                </a:solidFill>
                <a:latin typeface="Montserrat"/>
                <a:ea typeface="Montserrat"/>
                <a:cs typeface="Montserrat"/>
                <a:sym typeface="Montserrat"/>
              </a:rPr>
              <a:t>ang </a:t>
            </a:r>
            <a:r>
              <a:rPr lang="en-US" sz="1452" strike="noStrike" u="none">
                <a:solidFill>
                  <a:srgbClr val="1C1C1A"/>
                </a:solidFill>
                <a:latin typeface="Montserrat"/>
                <a:ea typeface="Montserrat"/>
                <a:cs typeface="Montserrat"/>
                <a:sym typeface="Montserrat"/>
              </a:rPr>
              <a:t>m</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mi</a:t>
            </a:r>
            <a:r>
              <a:rPr lang="en-US" sz="1452" strike="noStrike" u="none">
                <a:solidFill>
                  <a:srgbClr val="1C1C1A"/>
                </a:solidFill>
                <a:latin typeface="Montserrat"/>
                <a:ea typeface="Montserrat"/>
                <a:cs typeface="Montserrat"/>
                <a:sym typeface="Montserrat"/>
              </a:rPr>
              <a:t>li</a:t>
            </a:r>
            <a:r>
              <a:rPr lang="en-US" sz="1452" strike="noStrike" u="none">
                <a:solidFill>
                  <a:srgbClr val="1C1C1A"/>
                </a:solidFill>
                <a:latin typeface="Montserrat"/>
                <a:ea typeface="Montserrat"/>
                <a:cs typeface="Montserrat"/>
                <a:sym typeface="Montserrat"/>
              </a:rPr>
              <a:t>ki</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j</a:t>
            </a:r>
            <a:r>
              <a:rPr lang="en-US" sz="1452" strike="noStrike" u="none">
                <a:solidFill>
                  <a:srgbClr val="1C1C1A"/>
                </a:solidFill>
                <a:latin typeface="Montserrat"/>
                <a:ea typeface="Montserrat"/>
                <a:cs typeface="Montserrat"/>
                <a:sym typeface="Montserrat"/>
              </a:rPr>
              <a:t>um</a:t>
            </a:r>
            <a:r>
              <a:rPr lang="en-US" sz="1452" strike="noStrike" u="none">
                <a:solidFill>
                  <a:srgbClr val="1C1C1A"/>
                </a:solidFill>
                <a:latin typeface="Montserrat"/>
                <a:ea typeface="Montserrat"/>
                <a:cs typeface="Montserrat"/>
                <a:sym typeface="Montserrat"/>
              </a:rPr>
              <a:t>lah</a:t>
            </a:r>
            <a:r>
              <a:rPr lang="en-US" sz="1452" strike="noStrike" u="none">
                <a:solidFill>
                  <a:srgbClr val="1C1C1A"/>
                </a:solidFill>
                <a:latin typeface="Montserrat"/>
                <a:ea typeface="Montserrat"/>
                <a:cs typeface="Montserrat"/>
                <a:sym typeface="Montserrat"/>
              </a:rPr>
              <a:t> p</a:t>
            </a:r>
            <a:r>
              <a:rPr lang="en-US" sz="1452" strike="noStrike" u="none">
                <a:solidFill>
                  <a:srgbClr val="1C1C1A"/>
                </a:solidFill>
                <a:latin typeface="Montserrat"/>
                <a:ea typeface="Montserrat"/>
                <a:cs typeface="Montserrat"/>
                <a:sym typeface="Montserrat"/>
              </a:rPr>
              <a:t>ela</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gga</a:t>
            </a:r>
            <a:r>
              <a:rPr lang="en-US" sz="1452" strike="noStrike" u="none">
                <a:solidFill>
                  <a:srgbClr val="1C1C1A"/>
                </a:solidFill>
                <a:latin typeface="Montserrat"/>
                <a:ea typeface="Montserrat"/>
                <a:cs typeface="Montserrat"/>
                <a:sym typeface="Montserrat"/>
              </a:rPr>
              <a:t>n t</a:t>
            </a:r>
            <a:r>
              <a:rPr lang="en-US" sz="1452" strike="noStrike" u="none">
                <a:solidFill>
                  <a:srgbClr val="1C1C1A"/>
                </a:solidFill>
                <a:latin typeface="Montserrat"/>
                <a:ea typeface="Montserrat"/>
                <a:cs typeface="Montserrat"/>
                <a:sym typeface="Montserrat"/>
              </a:rPr>
              <a:t>erbesar.</a:t>
            </a:r>
          </a:p>
          <a:p>
            <a:pPr algn="l" marL="313693" indent="-156847" lvl="1">
              <a:lnSpc>
                <a:spcPts val="2034"/>
              </a:lnSpc>
              <a:buFont typeface="Arial"/>
              <a:buChar char="•"/>
            </a:pPr>
            <a:r>
              <a:rPr lang="en-US" sz="1452" strike="noStrike" u="none">
                <a:solidFill>
                  <a:srgbClr val="1C1C1A"/>
                </a:solidFill>
                <a:latin typeface="Montserrat"/>
                <a:ea typeface="Montserrat"/>
                <a:cs typeface="Montserrat"/>
                <a:sym typeface="Montserrat"/>
              </a:rPr>
              <a:t>Eva</a:t>
            </a:r>
            <a:r>
              <a:rPr lang="en-US" sz="1452" strike="noStrike" u="none">
                <a:solidFill>
                  <a:srgbClr val="1C1C1A"/>
                </a:solidFill>
                <a:latin typeface="Montserrat"/>
                <a:ea typeface="Montserrat"/>
                <a:cs typeface="Montserrat"/>
                <a:sym typeface="Montserrat"/>
              </a:rPr>
              <a:t>l</a:t>
            </a:r>
            <a:r>
              <a:rPr lang="en-US" sz="1452" strike="noStrike" u="none">
                <a:solidFill>
                  <a:srgbClr val="1C1C1A"/>
                </a:solidFill>
                <a:latin typeface="Montserrat"/>
                <a:ea typeface="Montserrat"/>
                <a:cs typeface="Montserrat"/>
                <a:sym typeface="Montserrat"/>
              </a:rPr>
              <a:t>u</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si perf</a:t>
            </a:r>
            <a:r>
              <a:rPr lang="en-US" sz="1452" strike="noStrike" u="none">
                <a:solidFill>
                  <a:srgbClr val="1C1C1A"/>
                </a:solidFill>
                <a:latin typeface="Montserrat"/>
                <a:ea typeface="Montserrat"/>
                <a:cs typeface="Montserrat"/>
                <a:sym typeface="Montserrat"/>
              </a:rPr>
              <a:t>or</a:t>
            </a:r>
            <a:r>
              <a:rPr lang="en-US" sz="1452" strike="noStrike" u="none">
                <a:solidFill>
                  <a:srgbClr val="1C1C1A"/>
                </a:solidFill>
                <a:latin typeface="Montserrat"/>
                <a:ea typeface="Montserrat"/>
                <a:cs typeface="Montserrat"/>
                <a:sym typeface="Montserrat"/>
              </a:rPr>
              <a:t>ma</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packag</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 Da</a:t>
            </a:r>
            <a:r>
              <a:rPr lang="en-US" sz="1452" strike="noStrike" u="none">
                <a:solidFill>
                  <a:srgbClr val="1C1C1A"/>
                </a:solidFill>
                <a:latin typeface="Montserrat"/>
                <a:ea typeface="Montserrat"/>
                <a:cs typeface="Montserrat"/>
                <a:sym typeface="Montserrat"/>
              </a:rPr>
              <a:t>t</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 d</a:t>
            </a:r>
            <a:r>
              <a:rPr lang="en-US" sz="1452" strike="noStrike" u="none">
                <a:solidFill>
                  <a:srgbClr val="1C1C1A"/>
                </a:solidFill>
                <a:latin typeface="Montserrat"/>
                <a:ea typeface="Montserrat"/>
                <a:cs typeface="Montserrat"/>
                <a:sym typeface="Montserrat"/>
              </a:rPr>
              <a:t>an C</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mb</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 untuk</a:t>
            </a:r>
            <a:r>
              <a:rPr lang="en-US" sz="1452" strike="noStrike" u="none">
                <a:solidFill>
                  <a:srgbClr val="1C1C1A"/>
                </a:solidFill>
                <a:latin typeface="Montserrat"/>
                <a:ea typeface="Montserrat"/>
                <a:cs typeface="Montserrat"/>
                <a:sym typeface="Montserrat"/>
              </a:rPr>
              <a:t> m</a:t>
            </a:r>
            <a:r>
              <a:rPr lang="en-US" sz="1452" strike="noStrike" u="none">
                <a:solidFill>
                  <a:srgbClr val="1C1C1A"/>
                </a:solidFill>
                <a:latin typeface="Montserrat"/>
                <a:ea typeface="Montserrat"/>
                <a:cs typeface="Montserrat"/>
                <a:sym typeface="Montserrat"/>
              </a:rPr>
              <a:t>enin</a:t>
            </a:r>
            <a:r>
              <a:rPr lang="en-US" sz="1452" strike="noStrike" u="none">
                <a:solidFill>
                  <a:srgbClr val="1C1C1A"/>
                </a:solidFill>
                <a:latin typeface="Montserrat"/>
                <a:ea typeface="Montserrat"/>
                <a:cs typeface="Montserrat"/>
                <a:sym typeface="Montserrat"/>
              </a:rPr>
              <a:t>g</a:t>
            </a:r>
            <a:r>
              <a:rPr lang="en-US" sz="1452" strike="noStrike" u="none">
                <a:solidFill>
                  <a:srgbClr val="1C1C1A"/>
                </a:solidFill>
                <a:latin typeface="Montserrat"/>
                <a:ea typeface="Montserrat"/>
                <a:cs typeface="Montserrat"/>
                <a:sym typeface="Montserrat"/>
              </a:rPr>
              <a:t>katk</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d</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y</a:t>
            </a:r>
            <a:r>
              <a:rPr lang="en-US" sz="1452" strike="noStrike" u="none">
                <a:solidFill>
                  <a:srgbClr val="1C1C1A"/>
                </a:solidFill>
                <a:latin typeface="Montserrat"/>
                <a:ea typeface="Montserrat"/>
                <a:cs typeface="Montserrat"/>
                <a:sym typeface="Montserrat"/>
              </a:rPr>
              <a:t>a t</a:t>
            </a:r>
            <a:r>
              <a:rPr lang="en-US" sz="1452" strike="noStrike" u="none">
                <a:solidFill>
                  <a:srgbClr val="1C1C1A"/>
                </a:solidFill>
                <a:latin typeface="Montserrat"/>
                <a:ea typeface="Montserrat"/>
                <a:cs typeface="Montserrat"/>
                <a:sym typeface="Montserrat"/>
              </a:rPr>
              <a:t>ar</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k</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pro</a:t>
            </a:r>
            <a:r>
              <a:rPr lang="en-US" sz="1452" strike="noStrike" u="none">
                <a:solidFill>
                  <a:srgbClr val="1C1C1A"/>
                </a:solidFill>
                <a:latin typeface="Montserrat"/>
                <a:ea typeface="Montserrat"/>
                <a:cs typeface="Montserrat"/>
                <a:sym typeface="Montserrat"/>
              </a:rPr>
              <a:t>d</a:t>
            </a:r>
            <a:r>
              <a:rPr lang="en-US" sz="1452" strike="noStrike" u="none">
                <a:solidFill>
                  <a:srgbClr val="1C1C1A"/>
                </a:solidFill>
                <a:latin typeface="Montserrat"/>
                <a:ea typeface="Montserrat"/>
                <a:cs typeface="Montserrat"/>
                <a:sym typeface="Montserrat"/>
              </a:rPr>
              <a:t>uk</a:t>
            </a:r>
          </a:p>
        </p:txBody>
      </p:sp>
      <p:grpSp>
        <p:nvGrpSpPr>
          <p:cNvPr name="Group 39" id="39"/>
          <p:cNvGrpSpPr/>
          <p:nvPr/>
        </p:nvGrpSpPr>
        <p:grpSpPr>
          <a:xfrm rot="5400000">
            <a:off x="13300608" y="5391474"/>
            <a:ext cx="1554752" cy="463544"/>
            <a:chOff x="0" y="0"/>
            <a:chExt cx="361780" cy="107864"/>
          </a:xfrm>
        </p:grpSpPr>
        <p:sp>
          <p:nvSpPr>
            <p:cNvPr name="Freeform 40" id="40"/>
            <p:cNvSpPr/>
            <p:nvPr/>
          </p:nvSpPr>
          <p:spPr>
            <a:xfrm flipH="false" flipV="false" rot="0">
              <a:off x="28860" y="10975"/>
              <a:ext cx="304061" cy="96888"/>
            </a:xfrm>
            <a:custGeom>
              <a:avLst/>
              <a:gdLst/>
              <a:ahLst/>
              <a:cxnLst/>
              <a:rect r="r" b="b" t="t" l="l"/>
              <a:pathLst>
                <a:path h="96888" w="304061">
                  <a:moveTo>
                    <a:pt x="186245" y="9427"/>
                  </a:moveTo>
                  <a:lnTo>
                    <a:pt x="298705" y="76486"/>
                  </a:lnTo>
                  <a:cubicBezTo>
                    <a:pt x="302947" y="79016"/>
                    <a:pt x="304977" y="84067"/>
                    <a:pt x="303665" y="88828"/>
                  </a:cubicBezTo>
                  <a:cubicBezTo>
                    <a:pt x="302354" y="93590"/>
                    <a:pt x="298023" y="96889"/>
                    <a:pt x="293084" y="96889"/>
                  </a:cubicBezTo>
                  <a:lnTo>
                    <a:pt x="10976" y="96889"/>
                  </a:lnTo>
                  <a:cubicBezTo>
                    <a:pt x="6037" y="96889"/>
                    <a:pt x="1707" y="93590"/>
                    <a:pt x="395" y="88828"/>
                  </a:cubicBezTo>
                  <a:cubicBezTo>
                    <a:pt x="-917" y="84067"/>
                    <a:pt x="1113" y="79016"/>
                    <a:pt x="5355" y="76486"/>
                  </a:cubicBezTo>
                  <a:lnTo>
                    <a:pt x="117815" y="9427"/>
                  </a:lnTo>
                  <a:cubicBezTo>
                    <a:pt x="138894" y="-3142"/>
                    <a:pt x="165167" y="-3142"/>
                    <a:pt x="186245" y="9427"/>
                  </a:cubicBezTo>
                  <a:close/>
                </a:path>
              </a:pathLst>
            </a:custGeom>
            <a:solidFill>
              <a:srgbClr val="FEAC3D"/>
            </a:solidFill>
          </p:spPr>
        </p:sp>
        <p:sp>
          <p:nvSpPr>
            <p:cNvPr name="TextBox 41" id="41"/>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42" id="42"/>
          <p:cNvGrpSpPr/>
          <p:nvPr/>
        </p:nvGrpSpPr>
        <p:grpSpPr>
          <a:xfrm rot="0">
            <a:off x="11162572" y="3451347"/>
            <a:ext cx="2708692" cy="5168447"/>
            <a:chOff x="0" y="0"/>
            <a:chExt cx="736265" cy="1404865"/>
          </a:xfrm>
        </p:grpSpPr>
        <p:sp>
          <p:nvSpPr>
            <p:cNvPr name="Freeform 43" id="43"/>
            <p:cNvSpPr/>
            <p:nvPr/>
          </p:nvSpPr>
          <p:spPr>
            <a:xfrm flipH="false" flipV="false" rot="0">
              <a:off x="0" y="0"/>
              <a:ext cx="736265" cy="1404865"/>
            </a:xfrm>
            <a:custGeom>
              <a:avLst/>
              <a:gdLst/>
              <a:ahLst/>
              <a:cxnLst/>
              <a:rect r="r" b="b" t="t" l="l"/>
              <a:pathLst>
                <a:path h="1404865" w="736265">
                  <a:moveTo>
                    <a:pt x="102894" y="0"/>
                  </a:moveTo>
                  <a:lnTo>
                    <a:pt x="633370" y="0"/>
                  </a:lnTo>
                  <a:cubicBezTo>
                    <a:pt x="660660" y="0"/>
                    <a:pt x="686831" y="10841"/>
                    <a:pt x="706128" y="30137"/>
                  </a:cubicBezTo>
                  <a:cubicBezTo>
                    <a:pt x="725424" y="49433"/>
                    <a:pt x="736265" y="75605"/>
                    <a:pt x="736265" y="102894"/>
                  </a:cubicBezTo>
                  <a:lnTo>
                    <a:pt x="736265" y="1301970"/>
                  </a:lnTo>
                  <a:cubicBezTo>
                    <a:pt x="736265" y="1329260"/>
                    <a:pt x="725424" y="1355431"/>
                    <a:pt x="706128" y="1374728"/>
                  </a:cubicBezTo>
                  <a:cubicBezTo>
                    <a:pt x="686831" y="1394024"/>
                    <a:pt x="660660" y="1404865"/>
                    <a:pt x="633370" y="1404865"/>
                  </a:cubicBezTo>
                  <a:lnTo>
                    <a:pt x="102894" y="1404865"/>
                  </a:lnTo>
                  <a:cubicBezTo>
                    <a:pt x="75605" y="1404865"/>
                    <a:pt x="49433" y="1394024"/>
                    <a:pt x="30137" y="1374728"/>
                  </a:cubicBezTo>
                  <a:cubicBezTo>
                    <a:pt x="10841" y="1355431"/>
                    <a:pt x="0" y="1329260"/>
                    <a:pt x="0" y="1301970"/>
                  </a:cubicBezTo>
                  <a:lnTo>
                    <a:pt x="0" y="102894"/>
                  </a:lnTo>
                  <a:cubicBezTo>
                    <a:pt x="0" y="75605"/>
                    <a:pt x="10841" y="49433"/>
                    <a:pt x="30137" y="30137"/>
                  </a:cubicBezTo>
                  <a:cubicBezTo>
                    <a:pt x="49433" y="10841"/>
                    <a:pt x="75605" y="0"/>
                    <a:pt x="102894" y="0"/>
                  </a:cubicBezTo>
                  <a:close/>
                </a:path>
              </a:pathLst>
            </a:custGeom>
            <a:solidFill>
              <a:srgbClr val="FFFFFF"/>
            </a:solidFill>
            <a:ln w="9525" cap="rnd">
              <a:solidFill>
                <a:srgbClr val="000000"/>
              </a:solidFill>
              <a:prstDash val="solid"/>
              <a:round/>
            </a:ln>
          </p:spPr>
        </p:sp>
        <p:sp>
          <p:nvSpPr>
            <p:cNvPr name="TextBox 44" id="44"/>
            <p:cNvSpPr txBox="true"/>
            <p:nvPr/>
          </p:nvSpPr>
          <p:spPr>
            <a:xfrm>
              <a:off x="0" y="-38100"/>
              <a:ext cx="736265" cy="1442965"/>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5" id="45"/>
          <p:cNvGrpSpPr/>
          <p:nvPr/>
        </p:nvGrpSpPr>
        <p:grpSpPr>
          <a:xfrm rot="0">
            <a:off x="11807725" y="2708173"/>
            <a:ext cx="1418387" cy="1418387"/>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37CF"/>
            </a:solidFill>
          </p:spPr>
        </p:sp>
        <p:sp>
          <p:nvSpPr>
            <p:cNvPr name="TextBox 47" id="4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48" id="48"/>
          <p:cNvSpPr txBox="true"/>
          <p:nvPr/>
        </p:nvSpPr>
        <p:spPr>
          <a:xfrm rot="0">
            <a:off x="11184020" y="5064427"/>
            <a:ext cx="2589700" cy="3075876"/>
          </a:xfrm>
          <a:prstGeom prst="rect">
            <a:avLst/>
          </a:prstGeom>
        </p:spPr>
        <p:txBody>
          <a:bodyPr anchor="t" rtlCol="false" tIns="0" lIns="0" bIns="0" rIns="0">
            <a:spAutoFit/>
          </a:bodyPr>
          <a:lstStyle/>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Manfaatkan </a:t>
            </a:r>
            <a:r>
              <a:rPr lang="en-US" sz="1452" strike="noStrike" u="none">
                <a:solidFill>
                  <a:srgbClr val="1C1C1A"/>
                </a:solidFill>
                <a:latin typeface="Montserrat"/>
                <a:ea typeface="Montserrat"/>
                <a:cs typeface="Montserrat"/>
                <a:sym typeface="Montserrat"/>
              </a:rPr>
              <a:t>pro</a:t>
            </a:r>
            <a:r>
              <a:rPr lang="en-US" sz="1452" strike="noStrike" u="none">
                <a:solidFill>
                  <a:srgbClr val="1C1C1A"/>
                </a:solidFill>
                <a:latin typeface="Montserrat"/>
                <a:ea typeface="Montserrat"/>
                <a:cs typeface="Montserrat"/>
                <a:sym typeface="Montserrat"/>
              </a:rPr>
              <a:t>g</a:t>
            </a:r>
            <a:r>
              <a:rPr lang="en-US" sz="1452" strike="noStrike" u="none">
                <a:solidFill>
                  <a:srgbClr val="1C1C1A"/>
                </a:solidFill>
                <a:latin typeface="Montserrat"/>
                <a:ea typeface="Montserrat"/>
                <a:cs typeface="Montserrat"/>
                <a:sym typeface="Montserrat"/>
              </a:rPr>
              <a:t>ram</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r</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ferra</a:t>
            </a:r>
            <a:r>
              <a:rPr lang="en-US" sz="1452" strike="noStrike" u="none">
                <a:solidFill>
                  <a:srgbClr val="1C1C1A"/>
                </a:solidFill>
                <a:latin typeface="Montserrat"/>
                <a:ea typeface="Montserrat"/>
                <a:cs typeface="Montserrat"/>
                <a:sym typeface="Montserrat"/>
              </a:rPr>
              <a:t>l </a:t>
            </a:r>
            <a:r>
              <a:rPr lang="en-US" sz="1452" strike="noStrike" u="none">
                <a:solidFill>
                  <a:srgbClr val="1C1C1A"/>
                </a:solidFill>
                <a:latin typeface="Montserrat"/>
                <a:ea typeface="Montserrat"/>
                <a:cs typeface="Montserrat"/>
                <a:sym typeface="Montserrat"/>
              </a:rPr>
              <a:t>pada chann</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l</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Online untuk</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m</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ngkatkan ak</a:t>
            </a:r>
            <a:r>
              <a:rPr lang="en-US" sz="1452" strike="noStrike" u="none">
                <a:solidFill>
                  <a:srgbClr val="1C1C1A"/>
                </a:solidFill>
                <a:latin typeface="Montserrat"/>
                <a:ea typeface="Montserrat"/>
                <a:cs typeface="Montserrat"/>
                <a:sym typeface="Montserrat"/>
              </a:rPr>
              <a:t>u</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s</a:t>
            </a:r>
            <a:r>
              <a:rPr lang="en-US" sz="1452" strike="noStrike" u="none">
                <a:solidFill>
                  <a:srgbClr val="1C1C1A"/>
                </a:solidFill>
                <a:latin typeface="Montserrat"/>
                <a:ea typeface="Montserrat"/>
                <a:cs typeface="Montserrat"/>
                <a:sym typeface="Montserrat"/>
              </a:rPr>
              <a:t>isi</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p</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langgan ba</a:t>
            </a:r>
            <a:r>
              <a:rPr lang="en-US" sz="1452" strike="noStrike" u="none">
                <a:solidFill>
                  <a:srgbClr val="1C1C1A"/>
                </a:solidFill>
                <a:latin typeface="Montserrat"/>
                <a:ea typeface="Montserrat"/>
                <a:cs typeface="Montserrat"/>
                <a:sym typeface="Montserrat"/>
              </a:rPr>
              <a:t>r</a:t>
            </a:r>
            <a:r>
              <a:rPr lang="en-US" sz="1452" strike="noStrike" u="none">
                <a:solidFill>
                  <a:srgbClr val="1C1C1A"/>
                </a:solidFill>
                <a:latin typeface="Montserrat"/>
                <a:ea typeface="Montserrat"/>
                <a:cs typeface="Montserrat"/>
                <a:sym typeface="Montserrat"/>
              </a:rPr>
              <a:t>u</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dengan b</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aya ya</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g leb</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h efis</a:t>
            </a:r>
            <a:r>
              <a:rPr lang="en-US" sz="1452" strike="noStrike" u="none">
                <a:solidFill>
                  <a:srgbClr val="1C1C1A"/>
                </a:solidFill>
                <a:latin typeface="Montserrat"/>
                <a:ea typeface="Montserrat"/>
                <a:cs typeface="Montserrat"/>
                <a:sym typeface="Montserrat"/>
              </a:rPr>
              <a:t>i</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a:t>
            </a:r>
          </a:p>
          <a:p>
            <a:pPr algn="l" marL="313693" indent="-156847" lvl="1">
              <a:lnSpc>
                <a:spcPts val="2034"/>
              </a:lnSpc>
              <a:buFont typeface="Arial"/>
              <a:buChar char="•"/>
            </a:pPr>
            <a:r>
              <a:rPr lang="en-US" sz="1452" strike="noStrike" u="none">
                <a:solidFill>
                  <a:srgbClr val="1C1C1A"/>
                </a:solidFill>
                <a:latin typeface="Montserrat"/>
                <a:ea typeface="Montserrat"/>
                <a:cs typeface="Montserrat"/>
                <a:sym typeface="Montserrat"/>
              </a:rPr>
              <a:t>Op</a:t>
            </a:r>
            <a:r>
              <a:rPr lang="en-US" sz="1452" strike="noStrike" u="none">
                <a:solidFill>
                  <a:srgbClr val="1C1C1A"/>
                </a:solidFill>
                <a:latin typeface="Montserrat"/>
                <a:ea typeface="Montserrat"/>
                <a:cs typeface="Montserrat"/>
                <a:sym typeface="Montserrat"/>
              </a:rPr>
              <a:t>t</a:t>
            </a:r>
            <a:r>
              <a:rPr lang="en-US" sz="1452" strike="noStrike" u="none">
                <a:solidFill>
                  <a:srgbClr val="1C1C1A"/>
                </a:solidFill>
                <a:latin typeface="Montserrat"/>
                <a:ea typeface="Montserrat"/>
                <a:cs typeface="Montserrat"/>
                <a:sym typeface="Montserrat"/>
              </a:rPr>
              <a:t>imalkan</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ch</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nn</a:t>
            </a:r>
            <a:r>
              <a:rPr lang="en-US" sz="1452" strike="noStrike" u="none">
                <a:solidFill>
                  <a:srgbClr val="1C1C1A"/>
                </a:solidFill>
                <a:latin typeface="Montserrat"/>
                <a:ea typeface="Montserrat"/>
                <a:cs typeface="Montserrat"/>
                <a:sym typeface="Montserrat"/>
              </a:rPr>
              <a:t>e</a:t>
            </a:r>
            <a:r>
              <a:rPr lang="en-US" sz="1452" strike="noStrike" u="none">
                <a:solidFill>
                  <a:srgbClr val="1C1C1A"/>
                </a:solidFill>
                <a:latin typeface="Montserrat"/>
                <a:ea typeface="Montserrat"/>
                <a:cs typeface="Montserrat"/>
                <a:sym typeface="Montserrat"/>
              </a:rPr>
              <a:t>l</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R</a:t>
            </a:r>
            <a:r>
              <a:rPr lang="en-US" sz="1452" strike="noStrike" u="none">
                <a:solidFill>
                  <a:srgbClr val="1C1C1A"/>
                </a:solidFill>
                <a:latin typeface="Montserrat"/>
                <a:ea typeface="Montserrat"/>
                <a:cs typeface="Montserrat"/>
                <a:sym typeface="Montserrat"/>
              </a:rPr>
              <a:t>et</a:t>
            </a:r>
            <a:r>
              <a:rPr lang="en-US" sz="1452" strike="noStrike" u="none">
                <a:solidFill>
                  <a:srgbClr val="1C1C1A"/>
                </a:solidFill>
                <a:latin typeface="Montserrat"/>
                <a:ea typeface="Montserrat"/>
                <a:cs typeface="Montserrat"/>
                <a:sym typeface="Montserrat"/>
              </a:rPr>
              <a:t>ail</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melalui pr</a:t>
            </a:r>
            <a:r>
              <a:rPr lang="en-US" sz="1452" strike="noStrike" u="none">
                <a:solidFill>
                  <a:srgbClr val="1C1C1A"/>
                </a:solidFill>
                <a:latin typeface="Montserrat"/>
                <a:ea typeface="Montserrat"/>
                <a:cs typeface="Montserrat"/>
                <a:sym typeface="Montserrat"/>
              </a:rPr>
              <a:t>o</a:t>
            </a:r>
            <a:r>
              <a:rPr lang="en-US" sz="1452" strike="noStrike" u="none">
                <a:solidFill>
                  <a:srgbClr val="1C1C1A"/>
                </a:solidFill>
                <a:latin typeface="Montserrat"/>
                <a:ea typeface="Montserrat"/>
                <a:cs typeface="Montserrat"/>
                <a:sym typeface="Montserrat"/>
              </a:rPr>
              <a:t>mosi </a:t>
            </a:r>
            <a:r>
              <a:rPr lang="en-US" sz="1452" strike="noStrike" u="none">
                <a:solidFill>
                  <a:srgbClr val="1C1C1A"/>
                </a:solidFill>
                <a:latin typeface="Montserrat"/>
                <a:ea typeface="Montserrat"/>
                <a:cs typeface="Montserrat"/>
                <a:sym typeface="Montserrat"/>
              </a:rPr>
              <a:t>lo</a:t>
            </a:r>
            <a:r>
              <a:rPr lang="en-US" sz="1452" strike="noStrike" u="none">
                <a:solidFill>
                  <a:srgbClr val="1C1C1A"/>
                </a:solidFill>
                <a:latin typeface="Montserrat"/>
                <a:ea typeface="Montserrat"/>
                <a:cs typeface="Montserrat"/>
                <a:sym typeface="Montserrat"/>
              </a:rPr>
              <a:t>kal dan ke</a:t>
            </a:r>
            <a:r>
              <a:rPr lang="en-US" sz="1452" strike="noStrike" u="none">
                <a:solidFill>
                  <a:srgbClr val="1C1C1A"/>
                </a:solidFill>
                <a:latin typeface="Montserrat"/>
                <a:ea typeface="Montserrat"/>
                <a:cs typeface="Montserrat"/>
                <a:sym typeface="Montserrat"/>
              </a:rPr>
              <a:t>r</a:t>
            </a:r>
            <a:r>
              <a:rPr lang="en-US" sz="1452" strike="noStrike" u="none">
                <a:solidFill>
                  <a:srgbClr val="1C1C1A"/>
                </a:solidFill>
                <a:latin typeface="Montserrat"/>
                <a:ea typeface="Montserrat"/>
                <a:cs typeface="Montserrat"/>
                <a:sym typeface="Montserrat"/>
              </a:rPr>
              <a:t>ja</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sa</a:t>
            </a:r>
            <a:r>
              <a:rPr lang="en-US" sz="1452" strike="noStrike" u="none">
                <a:solidFill>
                  <a:srgbClr val="1C1C1A"/>
                </a:solidFill>
                <a:latin typeface="Montserrat"/>
                <a:ea typeface="Montserrat"/>
                <a:cs typeface="Montserrat"/>
                <a:sym typeface="Montserrat"/>
              </a:rPr>
              <a:t>ma</a:t>
            </a:r>
            <a:r>
              <a:rPr lang="en-US" sz="1452" strike="noStrike" u="none">
                <a:solidFill>
                  <a:srgbClr val="1C1C1A"/>
                </a:solidFill>
                <a:latin typeface="Montserrat"/>
                <a:ea typeface="Montserrat"/>
                <a:cs typeface="Montserrat"/>
                <a:sym typeface="Montserrat"/>
              </a:rPr>
              <a:t> den</a:t>
            </a:r>
            <a:r>
              <a:rPr lang="en-US" sz="1452" strike="noStrike" u="none">
                <a:solidFill>
                  <a:srgbClr val="1C1C1A"/>
                </a:solidFill>
                <a:latin typeface="Montserrat"/>
                <a:ea typeface="Montserrat"/>
                <a:cs typeface="Montserrat"/>
                <a:sym typeface="Montserrat"/>
              </a:rPr>
              <a:t>g</a:t>
            </a:r>
            <a:r>
              <a:rPr lang="en-US" sz="1452" strike="noStrike" u="none">
                <a:solidFill>
                  <a:srgbClr val="1C1C1A"/>
                </a:solidFill>
                <a:latin typeface="Montserrat"/>
                <a:ea typeface="Montserrat"/>
                <a:cs typeface="Montserrat"/>
                <a:sym typeface="Montserrat"/>
              </a:rPr>
              <a:t>a</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 mitr</a:t>
            </a:r>
            <a:r>
              <a:rPr lang="en-US" sz="1452" strike="noStrike" u="none">
                <a:solidFill>
                  <a:srgbClr val="1C1C1A"/>
                </a:solidFill>
                <a:latin typeface="Montserrat"/>
                <a:ea typeface="Montserrat"/>
                <a:cs typeface="Montserrat"/>
                <a:sym typeface="Montserrat"/>
              </a:rPr>
              <a:t>a </a:t>
            </a:r>
            <a:r>
              <a:rPr lang="en-US" sz="1452" strike="noStrike" u="none">
                <a:solidFill>
                  <a:srgbClr val="1C1C1A"/>
                </a:solidFill>
                <a:latin typeface="Montserrat"/>
                <a:ea typeface="Montserrat"/>
                <a:cs typeface="Montserrat"/>
                <a:sym typeface="Montserrat"/>
              </a:rPr>
              <a:t>penju</a:t>
            </a:r>
            <a:r>
              <a:rPr lang="en-US" sz="1452" strike="noStrike" u="none">
                <a:solidFill>
                  <a:srgbClr val="1C1C1A"/>
                </a:solidFill>
                <a:latin typeface="Montserrat"/>
                <a:ea typeface="Montserrat"/>
                <a:cs typeface="Montserrat"/>
                <a:sym typeface="Montserrat"/>
              </a:rPr>
              <a:t>ala</a:t>
            </a:r>
            <a:r>
              <a:rPr lang="en-US" sz="1452" strike="noStrike" u="none">
                <a:solidFill>
                  <a:srgbClr val="1C1C1A"/>
                </a:solidFill>
                <a:latin typeface="Montserrat"/>
                <a:ea typeface="Montserrat"/>
                <a:cs typeface="Montserrat"/>
                <a:sym typeface="Montserrat"/>
              </a:rPr>
              <a:t>n</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un</a:t>
            </a:r>
            <a:r>
              <a:rPr lang="en-US" sz="1452" strike="noStrike" u="none">
                <a:solidFill>
                  <a:srgbClr val="1C1C1A"/>
                </a:solidFill>
                <a:latin typeface="Montserrat"/>
                <a:ea typeface="Montserrat"/>
                <a:cs typeface="Montserrat"/>
                <a:sym typeface="Montserrat"/>
              </a:rPr>
              <a:t>t</a:t>
            </a:r>
            <a:r>
              <a:rPr lang="en-US" sz="1452" strike="noStrike" u="none">
                <a:solidFill>
                  <a:srgbClr val="1C1C1A"/>
                </a:solidFill>
                <a:latin typeface="Montserrat"/>
                <a:ea typeface="Montserrat"/>
                <a:cs typeface="Montserrat"/>
                <a:sym typeface="Montserrat"/>
              </a:rPr>
              <a:t>uk</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m</a:t>
            </a:r>
            <a:r>
              <a:rPr lang="en-US" sz="1452" strike="noStrike" u="none">
                <a:solidFill>
                  <a:srgbClr val="1C1C1A"/>
                </a:solidFill>
                <a:latin typeface="Montserrat"/>
                <a:ea typeface="Montserrat"/>
                <a:cs typeface="Montserrat"/>
                <a:sym typeface="Montserrat"/>
              </a:rPr>
              <a:t>em</a:t>
            </a:r>
            <a:r>
              <a:rPr lang="en-US" sz="1452" strike="noStrike" u="none">
                <a:solidFill>
                  <a:srgbClr val="1C1C1A"/>
                </a:solidFill>
                <a:latin typeface="Montserrat"/>
                <a:ea typeface="Montserrat"/>
                <a:cs typeface="Montserrat"/>
                <a:sym typeface="Montserrat"/>
              </a:rPr>
              <a:t>perluas</a:t>
            </a:r>
            <a:r>
              <a:rPr lang="en-US" sz="1452" strike="noStrike" u="none">
                <a:solidFill>
                  <a:srgbClr val="1C1C1A"/>
                </a:solidFill>
                <a:latin typeface="Montserrat"/>
                <a:ea typeface="Montserrat"/>
                <a:cs typeface="Montserrat"/>
                <a:sym typeface="Montserrat"/>
              </a:rPr>
              <a:t> </a:t>
            </a:r>
            <a:r>
              <a:rPr lang="en-US" sz="1452" strike="noStrike" u="none">
                <a:solidFill>
                  <a:srgbClr val="1C1C1A"/>
                </a:solidFill>
                <a:latin typeface="Montserrat"/>
                <a:ea typeface="Montserrat"/>
                <a:cs typeface="Montserrat"/>
                <a:sym typeface="Montserrat"/>
              </a:rPr>
              <a:t>j</a:t>
            </a:r>
            <a:r>
              <a:rPr lang="en-US" sz="1452" strike="noStrike" u="none">
                <a:solidFill>
                  <a:srgbClr val="1C1C1A"/>
                </a:solidFill>
                <a:latin typeface="Montserrat"/>
                <a:ea typeface="Montserrat"/>
                <a:cs typeface="Montserrat"/>
                <a:sym typeface="Montserrat"/>
              </a:rPr>
              <a:t>an</a:t>
            </a:r>
            <a:r>
              <a:rPr lang="en-US" sz="1452" strike="noStrike" u="none">
                <a:solidFill>
                  <a:srgbClr val="1C1C1A"/>
                </a:solidFill>
                <a:latin typeface="Montserrat"/>
                <a:ea typeface="Montserrat"/>
                <a:cs typeface="Montserrat"/>
                <a:sym typeface="Montserrat"/>
              </a:rPr>
              <a:t>gkauan pasar</a:t>
            </a:r>
            <a:r>
              <a:rPr lang="en-US" sz="1452" strike="noStrike" u="none">
                <a:solidFill>
                  <a:srgbClr val="1C1C1A"/>
                </a:solidFill>
                <a:latin typeface="Montserrat"/>
                <a:ea typeface="Montserrat"/>
                <a:cs typeface="Montserrat"/>
                <a:sym typeface="Montserrat"/>
              </a:rPr>
              <a:t>.</a:t>
            </a:r>
          </a:p>
        </p:txBody>
      </p:sp>
      <p:grpSp>
        <p:nvGrpSpPr>
          <p:cNvPr name="Group 49" id="49"/>
          <p:cNvGrpSpPr/>
          <p:nvPr/>
        </p:nvGrpSpPr>
        <p:grpSpPr>
          <a:xfrm rot="0">
            <a:off x="14550608" y="3451347"/>
            <a:ext cx="2708692" cy="5168447"/>
            <a:chOff x="0" y="0"/>
            <a:chExt cx="736265" cy="1404865"/>
          </a:xfrm>
        </p:grpSpPr>
        <p:sp>
          <p:nvSpPr>
            <p:cNvPr name="Freeform 50" id="50"/>
            <p:cNvSpPr/>
            <p:nvPr/>
          </p:nvSpPr>
          <p:spPr>
            <a:xfrm flipH="false" flipV="false" rot="0">
              <a:off x="0" y="0"/>
              <a:ext cx="736265" cy="1404865"/>
            </a:xfrm>
            <a:custGeom>
              <a:avLst/>
              <a:gdLst/>
              <a:ahLst/>
              <a:cxnLst/>
              <a:rect r="r" b="b" t="t" l="l"/>
              <a:pathLst>
                <a:path h="1404865" w="736265">
                  <a:moveTo>
                    <a:pt x="102894" y="0"/>
                  </a:moveTo>
                  <a:lnTo>
                    <a:pt x="633370" y="0"/>
                  </a:lnTo>
                  <a:cubicBezTo>
                    <a:pt x="660660" y="0"/>
                    <a:pt x="686831" y="10841"/>
                    <a:pt x="706128" y="30137"/>
                  </a:cubicBezTo>
                  <a:cubicBezTo>
                    <a:pt x="725424" y="49433"/>
                    <a:pt x="736265" y="75605"/>
                    <a:pt x="736265" y="102894"/>
                  </a:cubicBezTo>
                  <a:lnTo>
                    <a:pt x="736265" y="1301970"/>
                  </a:lnTo>
                  <a:cubicBezTo>
                    <a:pt x="736265" y="1329260"/>
                    <a:pt x="725424" y="1355431"/>
                    <a:pt x="706128" y="1374728"/>
                  </a:cubicBezTo>
                  <a:cubicBezTo>
                    <a:pt x="686831" y="1394024"/>
                    <a:pt x="660660" y="1404865"/>
                    <a:pt x="633370" y="1404865"/>
                  </a:cubicBezTo>
                  <a:lnTo>
                    <a:pt x="102894" y="1404865"/>
                  </a:lnTo>
                  <a:cubicBezTo>
                    <a:pt x="75605" y="1404865"/>
                    <a:pt x="49433" y="1394024"/>
                    <a:pt x="30137" y="1374728"/>
                  </a:cubicBezTo>
                  <a:cubicBezTo>
                    <a:pt x="10841" y="1355431"/>
                    <a:pt x="0" y="1329260"/>
                    <a:pt x="0" y="1301970"/>
                  </a:cubicBezTo>
                  <a:lnTo>
                    <a:pt x="0" y="102894"/>
                  </a:lnTo>
                  <a:cubicBezTo>
                    <a:pt x="0" y="75605"/>
                    <a:pt x="10841" y="49433"/>
                    <a:pt x="30137" y="30137"/>
                  </a:cubicBezTo>
                  <a:cubicBezTo>
                    <a:pt x="49433" y="10841"/>
                    <a:pt x="75605" y="0"/>
                    <a:pt x="102894" y="0"/>
                  </a:cubicBezTo>
                  <a:close/>
                </a:path>
              </a:pathLst>
            </a:custGeom>
            <a:solidFill>
              <a:srgbClr val="FFFFFF"/>
            </a:solidFill>
            <a:ln w="9525" cap="rnd">
              <a:solidFill>
                <a:srgbClr val="000000"/>
              </a:solidFill>
              <a:prstDash val="solid"/>
              <a:round/>
            </a:ln>
          </p:spPr>
        </p:sp>
        <p:sp>
          <p:nvSpPr>
            <p:cNvPr name="TextBox 51" id="51"/>
            <p:cNvSpPr txBox="true"/>
            <p:nvPr/>
          </p:nvSpPr>
          <p:spPr>
            <a:xfrm>
              <a:off x="0" y="-38100"/>
              <a:ext cx="736265" cy="1442965"/>
            </a:xfrm>
            <a:prstGeom prst="rect">
              <a:avLst/>
            </a:prstGeom>
          </p:spPr>
          <p:txBody>
            <a:bodyPr anchor="ctr" rtlCol="false" tIns="71438" lIns="71438" bIns="71438" rIns="71438"/>
            <a:lstStyle/>
            <a:p>
              <a:pPr algn="ctr">
                <a:lnSpc>
                  <a:spcPts val="2756"/>
                </a:lnSpc>
              </a:pPr>
            </a:p>
          </p:txBody>
        </p:sp>
      </p:grpSp>
      <p:grpSp>
        <p:nvGrpSpPr>
          <p:cNvPr name="Group 52" id="52"/>
          <p:cNvGrpSpPr/>
          <p:nvPr/>
        </p:nvGrpSpPr>
        <p:grpSpPr>
          <a:xfrm rot="0">
            <a:off x="15195760" y="2708173"/>
            <a:ext cx="1418387" cy="1418387"/>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AC3D"/>
            </a:solidFill>
          </p:spPr>
        </p:sp>
        <p:sp>
          <p:nvSpPr>
            <p:cNvPr name="TextBox 54" id="5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5" id="55"/>
          <p:cNvSpPr txBox="true"/>
          <p:nvPr/>
        </p:nvSpPr>
        <p:spPr>
          <a:xfrm rot="0">
            <a:off x="14576659" y="5064427"/>
            <a:ext cx="2531602" cy="3332894"/>
          </a:xfrm>
          <a:prstGeom prst="rect">
            <a:avLst/>
          </a:prstGeom>
        </p:spPr>
        <p:txBody>
          <a:bodyPr anchor="t" rtlCol="false" tIns="0" lIns="0" bIns="0" rIns="0">
            <a:spAutoFit/>
          </a:bodyPr>
          <a:lstStyle/>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Fokuskan diskon pada segmen berpotensi churn daripada seluruh pelanggan.</a:t>
            </a:r>
          </a:p>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Prioritaskan investasi pada pelanggan dengan nilai CLTV tinggi.</a:t>
            </a:r>
          </a:p>
          <a:p>
            <a:pPr algn="l" marL="313693" indent="-156847" lvl="1">
              <a:lnSpc>
                <a:spcPts val="2034"/>
              </a:lnSpc>
              <a:buFont typeface="Arial"/>
              <a:buChar char="•"/>
            </a:pPr>
            <a:r>
              <a:rPr lang="en-US" sz="1452">
                <a:solidFill>
                  <a:srgbClr val="1C1C1A"/>
                </a:solidFill>
                <a:latin typeface="Montserrat"/>
                <a:ea typeface="Montserrat"/>
                <a:cs typeface="Montserrat"/>
                <a:sym typeface="Montserrat"/>
              </a:rPr>
              <a:t>Alokasikan anggaran promosi pada segmen yang memberikan kontribusi revenue terbesar.</a:t>
            </a:r>
          </a:p>
        </p:txBody>
      </p:sp>
      <p:sp>
        <p:nvSpPr>
          <p:cNvPr name="TextBox 56" id="56"/>
          <p:cNvSpPr txBox="true"/>
          <p:nvPr/>
        </p:nvSpPr>
        <p:spPr>
          <a:xfrm rot="0">
            <a:off x="1903533" y="3028140"/>
            <a:ext cx="959026" cy="693700"/>
          </a:xfrm>
          <a:prstGeom prst="rect">
            <a:avLst/>
          </a:prstGeom>
        </p:spPr>
        <p:txBody>
          <a:bodyPr anchor="t" rtlCol="false" tIns="0" lIns="0" bIns="0" rIns="0">
            <a:spAutoFit/>
          </a:bodyPr>
          <a:lstStyle/>
          <a:p>
            <a:pPr algn="ctr" marL="0" indent="0" lvl="1">
              <a:lnSpc>
                <a:spcPts val="5739"/>
              </a:lnSpc>
            </a:pPr>
            <a:r>
              <a:rPr lang="en-US" b="true" sz="4099" spc="172">
                <a:solidFill>
                  <a:srgbClr val="FFFFFF"/>
                </a:solidFill>
                <a:latin typeface="Montserrat Ultra-Bold"/>
                <a:ea typeface="Montserrat Ultra-Bold"/>
                <a:cs typeface="Montserrat Ultra-Bold"/>
                <a:sym typeface="Montserrat Ultra-Bold"/>
              </a:rPr>
              <a:t>01</a:t>
            </a:r>
          </a:p>
        </p:txBody>
      </p:sp>
      <p:sp>
        <p:nvSpPr>
          <p:cNvPr name="TextBox 57" id="57"/>
          <p:cNvSpPr txBox="true"/>
          <p:nvPr/>
        </p:nvSpPr>
        <p:spPr>
          <a:xfrm rot="0">
            <a:off x="5297076" y="3028140"/>
            <a:ext cx="959026" cy="693700"/>
          </a:xfrm>
          <a:prstGeom prst="rect">
            <a:avLst/>
          </a:prstGeom>
        </p:spPr>
        <p:txBody>
          <a:bodyPr anchor="t" rtlCol="false" tIns="0" lIns="0" bIns="0" rIns="0">
            <a:spAutoFit/>
          </a:bodyPr>
          <a:lstStyle/>
          <a:p>
            <a:pPr algn="ctr" marL="0" indent="0" lvl="1">
              <a:lnSpc>
                <a:spcPts val="5739"/>
              </a:lnSpc>
            </a:pPr>
            <a:r>
              <a:rPr lang="en-US" b="true" sz="4099" spc="172">
                <a:solidFill>
                  <a:srgbClr val="FFFFFF"/>
                </a:solidFill>
                <a:latin typeface="Montserrat Ultra-Bold"/>
                <a:ea typeface="Montserrat Ultra-Bold"/>
                <a:cs typeface="Montserrat Ultra-Bold"/>
                <a:sym typeface="Montserrat Ultra-Bold"/>
              </a:rPr>
              <a:t>02</a:t>
            </a:r>
          </a:p>
        </p:txBody>
      </p:sp>
      <p:sp>
        <p:nvSpPr>
          <p:cNvPr name="TextBox 58" id="58"/>
          <p:cNvSpPr txBox="true"/>
          <p:nvPr/>
        </p:nvSpPr>
        <p:spPr>
          <a:xfrm rot="0">
            <a:off x="8669614" y="3028140"/>
            <a:ext cx="959026" cy="693700"/>
          </a:xfrm>
          <a:prstGeom prst="rect">
            <a:avLst/>
          </a:prstGeom>
        </p:spPr>
        <p:txBody>
          <a:bodyPr anchor="t" rtlCol="false" tIns="0" lIns="0" bIns="0" rIns="0">
            <a:spAutoFit/>
          </a:bodyPr>
          <a:lstStyle/>
          <a:p>
            <a:pPr algn="ctr" marL="0" indent="0" lvl="1">
              <a:lnSpc>
                <a:spcPts val="5739"/>
              </a:lnSpc>
            </a:pPr>
            <a:r>
              <a:rPr lang="en-US" b="true" sz="4099" spc="172">
                <a:solidFill>
                  <a:srgbClr val="FFFFFF"/>
                </a:solidFill>
                <a:latin typeface="Montserrat Ultra-Bold"/>
                <a:ea typeface="Montserrat Ultra-Bold"/>
                <a:cs typeface="Montserrat Ultra-Bold"/>
                <a:sym typeface="Montserrat Ultra-Bold"/>
              </a:rPr>
              <a:t>03</a:t>
            </a:r>
          </a:p>
        </p:txBody>
      </p:sp>
      <p:sp>
        <p:nvSpPr>
          <p:cNvPr name="TextBox 59" id="59"/>
          <p:cNvSpPr txBox="true"/>
          <p:nvPr/>
        </p:nvSpPr>
        <p:spPr>
          <a:xfrm rot="0">
            <a:off x="12037406" y="3028140"/>
            <a:ext cx="959026" cy="693700"/>
          </a:xfrm>
          <a:prstGeom prst="rect">
            <a:avLst/>
          </a:prstGeom>
        </p:spPr>
        <p:txBody>
          <a:bodyPr anchor="t" rtlCol="false" tIns="0" lIns="0" bIns="0" rIns="0">
            <a:spAutoFit/>
          </a:bodyPr>
          <a:lstStyle/>
          <a:p>
            <a:pPr algn="ctr" marL="0" indent="0" lvl="1">
              <a:lnSpc>
                <a:spcPts val="5739"/>
              </a:lnSpc>
            </a:pPr>
            <a:r>
              <a:rPr lang="en-US" b="true" sz="4099" spc="172">
                <a:solidFill>
                  <a:srgbClr val="FFFFFF"/>
                </a:solidFill>
                <a:latin typeface="Montserrat Ultra-Bold"/>
                <a:ea typeface="Montserrat Ultra-Bold"/>
                <a:cs typeface="Montserrat Ultra-Bold"/>
                <a:sym typeface="Montserrat Ultra-Bold"/>
              </a:rPr>
              <a:t>04</a:t>
            </a:r>
          </a:p>
        </p:txBody>
      </p:sp>
      <p:sp>
        <p:nvSpPr>
          <p:cNvPr name="TextBox 60" id="60"/>
          <p:cNvSpPr txBox="true"/>
          <p:nvPr/>
        </p:nvSpPr>
        <p:spPr>
          <a:xfrm rot="0">
            <a:off x="15425441" y="3028140"/>
            <a:ext cx="959026" cy="693700"/>
          </a:xfrm>
          <a:prstGeom prst="rect">
            <a:avLst/>
          </a:prstGeom>
        </p:spPr>
        <p:txBody>
          <a:bodyPr anchor="t" rtlCol="false" tIns="0" lIns="0" bIns="0" rIns="0">
            <a:spAutoFit/>
          </a:bodyPr>
          <a:lstStyle/>
          <a:p>
            <a:pPr algn="ctr" marL="0" indent="0" lvl="1">
              <a:lnSpc>
                <a:spcPts val="5739"/>
              </a:lnSpc>
            </a:pPr>
            <a:r>
              <a:rPr lang="en-US" b="true" sz="4099" spc="172">
                <a:solidFill>
                  <a:srgbClr val="FFFFFF"/>
                </a:solidFill>
                <a:latin typeface="Montserrat Ultra-Bold"/>
                <a:ea typeface="Montserrat Ultra-Bold"/>
                <a:cs typeface="Montserrat Ultra-Bold"/>
                <a:sym typeface="Montserrat Ultra-Bold"/>
              </a:rPr>
              <a:t>05</a:t>
            </a:r>
          </a:p>
        </p:txBody>
      </p:sp>
      <p:sp>
        <p:nvSpPr>
          <p:cNvPr name="TextBox 61" id="61"/>
          <p:cNvSpPr txBox="true"/>
          <p:nvPr/>
        </p:nvSpPr>
        <p:spPr>
          <a:xfrm rot="0">
            <a:off x="1385767" y="4300003"/>
            <a:ext cx="2076858" cy="716889"/>
          </a:xfrm>
          <a:prstGeom prst="rect">
            <a:avLst/>
          </a:prstGeom>
        </p:spPr>
        <p:txBody>
          <a:bodyPr anchor="t" rtlCol="false" tIns="0" lIns="0" bIns="0" rIns="0">
            <a:spAutoFit/>
          </a:bodyPr>
          <a:lstStyle/>
          <a:p>
            <a:pPr algn="ctr" marL="0" indent="0" lvl="0">
              <a:lnSpc>
                <a:spcPts val="2905"/>
              </a:lnSpc>
              <a:spcBef>
                <a:spcPct val="0"/>
              </a:spcBef>
            </a:pPr>
            <a:r>
              <a:rPr lang="en-US" b="true" sz="2075">
                <a:solidFill>
                  <a:srgbClr val="1C1C1A"/>
                </a:solidFill>
                <a:latin typeface="Montserrat Ultra-Bold"/>
                <a:ea typeface="Montserrat Ultra-Bold"/>
                <a:cs typeface="Montserrat Ultra-Bold"/>
                <a:sym typeface="Montserrat Ultra-Bold"/>
              </a:rPr>
              <a:t>Cos</a:t>
            </a:r>
            <a:r>
              <a:rPr lang="en-US" b="true" sz="2075">
                <a:solidFill>
                  <a:srgbClr val="1C1C1A"/>
                </a:solidFill>
                <a:latin typeface="Montserrat Ultra-Bold"/>
                <a:ea typeface="Montserrat Ultra-Bold"/>
                <a:cs typeface="Montserrat Ultra-Bold"/>
                <a:sym typeface="Montserrat Ultra-Bold"/>
              </a:rPr>
              <a:t>t Optimization</a:t>
            </a:r>
          </a:p>
        </p:txBody>
      </p:sp>
      <p:sp>
        <p:nvSpPr>
          <p:cNvPr name="TextBox 62" id="62"/>
          <p:cNvSpPr txBox="true"/>
          <p:nvPr/>
        </p:nvSpPr>
        <p:spPr>
          <a:xfrm rot="0">
            <a:off x="4779309" y="4300003"/>
            <a:ext cx="2076858" cy="716889"/>
          </a:xfrm>
          <a:prstGeom prst="rect">
            <a:avLst/>
          </a:prstGeom>
        </p:spPr>
        <p:txBody>
          <a:bodyPr anchor="t" rtlCol="false" tIns="0" lIns="0" bIns="0" rIns="0">
            <a:spAutoFit/>
          </a:bodyPr>
          <a:lstStyle/>
          <a:p>
            <a:pPr algn="ctr" marL="0" indent="0" lvl="0">
              <a:lnSpc>
                <a:spcPts val="2905"/>
              </a:lnSpc>
              <a:spcBef>
                <a:spcPct val="0"/>
              </a:spcBef>
            </a:pPr>
            <a:r>
              <a:rPr lang="en-US" b="true" sz="2075">
                <a:solidFill>
                  <a:srgbClr val="1C1C1A"/>
                </a:solidFill>
                <a:latin typeface="Montserrat Ultra-Bold"/>
                <a:ea typeface="Montserrat Ultra-Bold"/>
                <a:cs typeface="Montserrat Ultra-Bold"/>
                <a:sym typeface="Montserrat Ultra-Bold"/>
              </a:rPr>
              <a:t>Promotion by Segmentation</a:t>
            </a:r>
          </a:p>
        </p:txBody>
      </p:sp>
      <p:sp>
        <p:nvSpPr>
          <p:cNvPr name="TextBox 63" id="63"/>
          <p:cNvSpPr txBox="true"/>
          <p:nvPr/>
        </p:nvSpPr>
        <p:spPr>
          <a:xfrm rot="0">
            <a:off x="8151848" y="4300003"/>
            <a:ext cx="2076858" cy="716889"/>
          </a:xfrm>
          <a:prstGeom prst="rect">
            <a:avLst/>
          </a:prstGeom>
        </p:spPr>
        <p:txBody>
          <a:bodyPr anchor="t" rtlCol="false" tIns="0" lIns="0" bIns="0" rIns="0">
            <a:spAutoFit/>
          </a:bodyPr>
          <a:lstStyle/>
          <a:p>
            <a:pPr algn="ctr" marL="0" indent="0" lvl="0">
              <a:lnSpc>
                <a:spcPts val="2905"/>
              </a:lnSpc>
              <a:spcBef>
                <a:spcPct val="0"/>
              </a:spcBef>
            </a:pPr>
            <a:r>
              <a:rPr lang="en-US" b="true" sz="2075">
                <a:solidFill>
                  <a:srgbClr val="1C1C1A"/>
                </a:solidFill>
                <a:latin typeface="Montserrat Ultra-Bold"/>
                <a:ea typeface="Montserrat Ultra-Bold"/>
                <a:cs typeface="Montserrat Ultra-Bold"/>
                <a:sym typeface="Montserrat Ultra-Bold"/>
              </a:rPr>
              <a:t>Product Strategy</a:t>
            </a:r>
          </a:p>
        </p:txBody>
      </p:sp>
      <p:sp>
        <p:nvSpPr>
          <p:cNvPr name="TextBox 64" id="64"/>
          <p:cNvSpPr txBox="true"/>
          <p:nvPr/>
        </p:nvSpPr>
        <p:spPr>
          <a:xfrm rot="0">
            <a:off x="11478490" y="4188292"/>
            <a:ext cx="2076858" cy="716889"/>
          </a:xfrm>
          <a:prstGeom prst="rect">
            <a:avLst/>
          </a:prstGeom>
        </p:spPr>
        <p:txBody>
          <a:bodyPr anchor="t" rtlCol="false" tIns="0" lIns="0" bIns="0" rIns="0">
            <a:spAutoFit/>
          </a:bodyPr>
          <a:lstStyle/>
          <a:p>
            <a:pPr algn="ctr" marL="0" indent="0" lvl="0">
              <a:lnSpc>
                <a:spcPts val="2905"/>
              </a:lnSpc>
              <a:spcBef>
                <a:spcPct val="0"/>
              </a:spcBef>
            </a:pPr>
            <a:r>
              <a:rPr lang="en-US" b="true" sz="2075">
                <a:solidFill>
                  <a:srgbClr val="1C1C1A"/>
                </a:solidFill>
                <a:latin typeface="Montserrat Ultra-Bold"/>
                <a:ea typeface="Montserrat Ultra-Bold"/>
                <a:cs typeface="Montserrat Ultra-Bold"/>
                <a:sym typeface="Montserrat Ultra-Bold"/>
              </a:rPr>
              <a:t>Channel Strategy</a:t>
            </a:r>
          </a:p>
        </p:txBody>
      </p:sp>
      <p:sp>
        <p:nvSpPr>
          <p:cNvPr name="TextBox 65" id="65"/>
          <p:cNvSpPr txBox="true"/>
          <p:nvPr/>
        </p:nvSpPr>
        <p:spPr>
          <a:xfrm rot="0">
            <a:off x="14866525" y="4188292"/>
            <a:ext cx="2076858" cy="716889"/>
          </a:xfrm>
          <a:prstGeom prst="rect">
            <a:avLst/>
          </a:prstGeom>
        </p:spPr>
        <p:txBody>
          <a:bodyPr anchor="t" rtlCol="false" tIns="0" lIns="0" bIns="0" rIns="0">
            <a:spAutoFit/>
          </a:bodyPr>
          <a:lstStyle/>
          <a:p>
            <a:pPr algn="ctr" marL="0" indent="0" lvl="0">
              <a:lnSpc>
                <a:spcPts val="2905"/>
              </a:lnSpc>
              <a:spcBef>
                <a:spcPct val="0"/>
              </a:spcBef>
            </a:pPr>
            <a:r>
              <a:rPr lang="en-US" b="true" sz="2075">
                <a:solidFill>
                  <a:srgbClr val="1C1C1A"/>
                </a:solidFill>
                <a:latin typeface="Montserrat Ultra-Bold"/>
                <a:ea typeface="Montserrat Ultra-Bold"/>
                <a:cs typeface="Montserrat Ultra-Bold"/>
                <a:sym typeface="Montserrat Ultra-Bold"/>
              </a:rPr>
              <a:t>Custom</a:t>
            </a:r>
            <a:r>
              <a:rPr lang="en-US" b="true" sz="2075">
                <a:solidFill>
                  <a:srgbClr val="1C1C1A"/>
                </a:solidFill>
                <a:latin typeface="Montserrat Ultra-Bold"/>
                <a:ea typeface="Montserrat Ultra-Bold"/>
                <a:cs typeface="Montserrat Ultra-Bold"/>
                <a:sym typeface="Montserrat Ultra-Bold"/>
              </a:rPr>
              <a:t>er Value Strategy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5471" y="5931764"/>
            <a:ext cx="12597099" cy="3867579"/>
            <a:chOff x="0" y="0"/>
            <a:chExt cx="1593632" cy="489279"/>
          </a:xfrm>
        </p:grpSpPr>
        <p:sp>
          <p:nvSpPr>
            <p:cNvPr name="Freeform 3" id="3"/>
            <p:cNvSpPr/>
            <p:nvPr/>
          </p:nvSpPr>
          <p:spPr>
            <a:xfrm flipH="false" flipV="false" rot="0">
              <a:off x="0" y="0"/>
              <a:ext cx="1593632" cy="489279"/>
            </a:xfrm>
            <a:custGeom>
              <a:avLst/>
              <a:gdLst/>
              <a:ahLst/>
              <a:cxnLst/>
              <a:rect r="r" b="b" t="t" l="l"/>
              <a:pathLst>
                <a:path h="489279" w="1593632">
                  <a:moveTo>
                    <a:pt x="1390432" y="0"/>
                  </a:moveTo>
                  <a:lnTo>
                    <a:pt x="0" y="0"/>
                  </a:lnTo>
                  <a:lnTo>
                    <a:pt x="203200" y="489279"/>
                  </a:lnTo>
                  <a:lnTo>
                    <a:pt x="1593632" y="489279"/>
                  </a:lnTo>
                  <a:lnTo>
                    <a:pt x="1390432" y="0"/>
                  </a:lnTo>
                  <a:close/>
                </a:path>
              </a:pathLst>
            </a:custGeom>
            <a:solidFill>
              <a:srgbClr val="F0EAFF"/>
            </a:solidFill>
          </p:spPr>
        </p:sp>
        <p:sp>
          <p:nvSpPr>
            <p:cNvPr name="TextBox 4" id="4"/>
            <p:cNvSpPr txBox="true"/>
            <p:nvPr/>
          </p:nvSpPr>
          <p:spPr>
            <a:xfrm>
              <a:off x="101600" y="-57150"/>
              <a:ext cx="1390432" cy="54642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816964" y="2923224"/>
            <a:ext cx="11377013" cy="5104916"/>
            <a:chOff x="0" y="0"/>
            <a:chExt cx="1439281" cy="645812"/>
          </a:xfrm>
        </p:grpSpPr>
        <p:sp>
          <p:nvSpPr>
            <p:cNvPr name="Freeform 6" id="6"/>
            <p:cNvSpPr/>
            <p:nvPr/>
          </p:nvSpPr>
          <p:spPr>
            <a:xfrm flipH="false" flipV="false" rot="0">
              <a:off x="0" y="0"/>
              <a:ext cx="1439281" cy="645812"/>
            </a:xfrm>
            <a:custGeom>
              <a:avLst/>
              <a:gdLst/>
              <a:ahLst/>
              <a:cxnLst/>
              <a:rect r="r" b="b" t="t" l="l"/>
              <a:pathLst>
                <a:path h="645812" w="1439281">
                  <a:moveTo>
                    <a:pt x="1236081" y="0"/>
                  </a:moveTo>
                  <a:lnTo>
                    <a:pt x="0" y="0"/>
                  </a:lnTo>
                  <a:lnTo>
                    <a:pt x="203200" y="645812"/>
                  </a:lnTo>
                  <a:lnTo>
                    <a:pt x="1439281" y="645812"/>
                  </a:lnTo>
                  <a:lnTo>
                    <a:pt x="1236081" y="0"/>
                  </a:lnTo>
                  <a:close/>
                </a:path>
              </a:pathLst>
            </a:custGeom>
            <a:solidFill>
              <a:srgbClr val="FFF3D9"/>
            </a:solidFill>
          </p:spPr>
        </p:sp>
        <p:sp>
          <p:nvSpPr>
            <p:cNvPr name="TextBox 7" id="7"/>
            <p:cNvSpPr txBox="true"/>
            <p:nvPr/>
          </p:nvSpPr>
          <p:spPr>
            <a:xfrm>
              <a:off x="101600" y="-57150"/>
              <a:ext cx="1236081" cy="70296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56648" y="5573107"/>
            <a:ext cx="1923475" cy="1839542"/>
          </a:xfrm>
          <a:custGeom>
            <a:avLst/>
            <a:gdLst/>
            <a:ahLst/>
            <a:cxnLst/>
            <a:rect r="r" b="b" t="t" l="l"/>
            <a:pathLst>
              <a:path h="1839542" w="1923475">
                <a:moveTo>
                  <a:pt x="0" y="0"/>
                </a:moveTo>
                <a:lnTo>
                  <a:pt x="1923475" y="0"/>
                </a:lnTo>
                <a:lnTo>
                  <a:pt x="1923475" y="1839542"/>
                </a:lnTo>
                <a:lnTo>
                  <a:pt x="0" y="18395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2533883"/>
            <a:ext cx="5980909" cy="663759"/>
          </a:xfrm>
          <a:prstGeom prst="rect">
            <a:avLst/>
          </a:prstGeom>
        </p:spPr>
        <p:txBody>
          <a:bodyPr anchor="t" rtlCol="false" tIns="0" lIns="0" bIns="0" rIns="0">
            <a:spAutoFit/>
          </a:bodyPr>
          <a:lstStyle/>
          <a:p>
            <a:pPr algn="l">
              <a:lnSpc>
                <a:spcPts val="5414"/>
              </a:lnSpc>
            </a:pPr>
            <a:r>
              <a:rPr lang="en-US" sz="3867" b="true">
                <a:solidFill>
                  <a:srgbClr val="1F0560"/>
                </a:solidFill>
                <a:latin typeface="Montserrat Ultra-Bold"/>
                <a:ea typeface="Montserrat Ultra-Bold"/>
                <a:cs typeface="Montserrat Ultra-Bold"/>
                <a:sym typeface="Montserrat Ultra-Bold"/>
              </a:rPr>
              <a:t>Conclusion 1</a:t>
            </a:r>
          </a:p>
        </p:txBody>
      </p:sp>
      <p:sp>
        <p:nvSpPr>
          <p:cNvPr name="TextBox 10" id="10"/>
          <p:cNvSpPr txBox="true"/>
          <p:nvPr/>
        </p:nvSpPr>
        <p:spPr>
          <a:xfrm rot="0">
            <a:off x="1028700" y="3337907"/>
            <a:ext cx="7328476" cy="1778000"/>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Perusahaan berhasil meningkatkan revenue melalui strategi diskon dan pertumbuhan pelanggan. Namun, peningkatan tersebut belum mampu meningkatkan profit karena tingginya network cost yang menekan profitabilitas perusahaan.</a:t>
            </a:r>
          </a:p>
        </p:txBody>
      </p:sp>
      <p:sp>
        <p:nvSpPr>
          <p:cNvPr name="TextBox 11" id="11"/>
          <p:cNvSpPr txBox="true"/>
          <p:nvPr/>
        </p:nvSpPr>
        <p:spPr>
          <a:xfrm rot="0">
            <a:off x="2598591" y="6322417"/>
            <a:ext cx="6708448" cy="677672"/>
          </a:xfrm>
          <a:prstGeom prst="rect">
            <a:avLst/>
          </a:prstGeom>
        </p:spPr>
        <p:txBody>
          <a:bodyPr anchor="t" rtlCol="false" tIns="0" lIns="0" bIns="0" rIns="0">
            <a:spAutoFit/>
          </a:bodyPr>
          <a:lstStyle/>
          <a:p>
            <a:pPr algn="r">
              <a:lnSpc>
                <a:spcPts val="5698"/>
              </a:lnSpc>
            </a:pPr>
            <a:r>
              <a:rPr lang="en-US" sz="4070" b="true">
                <a:solidFill>
                  <a:srgbClr val="1F0560"/>
                </a:solidFill>
                <a:latin typeface="Montserrat Ultra-Bold"/>
                <a:ea typeface="Montserrat Ultra-Bold"/>
                <a:cs typeface="Montserrat Ultra-Bold"/>
                <a:sym typeface="Montserrat Ultra-Bold"/>
              </a:rPr>
              <a:t>Conclusion 2</a:t>
            </a:r>
          </a:p>
        </p:txBody>
      </p:sp>
      <p:sp>
        <p:nvSpPr>
          <p:cNvPr name="TextBox 12" id="12"/>
          <p:cNvSpPr txBox="true"/>
          <p:nvPr/>
        </p:nvSpPr>
        <p:spPr>
          <a:xfrm rot="0">
            <a:off x="2598591" y="7215989"/>
            <a:ext cx="6866412" cy="1778000"/>
          </a:xfrm>
          <a:prstGeom prst="rect">
            <a:avLst/>
          </a:prstGeom>
        </p:spPr>
        <p:txBody>
          <a:bodyPr anchor="t" rtlCol="false" tIns="0" lIns="0" bIns="0" rIns="0">
            <a:spAutoFit/>
          </a:bodyPr>
          <a:lstStyle/>
          <a:p>
            <a:pPr algn="r">
              <a:lnSpc>
                <a:spcPts val="2800"/>
              </a:lnSpc>
            </a:pPr>
            <a:r>
              <a:rPr lang="en-US" sz="2000">
                <a:solidFill>
                  <a:srgbClr val="1F0560"/>
                </a:solidFill>
                <a:latin typeface="Poppins"/>
                <a:ea typeface="Poppins"/>
                <a:cs typeface="Poppins"/>
                <a:sym typeface="Poppins"/>
              </a:rPr>
              <a:t>Meskipun churn rate menurun, jumlah pelanggan yang churn masih meningkat. Hal ini menunjukkan bahwa pertumbuhan pelanggan belum sepenuhnya diimbangi oleh kemampuan perusahaan mempertahankan pelanggan.</a:t>
            </a:r>
          </a:p>
        </p:txBody>
      </p:sp>
      <p:sp>
        <p:nvSpPr>
          <p:cNvPr name="TextBox 13" id="13"/>
          <p:cNvSpPr txBox="true"/>
          <p:nvPr/>
        </p:nvSpPr>
        <p:spPr>
          <a:xfrm rot="0">
            <a:off x="10973450" y="3600353"/>
            <a:ext cx="6667484" cy="703707"/>
          </a:xfrm>
          <a:prstGeom prst="rect">
            <a:avLst/>
          </a:prstGeom>
        </p:spPr>
        <p:txBody>
          <a:bodyPr anchor="t" rtlCol="false" tIns="0" lIns="0" bIns="0" rIns="0">
            <a:spAutoFit/>
          </a:bodyPr>
          <a:lstStyle/>
          <a:p>
            <a:pPr algn="just">
              <a:lnSpc>
                <a:spcPts val="5838"/>
              </a:lnSpc>
            </a:pPr>
            <a:r>
              <a:rPr lang="en-US" sz="4170" b="true">
                <a:solidFill>
                  <a:srgbClr val="1F0560"/>
                </a:solidFill>
                <a:latin typeface="Montserrat Ultra-Bold"/>
                <a:ea typeface="Montserrat Ultra-Bold"/>
                <a:cs typeface="Montserrat Ultra-Bold"/>
                <a:sym typeface="Montserrat Ultra-Bold"/>
              </a:rPr>
              <a:t>Conclusion 3</a:t>
            </a:r>
          </a:p>
        </p:txBody>
      </p:sp>
      <p:sp>
        <p:nvSpPr>
          <p:cNvPr name="TextBox 14" id="14"/>
          <p:cNvSpPr txBox="true"/>
          <p:nvPr/>
        </p:nvSpPr>
        <p:spPr>
          <a:xfrm rot="0">
            <a:off x="10687700" y="4525224"/>
            <a:ext cx="6328414" cy="2482850"/>
          </a:xfrm>
          <a:prstGeom prst="rect">
            <a:avLst/>
          </a:prstGeom>
        </p:spPr>
        <p:txBody>
          <a:bodyPr anchor="t" rtlCol="false" tIns="0" lIns="0" bIns="0" rIns="0">
            <a:spAutoFit/>
          </a:bodyPr>
          <a:lstStyle/>
          <a:p>
            <a:pPr algn="l">
              <a:lnSpc>
                <a:spcPts val="2800"/>
              </a:lnSpc>
            </a:pPr>
            <a:r>
              <a:rPr lang="en-US" sz="2000">
                <a:solidFill>
                  <a:srgbClr val="1F0560"/>
                </a:solidFill>
                <a:latin typeface="Poppins"/>
                <a:ea typeface="Poppins"/>
                <a:cs typeface="Poppins"/>
                <a:sym typeface="Poppins"/>
              </a:rPr>
              <a:t>Untuk meningkatkan profitabilitas secara berkelanjutan, perusahaan perlu berfokus pada pengendalian network cost, penguatan strategi retensi pada segmen berisiko churn, optimalisasi channel Dealer, Online, dan Retail, serta pengembangan produk yang sesuai dengan preferensi pelanggan. </a:t>
            </a:r>
          </a:p>
        </p:txBody>
      </p:sp>
      <p:sp>
        <p:nvSpPr>
          <p:cNvPr name="TextBox 15" id="15"/>
          <p:cNvSpPr txBox="true"/>
          <p:nvPr/>
        </p:nvSpPr>
        <p:spPr>
          <a:xfrm rot="0">
            <a:off x="2939621" y="827493"/>
            <a:ext cx="12408757" cy="1203202"/>
          </a:xfrm>
          <a:prstGeom prst="rect">
            <a:avLst/>
          </a:prstGeom>
        </p:spPr>
        <p:txBody>
          <a:bodyPr anchor="t" rtlCol="false" tIns="0" lIns="0" bIns="0" rIns="0">
            <a:spAutoFit/>
          </a:bodyPr>
          <a:lstStyle/>
          <a:p>
            <a:pPr algn="ctr">
              <a:lnSpc>
                <a:spcPts val="9806"/>
              </a:lnSpc>
            </a:pPr>
            <a:r>
              <a:rPr lang="en-US" sz="7004" b="true">
                <a:solidFill>
                  <a:srgbClr val="FEAC3D"/>
                </a:solidFill>
                <a:latin typeface="Neue Machina Ultra-Bold"/>
                <a:ea typeface="Neue Machina Ultra-Bold"/>
                <a:cs typeface="Neue Machina Ultra-Bold"/>
                <a:sym typeface="Neue Machina Ultra-Bold"/>
              </a:rPr>
              <a:t>Conclusion</a:t>
            </a:r>
          </a:p>
        </p:txBody>
      </p:sp>
      <p:sp>
        <p:nvSpPr>
          <p:cNvPr name="Freeform 16" id="16"/>
          <p:cNvSpPr/>
          <p:nvPr/>
        </p:nvSpPr>
        <p:spPr>
          <a:xfrm flipH="false" flipV="false" rot="886470">
            <a:off x="8878102" y="2654958"/>
            <a:ext cx="1575115" cy="2043191"/>
          </a:xfrm>
          <a:custGeom>
            <a:avLst/>
            <a:gdLst/>
            <a:ahLst/>
            <a:cxnLst/>
            <a:rect r="r" b="b" t="t" l="l"/>
            <a:pathLst>
              <a:path h="2043191" w="1575115">
                <a:moveTo>
                  <a:pt x="0" y="0"/>
                </a:moveTo>
                <a:lnTo>
                  <a:pt x="1575114" y="0"/>
                </a:lnTo>
                <a:lnTo>
                  <a:pt x="1575114" y="2043191"/>
                </a:lnTo>
                <a:lnTo>
                  <a:pt x="0" y="20431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81300" y="3507747"/>
            <a:ext cx="12573176" cy="5750553"/>
            <a:chOff x="0" y="0"/>
            <a:chExt cx="1590605" cy="727490"/>
          </a:xfrm>
        </p:grpSpPr>
        <p:sp>
          <p:nvSpPr>
            <p:cNvPr name="Freeform 3" id="3"/>
            <p:cNvSpPr/>
            <p:nvPr/>
          </p:nvSpPr>
          <p:spPr>
            <a:xfrm flipH="false" flipV="false" rot="0">
              <a:off x="0" y="0"/>
              <a:ext cx="1590605" cy="727490"/>
            </a:xfrm>
            <a:custGeom>
              <a:avLst/>
              <a:gdLst/>
              <a:ahLst/>
              <a:cxnLst/>
              <a:rect r="r" b="b" t="t" l="l"/>
              <a:pathLst>
                <a:path h="727490" w="1590605">
                  <a:moveTo>
                    <a:pt x="1387405" y="0"/>
                  </a:moveTo>
                  <a:lnTo>
                    <a:pt x="0" y="0"/>
                  </a:lnTo>
                  <a:lnTo>
                    <a:pt x="203200" y="727490"/>
                  </a:lnTo>
                  <a:lnTo>
                    <a:pt x="1590605" y="727490"/>
                  </a:lnTo>
                  <a:lnTo>
                    <a:pt x="1387405" y="0"/>
                  </a:lnTo>
                  <a:close/>
                </a:path>
              </a:pathLst>
            </a:custGeom>
            <a:solidFill>
              <a:srgbClr val="FFF3D9"/>
            </a:solidFill>
          </p:spPr>
        </p:sp>
        <p:sp>
          <p:nvSpPr>
            <p:cNvPr name="TextBox 4" id="4"/>
            <p:cNvSpPr txBox="true"/>
            <p:nvPr/>
          </p:nvSpPr>
          <p:spPr>
            <a:xfrm>
              <a:off x="101600" y="-57150"/>
              <a:ext cx="1387405" cy="7846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479798" y="2384935"/>
            <a:ext cx="4830828" cy="5292740"/>
          </a:xfrm>
          <a:custGeom>
            <a:avLst/>
            <a:gdLst/>
            <a:ahLst/>
            <a:cxnLst/>
            <a:rect r="r" b="b" t="t" l="l"/>
            <a:pathLst>
              <a:path h="5292740" w="4830828">
                <a:moveTo>
                  <a:pt x="0" y="0"/>
                </a:moveTo>
                <a:lnTo>
                  <a:pt x="4830828" y="0"/>
                </a:lnTo>
                <a:lnTo>
                  <a:pt x="4830828" y="5292740"/>
                </a:lnTo>
                <a:lnTo>
                  <a:pt x="0" y="5292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933007" y="5270017"/>
            <a:ext cx="3516438" cy="4241317"/>
          </a:xfrm>
          <a:custGeom>
            <a:avLst/>
            <a:gdLst/>
            <a:ahLst/>
            <a:cxnLst/>
            <a:rect r="r" b="b" t="t" l="l"/>
            <a:pathLst>
              <a:path h="4241317" w="3516438">
                <a:moveTo>
                  <a:pt x="3516437" y="0"/>
                </a:moveTo>
                <a:lnTo>
                  <a:pt x="0" y="0"/>
                </a:lnTo>
                <a:lnTo>
                  <a:pt x="0" y="4241317"/>
                </a:lnTo>
                <a:lnTo>
                  <a:pt x="3516437" y="4241317"/>
                </a:lnTo>
                <a:lnTo>
                  <a:pt x="351643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33007" y="1028700"/>
            <a:ext cx="1923475" cy="1839542"/>
          </a:xfrm>
          <a:custGeom>
            <a:avLst/>
            <a:gdLst/>
            <a:ahLst/>
            <a:cxnLst/>
            <a:rect r="r" b="b" t="t" l="l"/>
            <a:pathLst>
              <a:path h="1839542" w="1923475">
                <a:moveTo>
                  <a:pt x="0" y="0"/>
                </a:moveTo>
                <a:lnTo>
                  <a:pt x="1923475" y="0"/>
                </a:lnTo>
                <a:lnTo>
                  <a:pt x="1923475" y="1839542"/>
                </a:lnTo>
                <a:lnTo>
                  <a:pt x="0" y="18395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8384881" y="2156029"/>
            <a:ext cx="13075565" cy="5750553"/>
            <a:chOff x="0" y="0"/>
            <a:chExt cx="1654161" cy="727490"/>
          </a:xfrm>
        </p:grpSpPr>
        <p:sp>
          <p:nvSpPr>
            <p:cNvPr name="Freeform 9" id="9"/>
            <p:cNvSpPr/>
            <p:nvPr/>
          </p:nvSpPr>
          <p:spPr>
            <a:xfrm flipH="false" flipV="false" rot="0">
              <a:off x="0" y="0"/>
              <a:ext cx="1654161" cy="727490"/>
            </a:xfrm>
            <a:custGeom>
              <a:avLst/>
              <a:gdLst/>
              <a:ahLst/>
              <a:cxnLst/>
              <a:rect r="r" b="b" t="t" l="l"/>
              <a:pathLst>
                <a:path h="727490" w="1654161">
                  <a:moveTo>
                    <a:pt x="1450961" y="0"/>
                  </a:moveTo>
                  <a:lnTo>
                    <a:pt x="0" y="0"/>
                  </a:lnTo>
                  <a:lnTo>
                    <a:pt x="203200" y="727490"/>
                  </a:lnTo>
                  <a:lnTo>
                    <a:pt x="1654161" y="727490"/>
                  </a:lnTo>
                  <a:lnTo>
                    <a:pt x="1450961" y="0"/>
                  </a:lnTo>
                  <a:close/>
                </a:path>
              </a:pathLst>
            </a:custGeom>
            <a:solidFill>
              <a:srgbClr val="F0EAFF"/>
            </a:solidFill>
          </p:spPr>
        </p:sp>
        <p:sp>
          <p:nvSpPr>
            <p:cNvPr name="TextBox 10" id="10"/>
            <p:cNvSpPr txBox="true"/>
            <p:nvPr/>
          </p:nvSpPr>
          <p:spPr>
            <a:xfrm>
              <a:off x="101600" y="-57150"/>
              <a:ext cx="1450961" cy="78464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1775342" y="3583403"/>
            <a:ext cx="5784091" cy="3479467"/>
          </a:xfrm>
          <a:prstGeom prst="rect">
            <a:avLst/>
          </a:prstGeom>
        </p:spPr>
        <p:txBody>
          <a:bodyPr anchor="t" rtlCol="false" tIns="0" lIns="0" bIns="0" rIns="0">
            <a:spAutoFit/>
          </a:bodyPr>
          <a:lstStyle/>
          <a:p>
            <a:pPr algn="ctr">
              <a:lnSpc>
                <a:spcPts val="9293"/>
              </a:lnSpc>
            </a:pPr>
            <a:r>
              <a:rPr lang="en-US" sz="6638" b="true">
                <a:solidFill>
                  <a:srgbClr val="1F0560"/>
                </a:solidFill>
                <a:latin typeface="Neue Machina Ultra-Bold"/>
                <a:ea typeface="Neue Machina Ultra-Bold"/>
                <a:cs typeface="Neue Machina Ultra-Bold"/>
                <a:sym typeface="Neue Machina Ultra-Bold"/>
              </a:rPr>
              <a:t>Thank You for your attention</a:t>
            </a:r>
          </a:p>
        </p:txBody>
      </p:sp>
      <p:sp>
        <p:nvSpPr>
          <p:cNvPr name="Freeform 12" id="12"/>
          <p:cNvSpPr/>
          <p:nvPr/>
        </p:nvSpPr>
        <p:spPr>
          <a:xfrm flipH="false" flipV="false" rot="0">
            <a:off x="16454568" y="6761838"/>
            <a:ext cx="1413317" cy="1633035"/>
          </a:xfrm>
          <a:custGeom>
            <a:avLst/>
            <a:gdLst/>
            <a:ahLst/>
            <a:cxnLst/>
            <a:rect r="r" b="b" t="t" l="l"/>
            <a:pathLst>
              <a:path h="1633035" w="1413317">
                <a:moveTo>
                  <a:pt x="0" y="0"/>
                </a:moveTo>
                <a:lnTo>
                  <a:pt x="1413317" y="0"/>
                </a:lnTo>
                <a:lnTo>
                  <a:pt x="1413317" y="1633034"/>
                </a:lnTo>
                <a:lnTo>
                  <a:pt x="0" y="16330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929117" y="7578355"/>
            <a:ext cx="1050902" cy="1363199"/>
          </a:xfrm>
          <a:custGeom>
            <a:avLst/>
            <a:gdLst/>
            <a:ahLst/>
            <a:cxnLst/>
            <a:rect r="r" b="b" t="t" l="l"/>
            <a:pathLst>
              <a:path h="1363199" w="1050902">
                <a:moveTo>
                  <a:pt x="0" y="0"/>
                </a:moveTo>
                <a:lnTo>
                  <a:pt x="1050902" y="0"/>
                </a:lnTo>
                <a:lnTo>
                  <a:pt x="1050902" y="1363198"/>
                </a:lnTo>
                <a:lnTo>
                  <a:pt x="0" y="13631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DAHLeWUInS0</dc:identifier>
  <dcterms:modified xsi:type="dcterms:W3CDTF">2011-08-01T06:04:30Z</dcterms:modified>
  <cp:revision>1</cp:revision>
  <dc:title>Mini Project 3 - Studi Kasus Telco</dc:title>
</cp:coreProperties>
</file>